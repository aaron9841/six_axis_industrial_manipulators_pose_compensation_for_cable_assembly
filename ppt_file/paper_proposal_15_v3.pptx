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73" r:id="rId3"/>
    <p:sldId id="295" r:id="rId4"/>
    <p:sldId id="297" r:id="rId5"/>
    <p:sldId id="287" r:id="rId6"/>
    <p:sldId id="290" r:id="rId7"/>
    <p:sldId id="298" r:id="rId8"/>
    <p:sldId id="291" r:id="rId9"/>
    <p:sldId id="300" r:id="rId10"/>
    <p:sldId id="299" r:id="rId11"/>
    <p:sldId id="301" r:id="rId12"/>
    <p:sldId id="292" r:id="rId13"/>
    <p:sldId id="302" r:id="rId14"/>
    <p:sldId id="274" r:id="rId15"/>
    <p:sldId id="275" r:id="rId16"/>
    <p:sldId id="276" r:id="rId17"/>
    <p:sldId id="303" r:id="rId18"/>
    <p:sldId id="289" r:id="rId19"/>
    <p:sldId id="288" r:id="rId20"/>
    <p:sldId id="278" r:id="rId21"/>
    <p:sldId id="277" r:id="rId22"/>
    <p:sldId id="280" r:id="rId23"/>
    <p:sldId id="281" r:id="rId24"/>
    <p:sldId id="282" r:id="rId25"/>
    <p:sldId id="304" r:id="rId26"/>
    <p:sldId id="283" r:id="rId27"/>
    <p:sldId id="284" r:id="rId28"/>
    <p:sldId id="293" r:id="rId29"/>
    <p:sldId id="261" r:id="rId30"/>
    <p:sldId id="263" r:id="rId31"/>
    <p:sldId id="306" r:id="rId32"/>
    <p:sldId id="285" r:id="rId33"/>
    <p:sldId id="286" r:id="rId34"/>
    <p:sldId id="307" r:id="rId35"/>
    <p:sldId id="308" r:id="rId36"/>
    <p:sldId id="309" r:id="rId3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89D4319-D807-46A8-BB8C-802DF24BDC60}">
          <p14:sldIdLst>
            <p14:sldId id="256"/>
            <p14:sldId id="273"/>
            <p14:sldId id="295"/>
            <p14:sldId id="297"/>
            <p14:sldId id="287"/>
          </p14:sldIdLst>
        </p14:section>
        <p14:section name="１" id="{8E168D59-5DB8-490A-BFB8-BB96E60021DC}">
          <p14:sldIdLst>
            <p14:sldId id="290"/>
            <p14:sldId id="298"/>
          </p14:sldIdLst>
        </p14:section>
        <p14:section name="２" id="{E786739F-A38C-4A39-8F5A-ABC919E99D99}">
          <p14:sldIdLst>
            <p14:sldId id="291"/>
            <p14:sldId id="300"/>
            <p14:sldId id="299"/>
            <p14:sldId id="301"/>
          </p14:sldIdLst>
        </p14:section>
        <p14:section name="３" id="{E307BFEE-47B2-42AC-87DC-030E1AD41C8A}">
          <p14:sldIdLst>
            <p14:sldId id="292"/>
            <p14:sldId id="302"/>
            <p14:sldId id="274"/>
            <p14:sldId id="275"/>
            <p14:sldId id="276"/>
            <p14:sldId id="303"/>
            <p14:sldId id="289"/>
            <p14:sldId id="288"/>
            <p14:sldId id="278"/>
            <p14:sldId id="277"/>
            <p14:sldId id="280"/>
            <p14:sldId id="281"/>
            <p14:sldId id="282"/>
            <p14:sldId id="304"/>
            <p14:sldId id="283"/>
            <p14:sldId id="284"/>
          </p14:sldIdLst>
        </p14:section>
        <p14:section name="４" id="{2D73DF9D-4E69-4CCB-8053-10D3C8237A39}">
          <p14:sldIdLst>
            <p14:sldId id="293"/>
            <p14:sldId id="261"/>
            <p14:sldId id="263"/>
            <p14:sldId id="306"/>
            <p14:sldId id="285"/>
            <p14:sldId id="28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BC4C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6" autoAdjust="0"/>
    <p:restoredTop sz="85629" autoAdjust="0"/>
  </p:normalViewPr>
  <p:slideViewPr>
    <p:cSldViewPr snapToGrid="0">
      <p:cViewPr varScale="1">
        <p:scale>
          <a:sx n="96" d="100"/>
          <a:sy n="96" d="100"/>
        </p:scale>
        <p:origin x="540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8399B-1C89-4A02-ADA4-F4902925BA37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4EF62-ED8F-4DCE-8F8C-FB3FE10D18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659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insertion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205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使用商用工業手臂的問題，無法得知手臂的參數</a:t>
            </a:r>
            <a:endParaRPr lang="en-US" altLang="zh-TW" dirty="0"/>
          </a:p>
          <a:p>
            <a:r>
              <a:rPr lang="zh-TW" altLang="en-US" dirty="0"/>
              <a:t>人形機器人怎麼作的相關論文</a:t>
            </a:r>
            <a:r>
              <a:rPr lang="en-US" altLang="zh-TW" dirty="0"/>
              <a:t>:1.ML</a:t>
            </a:r>
            <a:r>
              <a:rPr lang="zh-TW" altLang="en-US" dirty="0"/>
              <a:t>需要大量資料，不是強調運動學，研究的</a:t>
            </a:r>
            <a:r>
              <a:rPr lang="en-US" altLang="zh-TW" dirty="0"/>
              <a:t>DOF</a:t>
            </a:r>
            <a:r>
              <a:rPr lang="zh-TW" altLang="en-US" dirty="0"/>
              <a:t>不高 </a:t>
            </a:r>
            <a:r>
              <a:rPr lang="en-US" altLang="zh-TW" dirty="0"/>
              <a:t>2.</a:t>
            </a:r>
            <a:r>
              <a:rPr lang="zh-TW" altLang="en-US" dirty="0"/>
              <a:t>人形機器人的精度不高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528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697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3201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商用手臂對不同軸向的旋轉定義不同</a:t>
            </a:r>
            <a:endParaRPr lang="en-US" altLang="zh-TW" dirty="0"/>
          </a:p>
          <a:p>
            <a:r>
              <a:rPr lang="en-US" altLang="zh-TW" dirty="0"/>
              <a:t>Extract coordinate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435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473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064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9808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把圖中的字拉大一點</a:t>
            </a:r>
            <a:endParaRPr lang="en-US" altLang="zh-TW" dirty="0"/>
          </a:p>
          <a:p>
            <a:r>
              <a:rPr lang="zh-TW" altLang="en-US" dirty="0"/>
              <a:t>理想</a:t>
            </a:r>
            <a:r>
              <a:rPr lang="en-US" altLang="zh-TW" dirty="0"/>
              <a:t>TCP</a:t>
            </a:r>
            <a:r>
              <a:rPr lang="zh-TW" altLang="en-US" dirty="0"/>
              <a:t>標示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094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量測 旋轉</a:t>
            </a:r>
            <a:endParaRPr lang="en-US" altLang="zh-TW" dirty="0"/>
          </a:p>
          <a:p>
            <a:r>
              <a:rPr lang="zh-TW" altLang="en-US" dirty="0"/>
              <a:t>改藍色線</a:t>
            </a:r>
            <a:endParaRPr lang="en-US" altLang="zh-TW" dirty="0"/>
          </a:p>
          <a:p>
            <a:r>
              <a:rPr lang="en-US" altLang="zh-TW" dirty="0"/>
              <a:t>Z</a:t>
            </a:r>
            <a:r>
              <a:rPr lang="zh-TW" altLang="en-US" dirty="0"/>
              <a:t>軸方向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031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089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549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766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318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修正箭頭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607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36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3979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把圓柱軸變小</a:t>
            </a:r>
            <a:br>
              <a:rPr lang="en-US" altLang="zh-TW" dirty="0"/>
            </a:br>
            <a:r>
              <a:rPr lang="zh-TW" altLang="en-US" dirty="0"/>
              <a:t>視圖與照片一致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A4F69-373F-4280-B0EB-43C9F18DD255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294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Pual</a:t>
            </a:r>
            <a:r>
              <a:rPr lang="zh-TW" altLang="en-US" dirty="0"/>
              <a:t>的</a:t>
            </a:r>
            <a:r>
              <a:rPr lang="en-US" altLang="zh-TW" dirty="0" err="1"/>
              <a:t>matlab</a:t>
            </a:r>
            <a:r>
              <a:rPr lang="zh-TW" altLang="en-US" dirty="0"/>
              <a:t>環境圖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648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4EF62-ED8F-4DCE-8F8C-FB3FE10D185C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00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9024FF-7090-4970-9186-5834B31CA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DC00A8-F517-4518-8AD3-521AD38EF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D685A1-99EF-435A-8A4C-40DD2B85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A132AA-8908-49D2-AE62-50E28259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541529-5EA0-4402-8A3C-B1E11118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16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72669-7E1A-4931-AAA1-7D60C500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D11FF3-FBB3-4978-9D30-B4E3F2442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2CE725-DC3F-422C-B9C8-200B431C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F2D268-EA3A-4EDD-AAE7-DAA0730E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5E733E-3E82-466A-B67C-FAC72BE3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340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73CD9D-860A-4F35-97F2-7EF9EE58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616F4A-2770-46F3-B241-C118E2D49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6B86E1-C736-421C-8A85-DD17D6C8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98BD15-96E7-4D98-951F-605BCFCF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E09F4A-5393-41A0-95C7-CCB5C7D1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19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95F80E-B8EB-4F3C-B109-F91CB691D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6D088F-A097-4EAE-9F89-02D1EE434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106C3F8-C77C-4B5C-8463-20138DC5C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D31305-D0C8-42C9-B9A7-EC02C4AD4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AF3EFF-8C6C-472F-9E79-7F54BD00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B538362-9CCA-43BA-8771-A9D8676D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88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31848-057F-4276-8604-5837E141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24110A-830E-48C0-9F84-6EDEDA0E8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880497-FB78-4BF5-B236-E5152C252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DFC15EC-3B36-4B60-92FF-78E89B70B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C7E8043-FC00-4315-BDA8-270D49439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1F7B295-FFAA-4E87-A016-9DBBDB35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D7103DC-6E39-41B7-B486-BF43C909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E74795E-36AA-44CA-97D4-06EF17D4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67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B49585-9651-4DA3-82C3-14C5CFF6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1F1D9BD-DBAF-426D-B7E0-1B6028BF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F0E9398-F5DE-4968-B634-B1D8A4CA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1C70D89-44CD-492F-B697-7FC0A314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07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86F07FA-77EB-4F85-91AA-773352AF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F76DABA-5D1A-4C98-ADAA-AEEFBF94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E9E780-8B05-4658-9BD6-C1B460BD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65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E1B1C3-5891-47C3-B216-EFD91325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29D494-16F4-409E-ADA6-BF7006A5E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975691-2917-424E-9DD2-3DA027FEF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B944C4-4803-450B-B3B3-067C61D5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2A8455-45AD-44A1-9A1A-FBE12EDD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B33690-E280-4302-B873-0BDFAA24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6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557A6-856E-4E88-B999-902B3DF5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617D46D-F494-4115-9A27-FF1A29F39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2F696D3-1C0D-4C67-BFBA-EB6A1A129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EFFC3C-B269-42F0-AA80-006FCDD5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AF1ED9-E1CD-478E-872F-409AF30F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9342E7-375F-4687-ADF1-A8E32DA5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075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1528A-4353-4A68-B40E-97F81902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07770D-A990-46A4-8408-B88216A28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695EAF-D55E-4559-8D26-84D3DA68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57274C-8DC7-4663-B7B4-43F5CDB9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C41F45-81DB-48AC-8EA7-565ED8D5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26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4FDDDBE-BB6E-4BAF-89E3-6BD14CCA5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C685A8-5DC5-40DC-BF0E-879311E45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DB16A9-C80F-4993-916D-C8BDCBFF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3D84A5-654E-45C5-A561-01EBEE47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B82E8B-213D-4487-862B-CD9FC38C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31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D55506E-C203-41EA-8FA3-17B81DD1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FB53B7-6C51-42CF-9A52-579E5311B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70C177-8421-4FC0-93FF-3302FB127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DD976-77E0-4F41-934C-C3896895913A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515CC0-235E-4217-985A-8AFBEDB34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00BF80-4F1E-4C31-853C-DFC77EB84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1BEEA-9EEC-47AA-AB38-1E1AD91E74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68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20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6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B27E1D-A5D7-4A9B-AE44-8DB6036F1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Thesis progress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B4A9A3-0237-469E-96AD-2A3B382185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2026/05/04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6104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04B262-31D3-4B8E-9261-05ADDDDA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口試用流程圖</a:t>
            </a:r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3E2B896-C25A-4075-A710-D1FB3EA25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377" y="1811585"/>
            <a:ext cx="11024493" cy="4257911"/>
          </a:xfrm>
        </p:spPr>
      </p:pic>
    </p:spTree>
    <p:extLst>
      <p:ext uri="{BB962C8B-B14F-4D97-AF65-F5344CB8AC3E}">
        <p14:creationId xmlns:p14="http://schemas.microsoft.com/office/powerpoint/2010/main" val="2694704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Motivation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+mn-ea"/>
              </a:rPr>
              <a:t>Insert wire </a:t>
            </a:r>
            <a:r>
              <a:rPr lang="en-US" altLang="zh-TW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zh-TW" altLang="en-US" sz="2000" dirty="0">
                <a:latin typeface="+mn-ea"/>
              </a:rPr>
              <a:t>隨著電子產品與車用零件趨於小型化與精密化，連接器組裝任務之難度日益增加。目前產線上仍大量依賴人工進行線束端子之插拔，然而長時間的高精度作業不僅導致作業員疲勞、降低良率，更面臨全球性勞動力短缺之挑戰。</a:t>
            </a:r>
            <a:endParaRPr lang="en-US" altLang="zh-TW" sz="2000" dirty="0">
              <a:latin typeface="+mn-ea"/>
            </a:endParaRPr>
          </a:p>
          <a:p>
            <a:r>
              <a:rPr lang="en-US" altLang="zh-TW" sz="2000" dirty="0">
                <a:latin typeface="+mn-ea"/>
              </a:rPr>
              <a:t>Flexible wire </a:t>
            </a:r>
            <a:r>
              <a:rPr lang="en-US" altLang="zh-TW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zh-TW" altLang="en-US" sz="2000" dirty="0">
                <a:latin typeface="+mn-ea"/>
                <a:sym typeface="Wingdings" panose="05000000000000000000" pitchFamily="2" charset="2"/>
              </a:rPr>
              <a:t>針對「柔性線性物件」</a:t>
            </a:r>
            <a:r>
              <a:rPr lang="en-US" altLang="zh-TW" sz="2000" dirty="0">
                <a:latin typeface="+mn-ea"/>
                <a:sym typeface="Wingdings" panose="05000000000000000000" pitchFamily="2" charset="2"/>
              </a:rPr>
              <a:t>(Flexible Linear Objects, FLOs)</a:t>
            </a:r>
            <a:r>
              <a:rPr lang="zh-TW" altLang="en-US" sz="2000" dirty="0">
                <a:latin typeface="+mn-ea"/>
                <a:sym typeface="Wingdings" panose="05000000000000000000" pitchFamily="2" charset="2"/>
              </a:rPr>
              <a:t>如電線、纜線及電子軟材的自動化處理，已成為下一階段的技術核心。與剛性物件不同，</a:t>
            </a:r>
            <a:r>
              <a:rPr lang="en-US" altLang="zh-TW" sz="2000" dirty="0">
                <a:latin typeface="+mn-ea"/>
                <a:sym typeface="Wingdings" panose="05000000000000000000" pitchFamily="2" charset="2"/>
              </a:rPr>
              <a:t>FLOs</a:t>
            </a:r>
            <a:r>
              <a:rPr lang="zh-TW" altLang="en-US" sz="2000" dirty="0">
                <a:latin typeface="+mn-ea"/>
                <a:sym typeface="Wingdings" panose="05000000000000000000" pitchFamily="2" charset="2"/>
              </a:rPr>
              <a:t>具備低剛性與易變形的物理特性，在受重力影響下產生的物理下垂與形狀不確定性，使得傳統基於「位置控制」的策略難以直接套用，必須轉而依賴更為精密的多感測器融合與誤差補償機制。</a:t>
            </a:r>
            <a:endParaRPr lang="en-US" altLang="zh-TW" sz="2000" dirty="0">
              <a:latin typeface="+mn-ea"/>
            </a:endParaRPr>
          </a:p>
          <a:p>
            <a:r>
              <a:rPr lang="en-US" altLang="zh-TW" sz="2000" dirty="0">
                <a:latin typeface="+mn-ea"/>
              </a:rPr>
              <a:t>Commercial controller </a:t>
            </a:r>
            <a:r>
              <a:rPr lang="en-US" altLang="zh-TW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zh-TW" altLang="en-US" sz="2000" dirty="0">
                <a:latin typeface="+mn-ea"/>
                <a:sym typeface="Wingdings" panose="05000000000000000000" pitchFamily="2" charset="2"/>
              </a:rPr>
              <a:t>由於開發者無法獲取內部的運動學演算法與補償邏輯，當每次機械手臂夾起的物件工具座標都不相同時，難以精準確定治具在機械手臂末軸法蘭面的距離與位置。這限制了機器人在面對複雜組裝任務時的參數自訂化能力。</a:t>
            </a:r>
            <a:endParaRPr lang="en-US" altLang="zh-TW" sz="2000" dirty="0">
              <a:latin typeface="+mn-ea"/>
            </a:endParaRPr>
          </a:p>
          <a:p>
            <a:r>
              <a:rPr lang="en-US" altLang="zh-TW" sz="2000" dirty="0">
                <a:latin typeface="+mn-ea"/>
              </a:rPr>
              <a:t>Eye-hand </a:t>
            </a:r>
            <a:r>
              <a:rPr lang="en-US" altLang="zh-TW" sz="20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zh-TW" altLang="en-US" sz="2000" dirty="0">
                <a:latin typeface="+mn-ea"/>
                <a:sym typeface="Wingdings" panose="05000000000000000000" pitchFamily="2" charset="2"/>
              </a:rPr>
              <a:t>系統的定位精度面臨了前所未有的考驗。在精密插線作業中，容錯空間往往縮減至微米級，此時任何細微的偏差都將導致任務失敗。然而，實務上機器人系統存在著複雜的累積誤差鏈，其來源包含機器人本體機構的幾何公差、線材被夾起時的彎折狀況，以及視覺偵測系統在座標轉換過程中的不確定性。</a:t>
            </a:r>
            <a:endParaRPr lang="en-US" altLang="zh-TW" sz="2000" dirty="0">
              <a:latin typeface="+mn-ea"/>
              <a:sym typeface="Wingdings" panose="05000000000000000000" pitchFamily="2" charset="2"/>
            </a:endParaRPr>
          </a:p>
          <a:p>
            <a:endParaRPr lang="en-US" altLang="zh-TW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347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3EC13-1046-4827-A33D-B6ABCACE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B25060-B6AA-4822-B79C-AE7448A6F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To do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 </a:t>
            </a:r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為解決上述困境，本研究採取「模型導向之整合分析法」作為核心路徑。研究方法首先利用修正型 </a:t>
            </a:r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D-H 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參數法針對 </a:t>
            </a:r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ABB IRB 1090 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機器手臂進行幾何結構的重新建模。此方法之關鍵在於能繞過封閉式演算法的限制，建立一套具備通用性的數學基準。隨後，本研究以線材姿態姿態偏移作為核心研究，以</a:t>
            </a:r>
            <a:r>
              <a:rPr lang="en-US" altLang="zh-TW" sz="2000" kern="1200" dirty="0" err="1">
                <a:solidFill>
                  <a:schemeClr val="tx1"/>
                </a:solidFill>
                <a:effectLst/>
                <a:latin typeface="+mn-ea"/>
                <a:cs typeface="+mn-cs"/>
              </a:rPr>
              <a:t>Geogebra</a:t>
            </a:r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 3D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計算機作為輔助，搭配</a:t>
            </a:r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MATLAB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進行模擬，探討如何在不改變實際工具點位狀況下修正線材的面向，達成端子與目標孔位方向對齊，顯著提高精密插線任務的成功率。</a:t>
            </a:r>
            <a:endParaRPr lang="zh-TW" altLang="zh-TW" sz="2000" dirty="0">
              <a:effectLst/>
              <a:latin typeface="+mn-ea"/>
            </a:endParaRPr>
          </a:p>
          <a:p>
            <a:pPr rtl="0" eaLnBrk="1" latinLnBrk="0" hangingPunct="1"/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Contribution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 </a:t>
            </a:r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本研究旨在提出一套整合誤差分析框架，透過</a:t>
            </a:r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MDH</a:t>
            </a:r>
            <a:r>
              <a:rPr lang="zh-TW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建模定義手臂幾何，藉此模擬任意手臂的狀態，並透過計算機描述修正線材姿態的方法，最後透過軟體模擬得出手臂合適姿態，實體實驗完成精準插線任務</a:t>
            </a:r>
            <a:endParaRPr lang="zh-TW" altLang="zh-TW" sz="2000" dirty="0">
              <a:effectLst/>
              <a:latin typeface="+mn-ea"/>
            </a:endParaRPr>
          </a:p>
          <a:p>
            <a:pPr rtl="0" eaLnBrk="1" latinLnBrk="0" hangingPunct="1"/>
            <a:r>
              <a:rPr lang="en-US" altLang="zh-TW" sz="2000" kern="1200" dirty="0">
                <a:solidFill>
                  <a:schemeClr val="tx1"/>
                </a:solidFill>
                <a:effectLst/>
                <a:latin typeface="+mn-ea"/>
                <a:cs typeface="+mn-cs"/>
              </a:rPr>
              <a:t>Further work</a:t>
            </a:r>
            <a:r>
              <a:rPr lang="en-US" altLang="zh-TW" sz="2000" kern="1200" baseline="0" dirty="0">
                <a:solidFill>
                  <a:schemeClr val="tx1"/>
                </a:solidFill>
                <a:effectLst/>
                <a:latin typeface="+mn-ea"/>
                <a:cs typeface="+mn-cs"/>
              </a:rPr>
              <a:t> </a:t>
            </a:r>
            <a:r>
              <a:rPr lang="en-US" altLang="zh-TW" sz="2000" kern="1200" baseline="0" dirty="0">
                <a:solidFill>
                  <a:schemeClr val="tx1"/>
                </a:solidFill>
                <a:effectLst/>
                <a:latin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zh-TW" altLang="en-US" sz="2000" kern="1200" baseline="0" dirty="0">
                <a:solidFill>
                  <a:schemeClr val="tx1"/>
                </a:solidFill>
                <a:effectLst/>
                <a:latin typeface="+mn-ea"/>
                <a:cs typeface="+mn-cs"/>
                <a:sym typeface="Wingdings" panose="05000000000000000000" pitchFamily="2" charset="2"/>
              </a:rPr>
              <a:t>本研究所提出的誤差分析框架能模擬任意手臂的狀態，未來更能導入相機等視覺辨識系統，實現完全的插件自動化生產</a:t>
            </a:r>
            <a:endParaRPr lang="zh-TW" altLang="zh-TW" sz="20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300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WorkFlow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8190" y="2468022"/>
            <a:ext cx="1340759" cy="833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019" y="2497493"/>
            <a:ext cx="1281366" cy="8119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55" y="2470008"/>
            <a:ext cx="1178435" cy="831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642" y="2489160"/>
            <a:ext cx="1208268" cy="8119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3806" y="3614316"/>
            <a:ext cx="1718838" cy="167758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703604" y="4078839"/>
            <a:ext cx="48288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480991" y="5179179"/>
            <a:ext cx="122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J1-J6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370921" y="4268443"/>
            <a:ext cx="122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6"/>
                </a:solidFill>
              </a:rPr>
              <a:t>J7</a:t>
            </a:r>
            <a:endParaRPr lang="zh-TW" altLang="en-US" b="1" dirty="0">
              <a:solidFill>
                <a:schemeClr val="accent6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889548" y="4273458"/>
            <a:ext cx="593881" cy="365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J8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87414" y="4977556"/>
            <a:ext cx="122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J1-J6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703841" y="4442565"/>
            <a:ext cx="159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J8: flexible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703841" y="4073233"/>
            <a:ext cx="1878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6"/>
                </a:solidFill>
              </a:rPr>
              <a:t>J7: stiffness</a:t>
            </a:r>
            <a:endParaRPr lang="zh-TW" altLang="en-US" b="1" dirty="0">
              <a:solidFill>
                <a:schemeClr val="accent6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57729" y="3864355"/>
            <a:ext cx="1660652" cy="94754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5339489" y="4892752"/>
            <a:ext cx="250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Extra – value of </a:t>
            </a:r>
            <a:r>
              <a:rPr lang="en-US" altLang="zh-TW" dirty="0">
                <a:solidFill>
                  <a:schemeClr val="accent2"/>
                </a:solidFill>
              </a:rPr>
              <a:t>offset</a:t>
            </a:r>
            <a:endParaRPr lang="zh-TW" altLang="en-US" dirty="0">
              <a:solidFill>
                <a:schemeClr val="accent2"/>
              </a:solidFill>
            </a:endParaRP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5226" y="3399832"/>
            <a:ext cx="1718838" cy="1677586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9395024" y="3864355"/>
            <a:ext cx="482885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2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8172411" y="4964695"/>
            <a:ext cx="122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J1-J6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962988" y="4132519"/>
            <a:ext cx="11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MDH 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706726" y="3864355"/>
            <a:ext cx="1660652" cy="94754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9362976" y="4101698"/>
            <a:ext cx="1250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MDH</a:t>
            </a:r>
            <a:r>
              <a:rPr lang="en-US" altLang="zh-TW" dirty="0"/>
              <a:t> + </a:t>
            </a:r>
            <a:r>
              <a:rPr lang="en-US" altLang="zh-TW" dirty="0">
                <a:solidFill>
                  <a:schemeClr val="accent2"/>
                </a:solidFill>
              </a:rPr>
              <a:t>offset</a:t>
            </a:r>
            <a:endParaRPr lang="zh-TW" altLang="en-US" dirty="0">
              <a:solidFill>
                <a:schemeClr val="accent2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47728" y="2020206"/>
            <a:ext cx="200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J1- J6 + </a:t>
            </a:r>
            <a:r>
              <a:rPr lang="en-US" altLang="zh-TW" b="1" dirty="0">
                <a:solidFill>
                  <a:schemeClr val="accent6"/>
                </a:solidFill>
              </a:rPr>
              <a:t>J7</a:t>
            </a:r>
            <a:r>
              <a:rPr lang="en-US" altLang="zh-TW" b="1" dirty="0">
                <a:solidFill>
                  <a:srgbClr val="FF0000"/>
                </a:solidFill>
              </a:rPr>
              <a:t> + </a:t>
            </a:r>
            <a:r>
              <a:rPr lang="en-US" altLang="zh-TW" b="1" dirty="0">
                <a:solidFill>
                  <a:schemeClr val="accent1"/>
                </a:solidFill>
              </a:rPr>
              <a:t>J8</a:t>
            </a:r>
            <a:endParaRPr lang="zh-TW" altLang="en-US" b="1" dirty="0">
              <a:solidFill>
                <a:schemeClr val="accent1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839871" y="1975105"/>
            <a:ext cx="258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J1-J6 + </a:t>
            </a:r>
            <a:r>
              <a:rPr lang="en-US" altLang="zh-TW" b="1" dirty="0"/>
              <a:t>MDH</a:t>
            </a:r>
            <a:r>
              <a:rPr lang="en-US" altLang="zh-TW" b="1" dirty="0">
                <a:solidFill>
                  <a:srgbClr val="FF0000"/>
                </a:solidFill>
              </a:rPr>
              <a:t> + </a:t>
            </a:r>
            <a:r>
              <a:rPr lang="en-US" altLang="zh-TW" b="1" dirty="0">
                <a:solidFill>
                  <a:schemeClr val="accent2"/>
                </a:solidFill>
              </a:rPr>
              <a:t>Offset</a:t>
            </a:r>
            <a:endParaRPr lang="zh-TW" altLang="en-US" b="1" dirty="0">
              <a:solidFill>
                <a:schemeClr val="accent2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769433" y="1919509"/>
            <a:ext cx="186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6"/>
                </a:solidFill>
              </a:rPr>
              <a:t>J7</a:t>
            </a:r>
            <a:r>
              <a:rPr lang="en-US" altLang="zh-TW" b="1" dirty="0">
                <a:solidFill>
                  <a:srgbClr val="FF0000"/>
                </a:solidFill>
              </a:rPr>
              <a:t>, </a:t>
            </a:r>
            <a:r>
              <a:rPr lang="en-US" altLang="zh-TW" b="1" dirty="0">
                <a:solidFill>
                  <a:schemeClr val="accent1"/>
                </a:solidFill>
              </a:rPr>
              <a:t>J8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zh-TW" b="1" dirty="0">
                <a:solidFill>
                  <a:schemeClr val="accent2"/>
                </a:solidFill>
              </a:rPr>
              <a:t>Offset</a:t>
            </a:r>
            <a:endParaRPr lang="zh-TW" altLang="en-US" b="1" dirty="0">
              <a:solidFill>
                <a:schemeClr val="accent2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698995" y="1968598"/>
            <a:ext cx="186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J1-J6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zh-TW" b="1" dirty="0"/>
              <a:t>MDH</a:t>
            </a:r>
            <a:endParaRPr lang="zh-TW" altLang="en-US" b="1" dirty="0"/>
          </a:p>
        </p:txBody>
      </p:sp>
      <p:cxnSp>
        <p:nvCxnSpPr>
          <p:cNvPr id="32" name="直線單箭頭接點 31"/>
          <p:cNvCxnSpPr>
            <a:stCxn id="4" idx="3"/>
            <a:endCxn id="5" idx="1"/>
          </p:cNvCxnSpPr>
          <p:nvPr/>
        </p:nvCxnSpPr>
        <p:spPr>
          <a:xfrm>
            <a:off x="2978949" y="2884569"/>
            <a:ext cx="926070" cy="1890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5" idx="3"/>
            <a:endCxn id="6" idx="1"/>
          </p:cNvCxnSpPr>
          <p:nvPr/>
        </p:nvCxnSpPr>
        <p:spPr>
          <a:xfrm flipV="1">
            <a:off x="5186385" y="2885562"/>
            <a:ext cx="926070" cy="1790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6" idx="3"/>
            <a:endCxn id="7" idx="1"/>
          </p:cNvCxnSpPr>
          <p:nvPr/>
        </p:nvCxnSpPr>
        <p:spPr>
          <a:xfrm>
            <a:off x="7290890" y="2885562"/>
            <a:ext cx="770752" cy="957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3698995" y="5363845"/>
            <a:ext cx="121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Unknown</a:t>
            </a:r>
            <a:endParaRPr lang="zh-TW" altLang="en-US" dirty="0">
              <a:solidFill>
                <a:schemeClr val="accent2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0442386" y="3843414"/>
            <a:ext cx="1660652" cy="94754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9" name="圖片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3801" y="3898915"/>
            <a:ext cx="847642" cy="827298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11548153" y="3350560"/>
            <a:ext cx="277402" cy="41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等腰三角形 40"/>
          <p:cNvSpPr/>
          <p:nvPr/>
        </p:nvSpPr>
        <p:spPr>
          <a:xfrm>
            <a:off x="11614935" y="3689610"/>
            <a:ext cx="133564" cy="31320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10312071" y="5465852"/>
            <a:ext cx="123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ARIS 2025 </a:t>
            </a:r>
            <a:endParaRPr lang="zh-TW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007038" y="6140097"/>
            <a:ext cx="6096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zh-TW" sz="1100" dirty="0">
                <a:solidFill>
                  <a:srgbClr val="1C1C1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Chen </a:t>
            </a:r>
            <a:r>
              <a:rPr lang="en-US" altLang="zh-TW" sz="1100" dirty="0" err="1">
                <a:solidFill>
                  <a:srgbClr val="1C1C1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Chag</a:t>
            </a:r>
            <a:r>
              <a:rPr lang="en-US" altLang="zh-TW" sz="1100" dirty="0">
                <a:solidFill>
                  <a:srgbClr val="1C1C1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Lo, Shu-</a:t>
            </a:r>
            <a:r>
              <a:rPr lang="en-US" altLang="zh-TW" sz="1100" dirty="0" err="1">
                <a:solidFill>
                  <a:srgbClr val="1C1C1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Hao</a:t>
            </a:r>
            <a:r>
              <a:rPr lang="en-US" altLang="zh-TW" sz="1100" dirty="0">
                <a:solidFill>
                  <a:srgbClr val="1C1C1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Liang. (2025, Aug 17 -19). "Real-Time 3D Pose Estimation of DuPont Wires Using Dual-Camera Vision." 2025 International Conference on Advanced Robotics and Intelligent Systems, Taichung, Taiwan.</a:t>
            </a:r>
          </a:p>
        </p:txBody>
      </p:sp>
      <p:sp>
        <p:nvSpPr>
          <p:cNvPr id="44" name="文字版面配置區 43"/>
          <p:cNvSpPr>
            <a:spLocks noGrp="1"/>
          </p:cNvSpPr>
          <p:nvPr>
            <p:ph type="body" idx="4294967295"/>
          </p:nvPr>
        </p:nvSpPr>
        <p:spPr>
          <a:xfrm>
            <a:off x="4002056" y="113172"/>
            <a:ext cx="4176904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1800" dirty="0"/>
              <a:t>Wire Insertion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1800" dirty="0"/>
              <a:t>MDH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1800" dirty="0" err="1"/>
              <a:t>OFFset</a:t>
            </a:r>
            <a:endParaRPr lang="en-US" altLang="zh-TW" sz="1800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sz="1800" dirty="0"/>
              <a:t>Verification (</a:t>
            </a:r>
            <a:r>
              <a:rPr lang="en-US" altLang="zh-TW" sz="1800" dirty="0" err="1"/>
              <a:t>MDH+Offset</a:t>
            </a:r>
            <a:r>
              <a:rPr lang="en-US" altLang="zh-TW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8656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Wire Insertion</a:t>
            </a:r>
            <a:endParaRPr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267AB20F-634A-4F03-BAD8-96C99DFC59D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2309330"/>
            <a:ext cx="3723968" cy="3216826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首先，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先以手動示教方式進行插件，確認插件動作可以執行、治具、夾爪設計無問題，手臂工作範圍正常，無奇異點問題。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D9BB6F6-6056-4347-9231-85CB19209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212" y="2480390"/>
            <a:ext cx="7335274" cy="24542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E23BC1B-EDB2-405F-AD01-53A7E44B3B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00452" y="523881"/>
            <a:ext cx="4784034" cy="943733"/>
          </a:xfrm>
          <a:prstGeom prst="rect">
            <a:avLst/>
          </a:prstGeom>
          <a:ln>
            <a:noFill/>
          </a:ln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83296E1-E8B8-4C08-A007-5F71794E13FB}"/>
              </a:ext>
            </a:extLst>
          </p:cNvPr>
          <p:cNvSpPr txBox="1"/>
          <p:nvPr/>
        </p:nvSpPr>
        <p:spPr>
          <a:xfrm>
            <a:off x="7182570" y="5042451"/>
            <a:ext cx="186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線材插件的步驟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595462-8CB3-4981-8BDE-CA4421619FB9}"/>
              </a:ext>
            </a:extLst>
          </p:cNvPr>
          <p:cNvSpPr txBox="1"/>
          <p:nvPr/>
        </p:nvSpPr>
        <p:spPr>
          <a:xfrm>
            <a:off x="8435052" y="1467614"/>
            <a:ext cx="191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1.</a:t>
            </a:r>
            <a:r>
              <a:rPr lang="zh-TW" altLang="en-US" dirty="0"/>
              <a:t> 手動插入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7316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D31E706-0DA6-4BCA-8AA1-3A9CA4498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4"/>
          <a:stretch/>
        </p:blipFill>
        <p:spPr>
          <a:xfrm>
            <a:off x="884527" y="3118848"/>
            <a:ext cx="2409279" cy="2831973"/>
          </a:xfrm>
          <a:ln w="28575">
            <a:solidFill>
              <a:schemeClr val="tx1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9E90C51-799E-4842-BBE5-D0A0F7E20B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6" t="28638" r="13584" b="27396"/>
          <a:stretch/>
        </p:blipFill>
        <p:spPr>
          <a:xfrm rot="10800000">
            <a:off x="3748312" y="3669522"/>
            <a:ext cx="4085775" cy="17306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2BA690F-69E1-4020-BF45-F922CB4011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8" t="27881" r="40526" b="30825"/>
          <a:stretch/>
        </p:blipFill>
        <p:spPr>
          <a:xfrm>
            <a:off x="8288593" y="3205034"/>
            <a:ext cx="2959886" cy="27457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9C918FC-B0A0-4694-829C-2D49607273F8}"/>
              </a:ext>
            </a:extLst>
          </p:cNvPr>
          <p:cNvSpPr txBox="1"/>
          <p:nvPr/>
        </p:nvSpPr>
        <p:spPr>
          <a:xfrm>
            <a:off x="558018" y="6005166"/>
            <a:ext cx="306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(a) Manipulator and gripper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F1A4F7-F85A-41F1-8BDB-2BBD1EDF14DF}"/>
              </a:ext>
            </a:extLst>
          </p:cNvPr>
          <p:cNvSpPr txBox="1"/>
          <p:nvPr/>
        </p:nvSpPr>
        <p:spPr>
          <a:xfrm>
            <a:off x="4833836" y="6049747"/>
            <a:ext cx="224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(b) Wire and fixture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B3CFD3D-946B-4F67-840F-CF513C3CF676}"/>
              </a:ext>
            </a:extLst>
          </p:cNvPr>
          <p:cNvSpPr txBox="1"/>
          <p:nvPr/>
        </p:nvSpPr>
        <p:spPr>
          <a:xfrm>
            <a:off x="9033573" y="6008634"/>
            <a:ext cx="179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(c) Wire socket</a:t>
            </a:r>
            <a:endParaRPr lang="zh-TW" altLang="en-US" dirty="0"/>
          </a:p>
        </p:txBody>
      </p:sp>
      <p:sp>
        <p:nvSpPr>
          <p:cNvPr id="19" name="手繪多邊形: 圖案 18">
            <a:extLst>
              <a:ext uri="{FF2B5EF4-FFF2-40B4-BE49-F238E27FC236}">
                <a16:creationId xmlns:a16="http://schemas.microsoft.com/office/drawing/2014/main" id="{DFC75048-9F78-4772-B56E-A67CF73048DE}"/>
              </a:ext>
            </a:extLst>
          </p:cNvPr>
          <p:cNvSpPr/>
          <p:nvPr/>
        </p:nvSpPr>
        <p:spPr>
          <a:xfrm>
            <a:off x="3106993" y="3419111"/>
            <a:ext cx="2851355" cy="1487186"/>
          </a:xfrm>
          <a:custGeom>
            <a:avLst/>
            <a:gdLst>
              <a:gd name="connsiteX0" fmla="*/ 0 w 2851355"/>
              <a:gd name="connsiteY0" fmla="*/ 1487186 h 1487186"/>
              <a:gd name="connsiteX1" fmla="*/ 1337187 w 2851355"/>
              <a:gd name="connsiteY1" fmla="*/ 2515 h 1487186"/>
              <a:gd name="connsiteX2" fmla="*/ 2851355 w 2851355"/>
              <a:gd name="connsiteY2" fmla="*/ 1133225 h 148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1355" h="1487186">
                <a:moveTo>
                  <a:pt x="0" y="1487186"/>
                </a:moveTo>
                <a:cubicBezTo>
                  <a:pt x="430980" y="774347"/>
                  <a:pt x="861961" y="61508"/>
                  <a:pt x="1337187" y="2515"/>
                </a:cubicBezTo>
                <a:cubicBezTo>
                  <a:pt x="1812413" y="-56479"/>
                  <a:pt x="2608826" y="939857"/>
                  <a:pt x="2851355" y="11332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CC261110-C9F1-4ABC-B3DF-E7B0ABF62439}"/>
              </a:ext>
            </a:extLst>
          </p:cNvPr>
          <p:cNvSpPr/>
          <p:nvPr/>
        </p:nvSpPr>
        <p:spPr>
          <a:xfrm>
            <a:off x="2900516" y="4768645"/>
            <a:ext cx="284946" cy="2556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63B30FC-C3AD-4BA4-A327-DDF246FEDB3A}"/>
              </a:ext>
            </a:extLst>
          </p:cNvPr>
          <p:cNvSpPr txBox="1"/>
          <p:nvPr/>
        </p:nvSpPr>
        <p:spPr>
          <a:xfrm>
            <a:off x="1753616" y="5206560"/>
            <a:ext cx="165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Gripper tool point</a:t>
            </a:r>
            <a:endParaRPr lang="zh-TW" altLang="en-US" sz="1400" dirty="0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839E75E0-A359-4DFA-BB14-B893AA342EF2}"/>
              </a:ext>
            </a:extLst>
          </p:cNvPr>
          <p:cNvSpPr/>
          <p:nvPr/>
        </p:nvSpPr>
        <p:spPr>
          <a:xfrm>
            <a:off x="7633921" y="4450107"/>
            <a:ext cx="284946" cy="2556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5056502-A044-4E59-93E4-8F24567B4E33}"/>
              </a:ext>
            </a:extLst>
          </p:cNvPr>
          <p:cNvSpPr txBox="1"/>
          <p:nvPr/>
        </p:nvSpPr>
        <p:spPr>
          <a:xfrm>
            <a:off x="6629446" y="4705746"/>
            <a:ext cx="165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Wire tip point</a:t>
            </a:r>
            <a:endParaRPr lang="zh-TW" altLang="en-US" sz="1400" dirty="0"/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0E9940DB-E0DE-4150-BA62-DCA6A2E86C05}"/>
              </a:ext>
            </a:extLst>
          </p:cNvPr>
          <p:cNvSpPr/>
          <p:nvPr/>
        </p:nvSpPr>
        <p:spPr>
          <a:xfrm>
            <a:off x="7767484" y="4065560"/>
            <a:ext cx="1533832" cy="968556"/>
          </a:xfrm>
          <a:custGeom>
            <a:avLst/>
            <a:gdLst>
              <a:gd name="connsiteX0" fmla="*/ 0 w 1533832"/>
              <a:gd name="connsiteY0" fmla="*/ 476944 h 968556"/>
              <a:gd name="connsiteX1" fmla="*/ 855406 w 1533832"/>
              <a:gd name="connsiteY1" fmla="*/ 14827 h 968556"/>
              <a:gd name="connsiteX2" fmla="*/ 1533832 w 1533832"/>
              <a:gd name="connsiteY2" fmla="*/ 968556 h 96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3832" h="968556">
                <a:moveTo>
                  <a:pt x="0" y="476944"/>
                </a:moveTo>
                <a:cubicBezTo>
                  <a:pt x="299883" y="204918"/>
                  <a:pt x="599767" y="-67108"/>
                  <a:pt x="855406" y="14827"/>
                </a:cubicBezTo>
                <a:cubicBezTo>
                  <a:pt x="1111045" y="96762"/>
                  <a:pt x="1387987" y="825988"/>
                  <a:pt x="1533832" y="968556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714FFF00-BE0E-4549-8546-A2BC435DF892}"/>
              </a:ext>
            </a:extLst>
          </p:cNvPr>
          <p:cNvSpPr/>
          <p:nvPr/>
        </p:nvSpPr>
        <p:spPr>
          <a:xfrm>
            <a:off x="9232490" y="5013524"/>
            <a:ext cx="202389" cy="2141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7" name="內容版面配置區 6">
            <a:extLst>
              <a:ext uri="{FF2B5EF4-FFF2-40B4-BE49-F238E27FC236}">
                <a16:creationId xmlns:a16="http://schemas.microsoft.com/office/drawing/2014/main" id="{A3B6597A-10B5-43E5-B480-89FC669800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054" y="218279"/>
            <a:ext cx="7157891" cy="141201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4231D71-B673-40E3-8BA7-13B27F2CE5EE}"/>
              </a:ext>
            </a:extLst>
          </p:cNvPr>
          <p:cNvSpPr txBox="1"/>
          <p:nvPr/>
        </p:nvSpPr>
        <p:spPr>
          <a:xfrm>
            <a:off x="5056237" y="1638942"/>
            <a:ext cx="191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1.</a:t>
            </a:r>
            <a:r>
              <a:rPr lang="zh-TW" altLang="en-US" dirty="0"/>
              <a:t> 手動插入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3095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</a:t>
            </a:r>
            <a:r>
              <a:rPr lang="en-US" altLang="zh-TW" dirty="0" err="1"/>
              <a:t>Denavit-Hartenberg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F89BCEEE-634C-4908-813C-E1DC1F519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8599"/>
            <a:ext cx="3992219" cy="4351338"/>
          </a:xfrm>
        </p:spPr>
        <p:txBody>
          <a:bodyPr>
            <a:norm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商用手臂對不同軸向定義不盡相同，而底層的運動學模型通常是不可知的，為了後續的插件系統的模擬，將手臂完整建模是必須的。</a:t>
            </a:r>
            <a:endParaRPr lang="en-US" altLang="zh-TW" sz="2000" dirty="0">
              <a:solidFill>
                <a:srgbClr val="FF0000"/>
              </a:solidFill>
            </a:endParaRPr>
          </a:p>
          <a:p>
            <a:r>
              <a:rPr lang="zh-TW" altLang="en-US" sz="2000" dirty="0"/>
              <a:t>從手臂的產品手冊可以找到各軸的長度，根據</a:t>
            </a:r>
            <a:r>
              <a:rPr lang="en-US" altLang="zh-TW" sz="2000" dirty="0"/>
              <a:t>MDH</a:t>
            </a:r>
            <a:r>
              <a:rPr lang="zh-TW" altLang="en-US" sz="2000" dirty="0"/>
              <a:t>建模的原則，參考手臂各軸的旋轉方向與面向，依序列出四大參數的各項數值</a:t>
            </a:r>
            <a:endParaRPr lang="en-US" altLang="zh-TW" sz="200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4C99908-56C5-4EA0-A245-E783EA39B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6332" y="1718813"/>
            <a:ext cx="5141842" cy="71923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BD97304-3AB1-430B-B125-AB7D997A3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9623" y="3405823"/>
            <a:ext cx="6530771" cy="21617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B5C7C76-5F08-429E-8D3C-5A40878CEC4B}"/>
              </a:ext>
            </a:extLst>
          </p:cNvPr>
          <p:cNvSpPr txBox="1"/>
          <p:nvPr/>
        </p:nvSpPr>
        <p:spPr>
          <a:xfrm>
            <a:off x="7767430" y="5637071"/>
            <a:ext cx="1335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座標系定義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E07A3E-1C0D-4562-BF34-0E424210AE54}"/>
              </a:ext>
            </a:extLst>
          </p:cNvPr>
          <p:cNvSpPr txBox="1"/>
          <p:nvPr/>
        </p:nvSpPr>
        <p:spPr>
          <a:xfrm>
            <a:off x="8193103" y="2507539"/>
            <a:ext cx="181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2.</a:t>
            </a:r>
            <a:r>
              <a:rPr lang="zh-TW" altLang="en-US" dirty="0"/>
              <a:t> 手臂建模</a:t>
            </a:r>
          </a:p>
        </p:txBody>
      </p:sp>
    </p:spTree>
    <p:extLst>
      <p:ext uri="{BB962C8B-B14F-4D97-AF65-F5344CB8AC3E}">
        <p14:creationId xmlns:p14="http://schemas.microsoft.com/office/powerpoint/2010/main" val="151214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367E4-6F27-41A4-A11D-3CAFF952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993EE0-30F7-43ED-B7F7-58CD0EC73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9710" cy="4351338"/>
          </a:xfrm>
        </p:spPr>
        <p:txBody>
          <a:bodyPr/>
          <a:lstStyle/>
          <a:p>
            <a:endParaRPr lang="en-US" altLang="zh-TW" sz="2400" dirty="0"/>
          </a:p>
          <a:p>
            <a:r>
              <a:rPr lang="zh-TW" altLang="en-US" sz="2400" dirty="0"/>
              <a:t>推導適用於商用手臂的通用運動學模型，利用改良型</a:t>
            </a:r>
            <a:r>
              <a:rPr lang="en-US" altLang="zh-TW" sz="2400" dirty="0"/>
              <a:t>DH</a:t>
            </a:r>
            <a:r>
              <a:rPr lang="zh-TW" altLang="en-US" sz="2400" dirty="0"/>
              <a:t>建模法，搭配</a:t>
            </a:r>
            <a:r>
              <a:rPr lang="en-US" altLang="zh-TW" sz="2400" dirty="0"/>
              <a:t>MATLAB</a:t>
            </a:r>
            <a:r>
              <a:rPr lang="zh-TW" altLang="en-US" sz="2400" dirty="0"/>
              <a:t>的</a:t>
            </a:r>
            <a:r>
              <a:rPr lang="en-US" altLang="zh-TW" sz="2400" dirty="0"/>
              <a:t>robotic tool box</a:t>
            </a:r>
            <a:r>
              <a:rPr lang="zh-TW" altLang="en-US" sz="2400" dirty="0"/>
              <a:t>工具箱，建立一套不依賴原廠底層權限的六軸機械手臂模擬系統。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BCE7FF0-3F06-41A2-B31E-27A805786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910" y="2190060"/>
            <a:ext cx="6515197" cy="287289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5016F0E-7166-48DB-84A6-088D72FC8D05}"/>
              </a:ext>
            </a:extLst>
          </p:cNvPr>
          <p:cNvSpPr txBox="1"/>
          <p:nvPr/>
        </p:nvSpPr>
        <p:spPr>
          <a:xfrm>
            <a:off x="6670995" y="5192998"/>
            <a:ext cx="39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模擬環境建模與實體手臂操作畫面</a:t>
            </a:r>
          </a:p>
        </p:txBody>
      </p:sp>
    </p:spTree>
    <p:extLst>
      <p:ext uri="{BB962C8B-B14F-4D97-AF65-F5344CB8AC3E}">
        <p14:creationId xmlns:p14="http://schemas.microsoft.com/office/powerpoint/2010/main" val="173543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5AB4C53-B201-4188-8E1B-3D76AD631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6501"/>
            <a:ext cx="10515600" cy="147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0307417-A17C-4E60-ABCD-ABD65254B601}"/>
              </a:ext>
            </a:extLst>
          </p:cNvPr>
          <p:cNvSpPr txBox="1"/>
          <p:nvPr/>
        </p:nvSpPr>
        <p:spPr>
          <a:xfrm>
            <a:off x="5186516" y="1846063"/>
            <a:ext cx="181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2.</a:t>
            </a:r>
            <a:r>
              <a:rPr lang="zh-TW" altLang="en-US" dirty="0"/>
              <a:t> 手臂建模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E293392-0B6E-407E-AE5A-ACBCA7D8D50D}"/>
              </a:ext>
            </a:extLst>
          </p:cNvPr>
          <p:cNvGrpSpPr/>
          <p:nvPr/>
        </p:nvGrpSpPr>
        <p:grpSpPr>
          <a:xfrm>
            <a:off x="2295464" y="2615904"/>
            <a:ext cx="8972304" cy="3860600"/>
            <a:chOff x="2295464" y="2615904"/>
            <a:chExt cx="8972304" cy="386060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D9614BD8-5A6C-4987-9697-E02E8F954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5465" y="2618819"/>
              <a:ext cx="4632303" cy="3474227"/>
            </a:xfrm>
            <a:prstGeom prst="rect">
              <a:avLst/>
            </a:prstGeom>
          </p:spPr>
        </p:pic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28588AA-A100-440E-B3BD-0B11C5185593}"/>
                </a:ext>
              </a:extLst>
            </p:cNvPr>
            <p:cNvSpPr txBox="1"/>
            <p:nvPr/>
          </p:nvSpPr>
          <p:spPr>
            <a:xfrm>
              <a:off x="2510768" y="6107172"/>
              <a:ext cx="3909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 Manipulator simulation on </a:t>
              </a:r>
              <a:r>
                <a:rPr lang="en-US" altLang="zh-TW" dirty="0" err="1"/>
                <a:t>Matlab</a:t>
              </a:r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20F481D8-6944-4F6E-959B-1889CFD65DEC}"/>
                </a:ext>
              </a:extLst>
            </p:cNvPr>
            <p:cNvSpPr txBox="1"/>
            <p:nvPr/>
          </p:nvSpPr>
          <p:spPr>
            <a:xfrm>
              <a:off x="7393906" y="6107172"/>
              <a:ext cx="311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 Manipulator in real world</a:t>
              </a:r>
              <a:endParaRPr lang="zh-TW" altLang="en-US" dirty="0"/>
            </a:p>
          </p:txBody>
        </p: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E976BFDF-384C-4037-B7EA-DB649EF55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5464" y="2615904"/>
              <a:ext cx="4340001" cy="3477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875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FB66E30C-C352-45A4-AF4C-87131819AE80}"/>
              </a:ext>
            </a:extLst>
          </p:cNvPr>
          <p:cNvGrpSpPr/>
          <p:nvPr/>
        </p:nvGrpSpPr>
        <p:grpSpPr>
          <a:xfrm>
            <a:off x="630969" y="1589752"/>
            <a:ext cx="9531790" cy="3845515"/>
            <a:chOff x="630969" y="1589752"/>
            <a:chExt cx="9531790" cy="3845515"/>
          </a:xfrm>
        </p:grpSpPr>
        <p:pic>
          <p:nvPicPr>
            <p:cNvPr id="4" name="內容版面配置區 4">
              <a:extLst>
                <a:ext uri="{FF2B5EF4-FFF2-40B4-BE49-F238E27FC236}">
                  <a16:creationId xmlns:a16="http://schemas.microsoft.com/office/drawing/2014/main" id="{8F58C224-28A7-4F3E-93C3-078A6BDE5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4404" y="1589752"/>
              <a:ext cx="3244437" cy="3476183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7C791989-E0A5-4F24-8707-7B4D5137EC2F}"/>
                </a:ext>
              </a:extLst>
            </p:cNvPr>
            <p:cNvSpPr txBox="1"/>
            <p:nvPr/>
          </p:nvSpPr>
          <p:spPr>
            <a:xfrm>
              <a:off x="630969" y="5064498"/>
              <a:ext cx="4395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 Coordinate orientations on each joint</a:t>
              </a:r>
              <a:endParaRPr lang="zh-TW" altLang="en-US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BF1445E-8EE0-4822-9B92-B50362A6404B}"/>
                </a:ext>
              </a:extLst>
            </p:cNvPr>
            <p:cNvSpPr txBox="1"/>
            <p:nvPr/>
          </p:nvSpPr>
          <p:spPr>
            <a:xfrm>
              <a:off x="6548971" y="5065935"/>
              <a:ext cx="36137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 Manipulator’s MDH</a:t>
              </a:r>
              <a:r>
                <a:rPr lang="zh-TW" altLang="en-US" dirty="0"/>
                <a:t> </a:t>
              </a:r>
              <a:r>
                <a:rPr lang="en-US" altLang="zh-TW" dirty="0"/>
                <a:t>parameter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7">
                <a:extLst>
                  <a:ext uri="{FF2B5EF4-FFF2-40B4-BE49-F238E27FC236}">
                    <a16:creationId xmlns:a16="http://schemas.microsoft.com/office/drawing/2014/main" id="{EDE1EE36-AE89-4A16-B294-4360FBF4AD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07565"/>
                  </p:ext>
                </p:extLst>
              </p:nvPr>
            </p:nvGraphicFramePr>
            <p:xfrm>
              <a:off x="4010486" y="2470055"/>
              <a:ext cx="81280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21464596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713585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50296607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2656115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25410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Frame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41431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327(d1)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055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029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r>
                            <a:rPr lang="zh-TW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280(a2)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4563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10(a3)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300(d4)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955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+90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6208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64(d6)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180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604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7">
                <a:extLst>
                  <a:ext uri="{FF2B5EF4-FFF2-40B4-BE49-F238E27FC236}">
                    <a16:creationId xmlns:a16="http://schemas.microsoft.com/office/drawing/2014/main" id="{EDE1EE36-AE89-4A16-B294-4360FBF4AD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07565"/>
                  </p:ext>
                </p:extLst>
              </p:nvPr>
            </p:nvGraphicFramePr>
            <p:xfrm>
              <a:off x="4010486" y="2470055"/>
              <a:ext cx="81280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21464596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713585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50296607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2656115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25410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Frame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100375" t="-8197" r="-30149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00375" t="-8197" r="-20149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300375" t="-8197" r="-10149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400375" t="-8197" r="-1498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41431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327(d1)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055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029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r>
                            <a:rPr lang="zh-TW" alt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280(a2)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4563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10(a3)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300(d4)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955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+90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62089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-90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64(d6)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180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6045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ACC54DEE-CCF6-4AA3-B685-B2294A35DA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4761551"/>
                  </p:ext>
                </p:extLst>
              </p:nvPr>
            </p:nvGraphicFramePr>
            <p:xfrm>
              <a:off x="5026212" y="130413"/>
              <a:ext cx="7165788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1447">
                      <a:extLst>
                        <a:ext uri="{9D8B030D-6E8A-4147-A177-3AD203B41FA5}">
                          <a16:colId xmlns:a16="http://schemas.microsoft.com/office/drawing/2014/main" val="3030382744"/>
                        </a:ext>
                      </a:extLst>
                    </a:gridCol>
                    <a:gridCol w="1791447">
                      <a:extLst>
                        <a:ext uri="{9D8B030D-6E8A-4147-A177-3AD203B41FA5}">
                          <a16:colId xmlns:a16="http://schemas.microsoft.com/office/drawing/2014/main" val="3162598260"/>
                        </a:ext>
                      </a:extLst>
                    </a:gridCol>
                    <a:gridCol w="1791447">
                      <a:extLst>
                        <a:ext uri="{9D8B030D-6E8A-4147-A177-3AD203B41FA5}">
                          <a16:colId xmlns:a16="http://schemas.microsoft.com/office/drawing/2014/main" val="4173899456"/>
                        </a:ext>
                      </a:extLst>
                    </a:gridCol>
                    <a:gridCol w="1791447">
                      <a:extLst>
                        <a:ext uri="{9D8B030D-6E8A-4147-A177-3AD203B41FA5}">
                          <a16:colId xmlns:a16="http://schemas.microsoft.com/office/drawing/2014/main" val="1358092678"/>
                        </a:ext>
                      </a:extLst>
                    </a:gridCol>
                  </a:tblGrid>
                  <a:tr h="17406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753150"/>
                      </a:ext>
                    </a:extLst>
                  </a:tr>
                  <a:tr h="261564">
                    <a:tc>
                      <a:txBody>
                        <a:bodyPr/>
                        <a:lstStyle/>
                        <a:p>
                          <a:r>
                            <a:rPr lang="zh-TW" altLang="en-US" dirty="0"/>
                            <a:t>沿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dirty="0"/>
                            <a:t>,</a:t>
                          </a:r>
                          <a:r>
                            <a:rPr lang="zh-TW" altLang="en-US" dirty="0"/>
                            <a:t>從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旋轉到</m:t>
                              </m:r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en-US" dirty="0"/>
                            <a:t>的角度</a:t>
                          </a:r>
                          <a:endParaRPr lang="en-US" altLang="zh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/>
                            <a:t>沿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dirty="0"/>
                            <a:t>,</a:t>
                          </a:r>
                          <a:r>
                            <a:rPr lang="zh-TW" altLang="en-US" dirty="0"/>
                            <a:t>從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移動到</m:t>
                              </m:r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en-US" dirty="0"/>
                            <a:t>的距離</a:t>
                          </a:r>
                          <a:endParaRPr lang="en-US" altLang="zh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/>
                            <a:t>沿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dirty="0"/>
                            <a:t>,</a:t>
                          </a:r>
                          <a:r>
                            <a:rPr lang="zh-TW" altLang="en-US" dirty="0"/>
                            <a:t>從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移動到</m:t>
                              </m:r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en-US" dirty="0"/>
                            <a:t>的距離</a:t>
                          </a:r>
                          <a:endParaRPr lang="en-US" altLang="zh-TW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dirty="0"/>
                            <a:t>沿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dirty="0"/>
                            <a:t>,</a:t>
                          </a:r>
                          <a:r>
                            <a:rPr lang="zh-TW" altLang="en-US" dirty="0"/>
                            <a:t>從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旋轉到</m:t>
                              </m:r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en-US" dirty="0"/>
                            <a:t>的角度</a:t>
                          </a:r>
                          <a:endParaRPr lang="en-US" altLang="zh-TW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044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ACC54DEE-CCF6-4AA3-B685-B2294A35DA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4761551"/>
                  </p:ext>
                </p:extLst>
              </p:nvPr>
            </p:nvGraphicFramePr>
            <p:xfrm>
              <a:off x="5026212" y="130413"/>
              <a:ext cx="7165788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1447">
                      <a:extLst>
                        <a:ext uri="{9D8B030D-6E8A-4147-A177-3AD203B41FA5}">
                          <a16:colId xmlns:a16="http://schemas.microsoft.com/office/drawing/2014/main" val="3030382744"/>
                        </a:ext>
                      </a:extLst>
                    </a:gridCol>
                    <a:gridCol w="1791447">
                      <a:extLst>
                        <a:ext uri="{9D8B030D-6E8A-4147-A177-3AD203B41FA5}">
                          <a16:colId xmlns:a16="http://schemas.microsoft.com/office/drawing/2014/main" val="3162598260"/>
                        </a:ext>
                      </a:extLst>
                    </a:gridCol>
                    <a:gridCol w="1791447">
                      <a:extLst>
                        <a:ext uri="{9D8B030D-6E8A-4147-A177-3AD203B41FA5}">
                          <a16:colId xmlns:a16="http://schemas.microsoft.com/office/drawing/2014/main" val="4173899456"/>
                        </a:ext>
                      </a:extLst>
                    </a:gridCol>
                    <a:gridCol w="1791447">
                      <a:extLst>
                        <a:ext uri="{9D8B030D-6E8A-4147-A177-3AD203B41FA5}">
                          <a16:colId xmlns:a16="http://schemas.microsoft.com/office/drawing/2014/main" val="135809267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340" t="-1667" r="-301701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100340" t="-1667" r="-201701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200340" t="-1667" r="-101701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300340" t="-1667" r="-1701" b="-2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475315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340" t="-57547" r="-301701" b="-1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100340" t="-57547" r="-201701" b="-1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200340" t="-57547" r="-101701" b="-1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5"/>
                          <a:stretch>
                            <a:fillRect l="-300340" t="-57547" r="-1701" b="-14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50444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6662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TCP</a:t>
            </a:r>
            <a:r>
              <a:rPr lang="zh-TW" altLang="en-US" dirty="0"/>
              <a:t> </a:t>
            </a:r>
            <a:r>
              <a:rPr lang="en-US" altLang="zh-TW" dirty="0"/>
              <a:t>offset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C245D60-B534-4078-8EE7-0971AF648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7213"/>
            <a:ext cx="4540045" cy="4351338"/>
          </a:xfrm>
        </p:spPr>
        <p:txBody>
          <a:bodyPr>
            <a:normAutofit/>
          </a:bodyPr>
          <a:lstStyle/>
          <a:p>
            <a:endParaRPr lang="en-US" altLang="zh-TW" sz="2400" dirty="0"/>
          </a:p>
          <a:p>
            <a:r>
              <a:rPr lang="zh-TW" altLang="en-US" sz="2400" dirty="0"/>
              <a:t>當末端夾持器上的實際</a:t>
            </a:r>
            <a:r>
              <a:rPr lang="en-US" altLang="zh-TW" sz="2400" dirty="0"/>
              <a:t>TCP</a:t>
            </a:r>
            <a:r>
              <a:rPr lang="zh-TW" altLang="en-US" sz="2400" dirty="0"/>
              <a:t>相較於理想</a:t>
            </a:r>
            <a:r>
              <a:rPr lang="en-US" altLang="zh-TW" sz="2400" dirty="0"/>
              <a:t>TCP</a:t>
            </a:r>
            <a:r>
              <a:rPr lang="zh-TW" altLang="en-US" sz="2400" dirty="0"/>
              <a:t>歪斜時，在實體手臂不更改理想</a:t>
            </a:r>
            <a:r>
              <a:rPr lang="en-US" altLang="zh-TW" sz="2400" dirty="0"/>
              <a:t>TCP</a:t>
            </a:r>
            <a:r>
              <a:rPr lang="zh-TW" altLang="en-US" sz="2400" dirty="0"/>
              <a:t>的狀態下，僅透過模型根據實際</a:t>
            </a:r>
            <a:r>
              <a:rPr lang="en-US" altLang="zh-TW" sz="2400" dirty="0"/>
              <a:t>TCP</a:t>
            </a:r>
            <a:r>
              <a:rPr lang="zh-TW" altLang="en-US" sz="2400" dirty="0"/>
              <a:t>歪斜角度與位置重新計算假想</a:t>
            </a:r>
            <a:r>
              <a:rPr lang="en-US" altLang="zh-TW" sz="2400" dirty="0"/>
              <a:t>TCP</a:t>
            </a:r>
            <a:r>
              <a:rPr lang="zh-TW" altLang="en-US" sz="2400" dirty="0"/>
              <a:t>後用逆運動學</a:t>
            </a:r>
            <a:r>
              <a:rPr lang="en-US" altLang="zh-TW" sz="2400" dirty="0"/>
              <a:t>(IK)</a:t>
            </a:r>
            <a:r>
              <a:rPr lang="zh-TW" altLang="en-US" sz="2400" dirty="0"/>
              <a:t>推算各軸角度，角度代回實體手臂依然可以正確執行任務</a:t>
            </a:r>
            <a:endParaRPr lang="en-US" altLang="zh-TW" sz="2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B84FF76-F18B-4287-9ECC-692CDD16C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8244" y="958944"/>
            <a:ext cx="6515198" cy="96867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AF53DC2-CE88-4407-8313-7BA71AA24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9611" y="2224375"/>
            <a:ext cx="4632463" cy="41464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25B0803-D926-45EC-A756-0D35539D26F0}"/>
              </a:ext>
            </a:extLst>
          </p:cNvPr>
          <p:cNvSpPr txBox="1"/>
          <p:nvPr/>
        </p:nvSpPr>
        <p:spPr>
          <a:xfrm>
            <a:off x="7535911" y="6370790"/>
            <a:ext cx="2199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軟性材料幾何位置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103DAFC-32DE-472D-910C-6766511E0106}"/>
              </a:ext>
            </a:extLst>
          </p:cNvPr>
          <p:cNvSpPr txBox="1"/>
          <p:nvPr/>
        </p:nvSpPr>
        <p:spPr>
          <a:xfrm>
            <a:off x="7455972" y="1887850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3. </a:t>
            </a:r>
            <a:r>
              <a:rPr lang="zh-TW" altLang="en-US" dirty="0"/>
              <a:t>計算</a:t>
            </a:r>
            <a:r>
              <a:rPr lang="en-US" altLang="zh-TW" dirty="0"/>
              <a:t>TCP</a:t>
            </a:r>
            <a:r>
              <a:rPr lang="zh-TW" altLang="en-US" dirty="0"/>
              <a:t>位移</a:t>
            </a:r>
          </a:p>
        </p:txBody>
      </p:sp>
    </p:spTree>
    <p:extLst>
      <p:ext uri="{BB962C8B-B14F-4D97-AF65-F5344CB8AC3E}">
        <p14:creationId xmlns:p14="http://schemas.microsoft.com/office/powerpoint/2010/main" val="289882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9F0B18E-2B1D-40D8-BC9E-574639372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8096"/>
            <a:ext cx="10515600" cy="147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3AAE9F9-1507-4E22-BB09-722ED24DEB8C}"/>
              </a:ext>
            </a:extLst>
          </p:cNvPr>
          <p:cNvSpPr txBox="1"/>
          <p:nvPr/>
        </p:nvSpPr>
        <p:spPr>
          <a:xfrm>
            <a:off x="4916129" y="3429000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3. </a:t>
            </a:r>
            <a:r>
              <a:rPr lang="zh-TW" altLang="en-US" dirty="0"/>
              <a:t>計算</a:t>
            </a:r>
            <a:r>
              <a:rPr lang="en-US" altLang="zh-TW" dirty="0"/>
              <a:t>TCP</a:t>
            </a:r>
            <a:r>
              <a:rPr lang="zh-TW" altLang="en-US" dirty="0"/>
              <a:t>位移</a:t>
            </a:r>
          </a:p>
        </p:txBody>
      </p:sp>
    </p:spTree>
    <p:extLst>
      <p:ext uri="{BB962C8B-B14F-4D97-AF65-F5344CB8AC3E}">
        <p14:creationId xmlns:p14="http://schemas.microsoft.com/office/powerpoint/2010/main" val="50520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47400B-157D-41BB-849E-A5F35F30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法向量對齊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0AA57173-3C0F-415A-8AF4-9BD52F761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7703" y="569186"/>
            <a:ext cx="6704297" cy="552681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1A34727-06BF-4880-9041-D5C777DB6C98}"/>
              </a:ext>
            </a:extLst>
          </p:cNvPr>
          <p:cNvSpPr txBox="1"/>
          <p:nvPr/>
        </p:nvSpPr>
        <p:spPr>
          <a:xfrm>
            <a:off x="366964" y="1690688"/>
            <a:ext cx="52758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補償空間中線材尖端與手臂末端第六軸的夾角</a:t>
            </a:r>
            <a:endParaRPr lang="en-US" altLang="zh-TW" dirty="0"/>
          </a:p>
          <a:p>
            <a:r>
              <a:rPr lang="zh-TW" altLang="en-US" dirty="0"/>
              <a:t>讓原本的</a:t>
            </a:r>
            <a:r>
              <a:rPr lang="en-US" altLang="zh-TW" dirty="0"/>
              <a:t>J6</a:t>
            </a:r>
            <a:r>
              <a:rPr lang="zh-TW" altLang="en-US" dirty="0"/>
              <a:t>到</a:t>
            </a:r>
            <a:r>
              <a:rPr lang="en-US" altLang="zh-TW" dirty="0"/>
              <a:t>TCP</a:t>
            </a:r>
            <a:r>
              <a:rPr lang="zh-TW" altLang="en-US" dirty="0"/>
              <a:t>的向量能與插件孔面法向量</a:t>
            </a:r>
            <a:endParaRPr lang="en-US" altLang="zh-TW" dirty="0"/>
          </a:p>
          <a:p>
            <a:r>
              <a:rPr lang="zh-TW" altLang="en-US" dirty="0"/>
              <a:t>兩者單位向量相同</a:t>
            </a:r>
            <a:r>
              <a:rPr lang="en-US" altLang="zh-TW" dirty="0"/>
              <a:t>(</a:t>
            </a:r>
            <a:r>
              <a:rPr lang="zh-TW" altLang="en-US" dirty="0"/>
              <a:t>同方向且大小相同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但並不代表</a:t>
            </a:r>
            <a:r>
              <a:rPr lang="en-US" altLang="zh-TW" dirty="0">
                <a:solidFill>
                  <a:srgbClr val="FF0000"/>
                </a:solidFill>
              </a:rPr>
              <a:t>J6</a:t>
            </a:r>
            <a:r>
              <a:rPr lang="zh-TW" altLang="en-US" dirty="0">
                <a:solidFill>
                  <a:srgbClr val="FF0000"/>
                </a:solidFill>
              </a:rPr>
              <a:t>到虛擬</a:t>
            </a:r>
            <a:r>
              <a:rPr lang="en-US" altLang="zh-TW" dirty="0">
                <a:solidFill>
                  <a:srgbClr val="FF0000"/>
                </a:solidFill>
              </a:rPr>
              <a:t>TCP</a:t>
            </a:r>
            <a:r>
              <a:rPr lang="zh-TW" altLang="en-US" dirty="0">
                <a:solidFill>
                  <a:srgbClr val="FF0000"/>
                </a:solidFill>
              </a:rPr>
              <a:t>的向量一定在插件孔面前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只有限定方向正確</a:t>
            </a:r>
            <a:endParaRPr lang="en-US" altLang="zh-TW" dirty="0"/>
          </a:p>
          <a:p>
            <a:r>
              <a:rPr lang="zh-TW" altLang="en-US" dirty="0"/>
              <a:t>確定假想</a:t>
            </a:r>
            <a:r>
              <a:rPr lang="en-US" altLang="zh-TW" dirty="0"/>
              <a:t>TCP</a:t>
            </a:r>
            <a:r>
              <a:rPr lang="zh-TW" altLang="en-US" dirty="0"/>
              <a:t>位置後</a:t>
            </a:r>
            <a:endParaRPr lang="en-US" altLang="zh-TW" dirty="0"/>
          </a:p>
          <a:p>
            <a:r>
              <a:rPr lang="zh-TW" altLang="en-US" dirty="0"/>
              <a:t>才針對假想</a:t>
            </a:r>
            <a:r>
              <a:rPr lang="en-US" altLang="zh-TW" dirty="0"/>
              <a:t>TCP</a:t>
            </a:r>
            <a:r>
              <a:rPr lang="zh-TW" altLang="en-US" dirty="0"/>
              <a:t>位置到插件孔面回推各軸角度</a:t>
            </a:r>
          </a:p>
        </p:txBody>
      </p:sp>
    </p:spTree>
    <p:extLst>
      <p:ext uri="{BB962C8B-B14F-4D97-AF65-F5344CB8AC3E}">
        <p14:creationId xmlns:p14="http://schemas.microsoft.com/office/powerpoint/2010/main" val="1837260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C719A9-7068-437A-86EF-B34E59CB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95B47A4-7771-46C8-8F66-5AD6517F825B}"/>
                  </a:ext>
                </a:extLst>
              </p:cNvPr>
              <p:cNvSpPr txBox="1"/>
              <p:nvPr/>
            </p:nvSpPr>
            <p:spPr>
              <a:xfrm>
                <a:off x="98612" y="1506071"/>
                <a:ext cx="6340197" cy="37642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目標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使線材尖端與插件孔面的法向量對齊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當完成實體</a:t>
                </a:r>
                <a:r>
                  <a:rPr lang="en-US" altLang="zh-TW" dirty="0"/>
                  <a:t>TCP</a:t>
                </a:r>
                <a:r>
                  <a:rPr lang="zh-TW" altLang="en-US" dirty="0"/>
                  <a:t>點位校正與手臂模型建立後</a:t>
                </a:r>
                <a:endParaRPr lang="en-US" altLang="zh-TW" dirty="0"/>
              </a:p>
              <a:p>
                <a:r>
                  <a:rPr lang="zh-TW" altLang="en-US" dirty="0"/>
                  <a:t>假設當手臂夾起線材後空間有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點</a:t>
                </a:r>
                <a:r>
                  <a:rPr lang="en-US" altLang="zh-TW" dirty="0"/>
                  <a:t>:</a:t>
                </a:r>
              </a:p>
              <a:p>
                <a:r>
                  <a:rPr lang="zh-TW" altLang="en-US" dirty="0"/>
                  <a:t>點</a:t>
                </a:r>
                <a:r>
                  <a:rPr lang="en-US" altLang="zh-TW" dirty="0"/>
                  <a:t>C</a:t>
                </a:r>
                <a:r>
                  <a:rPr lang="zh-TW" altLang="en-US" dirty="0"/>
                  <a:t>→相當於</a:t>
                </a:r>
                <a:r>
                  <a:rPr lang="en-US" altLang="zh-TW" dirty="0"/>
                  <a:t>J6</a:t>
                </a:r>
                <a:r>
                  <a:rPr lang="zh-TW" altLang="en-US" dirty="0"/>
                  <a:t>法蘭面中心</a:t>
                </a:r>
                <a:endParaRPr lang="en-US" altLang="zh-TW" dirty="0"/>
              </a:p>
              <a:p>
                <a:r>
                  <a:rPr lang="zh-TW" altLang="en-US" dirty="0"/>
                  <a:t>點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→相當於夾爪手指中心點</a:t>
                </a:r>
                <a:endParaRPr lang="en-US" altLang="zh-TW" dirty="0"/>
              </a:p>
              <a:p>
                <a:r>
                  <a:rPr lang="zh-TW" altLang="en-US" dirty="0"/>
                  <a:t>點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→線材前端因彎折導致尖端位置偏移</a:t>
                </a:r>
                <a:endParaRPr lang="en-US" altLang="zh-TW" dirty="0"/>
              </a:p>
              <a:p>
                <a:r>
                  <a:rPr lang="zh-TW" altLang="en-US" dirty="0"/>
                  <a:t>可變變因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根據夾爪設計可產生點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與點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位置偏移與範例不同</a:t>
                </a:r>
                <a:endParaRPr lang="en-US" altLang="zh-TW" dirty="0"/>
              </a:p>
              <a:p>
                <a:r>
                  <a:rPr lang="zh-TW" altLang="en-US" dirty="0"/>
                  <a:t>目前點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可調整長度、點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可調整位置</a:t>
                </a:r>
                <a:endParaRPr lang="en-US" altLang="zh-TW" dirty="0"/>
              </a:p>
              <a:p>
                <a:r>
                  <a:rPr lang="zh-TW" altLang="en-US" dirty="0"/>
                  <a:t>空間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點可得</a:t>
                </a:r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、</m:t>
                      </m:r>
                      <m:bar>
                        <m:barPr>
                          <m:pos m:val="top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ba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、</m:t>
                      </m:r>
                      <m:bar>
                        <m:barPr>
                          <m:pos m:val="top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CD</m:t>
                          </m:r>
                        </m:e>
                      </m:ba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、</m:t>
                      </m:r>
                      <m:acc>
                        <m:accPr>
                          <m:chr m:val="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、</m:t>
                      </m:r>
                      <m:acc>
                        <m:accPr>
                          <m:chr m:val="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acc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、</m:t>
                      </m:r>
                      <m:acc>
                        <m:accPr>
                          <m:chr m:val="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acc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做法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旋轉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zh-TW" altLang="en-US" i="1">
                        <a:latin typeface="Cambria Math" panose="02040503050406030204" pitchFamily="18" charset="0"/>
                      </a:rPr>
                      <m:t>使向</m:t>
                    </m:r>
                  </m:oMath>
                </a14:m>
                <a:r>
                  <a:rPr lang="zh-TW" altLang="en-US" dirty="0"/>
                  <a:t>量與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軸平行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95B47A4-7771-46C8-8F66-5AD6517F8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12" y="1506071"/>
                <a:ext cx="6340197" cy="3764236"/>
              </a:xfrm>
              <a:prstGeom prst="rect">
                <a:avLst/>
              </a:prstGeom>
              <a:blipFill>
                <a:blip r:embed="rId2"/>
                <a:stretch>
                  <a:fillRect l="-769" t="-809" r="-192" b="-1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CB2AF34C-B15F-4B4E-93FE-2D3B8091C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3886" y="80937"/>
            <a:ext cx="5398113" cy="3219502"/>
          </a:xfr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463991D-25CD-48E1-A98F-EFAA2152E4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2050" y="3300439"/>
            <a:ext cx="5599950" cy="34022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167A3F5-3349-41A3-941B-E7811AB59898}"/>
              </a:ext>
            </a:extLst>
          </p:cNvPr>
          <p:cNvSpPr txBox="1"/>
          <p:nvPr/>
        </p:nvSpPr>
        <p:spPr>
          <a:xfrm>
            <a:off x="6793885" y="8093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3D</a:t>
            </a:r>
            <a:r>
              <a:rPr lang="zh-TW" altLang="en-US" dirty="0"/>
              <a:t>視圖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C22785A-BA8B-4D22-94BF-A783993B0CB2}"/>
              </a:ext>
            </a:extLst>
          </p:cNvPr>
          <p:cNvSpPr txBox="1"/>
          <p:nvPr/>
        </p:nvSpPr>
        <p:spPr>
          <a:xfrm>
            <a:off x="6793885" y="336665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3D</a:t>
            </a:r>
            <a:r>
              <a:rPr lang="zh-TW" altLang="en-US" dirty="0"/>
              <a:t>視圖</a:t>
            </a:r>
          </a:p>
        </p:txBody>
      </p:sp>
    </p:spTree>
    <p:extLst>
      <p:ext uri="{BB962C8B-B14F-4D97-AF65-F5344CB8AC3E}">
        <p14:creationId xmlns:p14="http://schemas.microsoft.com/office/powerpoint/2010/main" val="4250157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CEACC7-33BE-4DBC-AF6C-53971E47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5610BED-0968-4508-B860-09E58D6F3B11}"/>
                  </a:ext>
                </a:extLst>
              </p:cNvPr>
              <p:cNvSpPr txBox="1"/>
              <p:nvPr/>
            </p:nvSpPr>
            <p:spPr>
              <a:xfrm>
                <a:off x="143437" y="1411506"/>
                <a:ext cx="6436658" cy="2379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zh-TW" dirty="0"/>
              </a:p>
              <a:p>
                <a:r>
                  <a:rPr lang="zh-TW" altLang="en-US" dirty="0"/>
                  <a:t>令點</a:t>
                </a:r>
                <a:r>
                  <a:rPr lang="en-GB" altLang="zh-TW" dirty="0"/>
                  <a:t>D</a:t>
                </a:r>
                <a:r>
                  <a:rPr lang="zh-TW" altLang="en-US" dirty="0"/>
                  <a:t>在空間上為</a:t>
                </a:r>
                <a:endParaRPr lang="en-US" altLang="zh-TW" dirty="0"/>
              </a:p>
              <a:p>
                <a:r>
                  <a:rPr lang="en-US" altLang="zh-TW" dirty="0"/>
                  <a:t>(</a:t>
                </a:r>
                <a:r>
                  <a:rPr lang="zh-TW" altLang="en-US" dirty="0"/>
                  <a:t>𝛾 </a:t>
                </a:r>
                <a:r>
                  <a:rPr lang="en-GB" altLang="zh-TW" dirty="0"/>
                  <a:t>cos⁡(</a:t>
                </a:r>
                <a:r>
                  <a:rPr lang="zh-TW" altLang="en-GB" dirty="0"/>
                  <a:t>𝛼</a:t>
                </a:r>
                <a:r>
                  <a:rPr lang="en-GB" altLang="zh-TW" dirty="0"/>
                  <a:t>°) cos⁡(</a:t>
                </a:r>
                <a:r>
                  <a:rPr lang="zh-TW" altLang="en-GB" dirty="0"/>
                  <a:t>𝛽</a:t>
                </a:r>
                <a:r>
                  <a:rPr lang="en-GB" altLang="zh-TW" dirty="0"/>
                  <a:t>°),</a:t>
                </a:r>
                <a:r>
                  <a:rPr lang="zh-TW" altLang="en-GB" dirty="0"/>
                  <a:t>𝛾 </a:t>
                </a:r>
                <a:r>
                  <a:rPr lang="en-GB" altLang="zh-TW" dirty="0"/>
                  <a:t>cos⁡(</a:t>
                </a:r>
                <a:r>
                  <a:rPr lang="zh-TW" altLang="en-GB" dirty="0"/>
                  <a:t>𝛼</a:t>
                </a:r>
                <a:r>
                  <a:rPr lang="en-GB" altLang="zh-TW" dirty="0"/>
                  <a:t>°) sin⁡(</a:t>
                </a:r>
                <a:r>
                  <a:rPr lang="zh-TW" altLang="en-GB" dirty="0"/>
                  <a:t>𝛽</a:t>
                </a:r>
                <a:r>
                  <a:rPr lang="en-GB" altLang="zh-TW" dirty="0"/>
                  <a:t>°),</a:t>
                </a:r>
                <a:r>
                  <a:rPr lang="zh-TW" altLang="en-GB" dirty="0"/>
                  <a:t>𝛾 </a:t>
                </a:r>
                <a:r>
                  <a:rPr lang="en-GB" altLang="zh-TW" dirty="0"/>
                  <a:t>sin⁡(</a:t>
                </a:r>
                <a:r>
                  <a:rPr lang="zh-TW" altLang="en-GB" dirty="0"/>
                  <a:t>𝛼</a:t>
                </a:r>
                <a:r>
                  <a:rPr lang="en-GB" altLang="zh-TW" dirty="0"/>
                  <a:t>°)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/>
                  <a:t>點</a:t>
                </a:r>
                <a:r>
                  <a:rPr lang="en-US" altLang="zh-TW" dirty="0"/>
                  <a:t>C</a:t>
                </a:r>
                <a:r>
                  <a:rPr lang="zh-TW" altLang="en-US" dirty="0"/>
                  <a:t>在空間上為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,0,0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r>
                  <a:rPr lang="zh-TW" altLang="en-US" dirty="0"/>
                  <a:t>其中𝛾 為原點到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點長度，</a:t>
                </a:r>
                <a:r>
                  <a:rPr lang="zh-TW" altLang="en-GB" dirty="0"/>
                  <a:t>𝛼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點與</a:t>
                </a:r>
                <a:r>
                  <a:rPr lang="en-US" altLang="zh-TW" dirty="0" err="1"/>
                  <a:t>xy</a:t>
                </a:r>
                <a:r>
                  <a:rPr lang="zh-TW" altLang="en-US" dirty="0"/>
                  <a:t>平面之間的夾角，</a:t>
                </a:r>
                <a:endParaRPr lang="en-US" altLang="zh-TW" dirty="0"/>
              </a:p>
              <a:p>
                <a:r>
                  <a:rPr lang="zh-TW" altLang="en-GB" dirty="0"/>
                  <a:t>𝛽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點與</a:t>
                </a:r>
                <a:r>
                  <a:rPr lang="en-US" altLang="zh-TW" dirty="0" err="1"/>
                  <a:t>xz</a:t>
                </a:r>
                <a:r>
                  <a:rPr lang="zh-TW" altLang="en-US" dirty="0"/>
                  <a:t>平面之間的夾角</a:t>
                </a:r>
                <a:endParaRPr lang="en-US" altLang="zh-TW" dirty="0"/>
              </a:p>
              <a:p>
                <a:r>
                  <a:rPr lang="en-GB" altLang="zh-TW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TW" altLang="en-US" dirty="0"/>
                  <a:t>與</a:t>
                </a:r>
                <a:r>
                  <a:rPr lang="en-US" altLang="zh-TW" dirty="0" err="1"/>
                  <a:t>xy</a:t>
                </a:r>
                <a:r>
                  <a:rPr lang="zh-TW" altLang="en-US" dirty="0"/>
                  <a:t>平面夾角為</a:t>
                </a:r>
                <a:r>
                  <a:rPr lang="en-US" altLang="zh-TW" dirty="0"/>
                  <a:t>t</a:t>
                </a:r>
                <a:r>
                  <a:rPr lang="en-US" altLang="zh-TW" dirty="0">
                    <a:latin typeface="Poor Richard" panose="02080502050505020702" pitchFamily="18" charset="0"/>
                  </a:rPr>
                  <a:t>˚</a:t>
                </a:r>
                <a:r>
                  <a:rPr lang="zh-TW" altLang="en-US" dirty="0"/>
                  <a:t>，也就是</a:t>
                </a:r>
                <a:r>
                  <a:rPr lang="zh-TW" altLang="en-GB" dirty="0"/>
                  <a:t>𝛼</a:t>
                </a:r>
                <a:r>
                  <a:rPr lang="en-US" altLang="zh-TW" dirty="0">
                    <a:latin typeface="Poor Richard" panose="02080502050505020702" pitchFamily="18" charset="0"/>
                  </a:rPr>
                  <a:t>˚</a:t>
                </a:r>
              </a:p>
              <a:p>
                <a:r>
                  <a:rPr lang="zh-TW" altLang="en-US" dirty="0">
                    <a:latin typeface="Poor Richard" panose="02080502050505020702" pitchFamily="18" charset="0"/>
                  </a:rPr>
                  <a:t>首先分解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zh-TW" altLang="en-US" i="1">
                        <a:latin typeface="Cambria Math" panose="02040503050406030204" pitchFamily="18" charset="0"/>
                      </a:rPr>
                      <m:t>向量</m:t>
                    </m:r>
                  </m:oMath>
                </a14:m>
                <a:r>
                  <a:rPr lang="zh-TW" altLang="en-US" dirty="0">
                    <a:latin typeface="Poor Richard" panose="02080502050505020702" pitchFamily="18" charset="0"/>
                  </a:rPr>
                  <a:t>與</a:t>
                </a:r>
                <a:r>
                  <a:rPr lang="en-US" altLang="zh-TW" dirty="0" err="1"/>
                  <a:t>xy</a:t>
                </a:r>
                <a:r>
                  <a:rPr lang="zh-TW" altLang="en-US" dirty="0">
                    <a:latin typeface="Poor Richard" panose="02080502050505020702" pitchFamily="18" charset="0"/>
                  </a:rPr>
                  <a:t>平面的夾角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dirty="0">
                    <a:latin typeface="Poor Richard" panose="02080502050505020702" pitchFamily="18" charset="0"/>
                  </a:rPr>
                  <a:t>˚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5610BED-0968-4508-B860-09E58D6F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7" y="1411506"/>
                <a:ext cx="6436658" cy="2379241"/>
              </a:xfrm>
              <a:prstGeom prst="rect">
                <a:avLst/>
              </a:prstGeom>
              <a:blipFill>
                <a:blip r:embed="rId3"/>
                <a:stretch>
                  <a:fillRect l="-853"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A7E90E7-8383-4CF5-ADC2-894BBA05814E}"/>
                  </a:ext>
                </a:extLst>
              </p:cNvPr>
              <p:cNvSpPr txBox="1"/>
              <p:nvPr/>
            </p:nvSpPr>
            <p:spPr>
              <a:xfrm>
                <a:off x="143437" y="3790747"/>
                <a:ext cx="6436658" cy="235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針對</a:t>
                </a:r>
                <a:r>
                  <a:rPr lang="en-US" altLang="zh-TW" dirty="0" err="1"/>
                  <a:t>xz</a:t>
                </a:r>
                <a:r>
                  <a:rPr lang="zh-TW" altLang="en-US" dirty="0"/>
                  <a:t>平面上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的分量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GB" altLang="zh-TW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altLang="zh-TW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altLang="zh-TW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TW" altLang="en-US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en-US" i="1" dirty="0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zh-TW" altLang="en-GB" dirty="0" smtClean="0"/>
                                        <m:t>𝛾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 smtClean="0"/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 smtClean="0"/>
                                        <m:t>sin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 smtClean="0"/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 smtClean="0"/>
                                        <m:t>𝛼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 smtClean="0"/>
                                        <m:t>°)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TW" altLang="en-US" i="1" dirty="0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zh-TW" alt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 dirty="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 dirty="0" smtClean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/>
              </a:p>
              <a:p>
                <a:r>
                  <a:rPr lang="zh-TW" altLang="en-US" dirty="0"/>
                  <a:t>而對</a:t>
                </a:r>
                <a:r>
                  <a:rPr lang="en-US" altLang="zh-TW" dirty="0" err="1"/>
                  <a:t>xy</a:t>
                </a:r>
                <a:r>
                  <a:rPr lang="zh-TW" altLang="en-US" dirty="0"/>
                  <a:t>平面上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的分量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altLang="zh-TW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TW" altLang="en-US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en-US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𝛾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cos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𝛼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°)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sin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𝛽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°)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TW" altLang="en-US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zh-TW" alt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 dirty="0">
                                              <a:latin typeface="Cambria Math" panose="02040503050406030204" pitchFamily="18" charset="0"/>
                                            </a:rPr>
                                            <m:t>CD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A7E90E7-8383-4CF5-ADC2-894BBA058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7" y="3790747"/>
                <a:ext cx="6436658" cy="2355132"/>
              </a:xfrm>
              <a:prstGeom prst="rect">
                <a:avLst/>
              </a:prstGeom>
              <a:blipFill>
                <a:blip r:embed="rId4"/>
                <a:stretch>
                  <a:fillRect l="-853" t="-15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D65E43E8-90BA-4B28-A2B2-7E25ABFF400D}"/>
              </a:ext>
            </a:extLst>
          </p:cNvPr>
          <p:cNvGrpSpPr/>
          <p:nvPr/>
        </p:nvGrpSpPr>
        <p:grpSpPr>
          <a:xfrm>
            <a:off x="5945065" y="1432391"/>
            <a:ext cx="5648388" cy="4274315"/>
            <a:chOff x="5945065" y="1432391"/>
            <a:chExt cx="5648388" cy="4274315"/>
          </a:xfrm>
        </p:grpSpPr>
        <p:pic>
          <p:nvPicPr>
            <p:cNvPr id="55" name="圖片 54">
              <a:extLst>
                <a:ext uri="{FF2B5EF4-FFF2-40B4-BE49-F238E27FC236}">
                  <a16:creationId xmlns:a16="http://schemas.microsoft.com/office/drawing/2014/main" id="{6A719D25-237C-4DA5-8875-097E6C26E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53284" y="1432391"/>
              <a:ext cx="5452068" cy="195278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7" name="圖片 56">
              <a:extLst>
                <a:ext uri="{FF2B5EF4-FFF2-40B4-BE49-F238E27FC236}">
                  <a16:creationId xmlns:a16="http://schemas.microsoft.com/office/drawing/2014/main" id="{99926365-6411-40F6-A20C-430179FF7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945065" y="4003488"/>
              <a:ext cx="2666887" cy="126404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25EE7DD4-6D6D-4349-9ACA-4A3D43BBA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18653" y="4679591"/>
              <a:ext cx="2674800" cy="58286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C7E4BFC-FE3A-4736-B4C4-73F008618AC8}"/>
                </a:ext>
              </a:extLst>
            </p:cNvPr>
            <p:cNvSpPr txBox="1"/>
            <p:nvPr/>
          </p:nvSpPr>
          <p:spPr>
            <a:xfrm>
              <a:off x="7787574" y="3449146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(a) </a:t>
              </a:r>
              <a:r>
                <a:rPr lang="en-GB" altLang="zh-TW" dirty="0"/>
                <a:t>Perspective view</a:t>
              </a:r>
              <a:endParaRPr lang="zh-TW" altLang="en-US" dirty="0"/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FA57A759-DE9E-4F2A-8528-C69B35EC37A6}"/>
                </a:ext>
              </a:extLst>
            </p:cNvPr>
            <p:cNvSpPr txBox="1"/>
            <p:nvPr/>
          </p:nvSpPr>
          <p:spPr>
            <a:xfrm>
              <a:off x="5980717" y="5337374"/>
              <a:ext cx="2595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(b) Side view (</a:t>
              </a:r>
              <a:r>
                <a:rPr lang="en-US" altLang="zh-TW" dirty="0" err="1"/>
                <a:t>xz</a:t>
              </a:r>
              <a:r>
                <a:rPr lang="zh-TW" altLang="en-US" dirty="0"/>
                <a:t> </a:t>
              </a:r>
              <a:r>
                <a:rPr lang="en-US" altLang="zh-TW" dirty="0"/>
                <a:t>plane)</a:t>
              </a:r>
              <a:endParaRPr lang="zh-TW" altLang="en-US" dirty="0"/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41B9EBE0-95DF-48BD-819E-4F1C86B23603}"/>
                </a:ext>
              </a:extLst>
            </p:cNvPr>
            <p:cNvSpPr txBox="1"/>
            <p:nvPr/>
          </p:nvSpPr>
          <p:spPr>
            <a:xfrm>
              <a:off x="9011610" y="5337374"/>
              <a:ext cx="24888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(c) Top view (</a:t>
              </a:r>
              <a:r>
                <a:rPr lang="en-US" altLang="zh-TW" dirty="0" err="1"/>
                <a:t>xy</a:t>
              </a:r>
              <a:r>
                <a:rPr lang="en-US" altLang="zh-TW" dirty="0"/>
                <a:t> plane)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32780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群組 53">
            <a:extLst>
              <a:ext uri="{FF2B5EF4-FFF2-40B4-BE49-F238E27FC236}">
                <a16:creationId xmlns:a16="http://schemas.microsoft.com/office/drawing/2014/main" id="{72739033-F10A-426B-B886-D42BCA95D6B7}"/>
              </a:ext>
            </a:extLst>
          </p:cNvPr>
          <p:cNvGrpSpPr/>
          <p:nvPr/>
        </p:nvGrpSpPr>
        <p:grpSpPr>
          <a:xfrm>
            <a:off x="5429607" y="3223340"/>
            <a:ext cx="6862370" cy="1903947"/>
            <a:chOff x="5804024" y="3950569"/>
            <a:chExt cx="6862370" cy="1903947"/>
          </a:xfrm>
        </p:grpSpPr>
        <p:sp useBgFill="1">
          <p:nvSpPr>
            <p:cNvPr id="46" name="文字方塊 45">
              <a:extLst>
                <a:ext uri="{FF2B5EF4-FFF2-40B4-BE49-F238E27FC236}">
                  <a16:creationId xmlns:a16="http://schemas.microsoft.com/office/drawing/2014/main" id="{C790CE78-E5F2-4D0A-8562-CAF36F75D1DC}"/>
                </a:ext>
              </a:extLst>
            </p:cNvPr>
            <p:cNvSpPr txBox="1"/>
            <p:nvPr/>
          </p:nvSpPr>
          <p:spPr>
            <a:xfrm>
              <a:off x="6134144" y="4911299"/>
              <a:ext cx="26835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7030A0"/>
                  </a:solidFill>
                </a:rPr>
                <a:t>s</a:t>
              </a:r>
              <a:endParaRPr lang="zh-TW" altLang="en-US" sz="1100" dirty="0">
                <a:solidFill>
                  <a:srgbClr val="7030A0"/>
                </a:solidFill>
              </a:endParaRPr>
            </a:p>
          </p:txBody>
        </p:sp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4B8B36E-B37B-498B-8865-4E10DCD0E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4024" y="3999292"/>
              <a:ext cx="6293224" cy="1389715"/>
            </a:xfrm>
            <a:prstGeom prst="rect">
              <a:avLst/>
            </a:prstGeom>
          </p:spPr>
        </p:pic>
        <p:sp useBgFill="1">
          <p:nvSpPr>
            <p:cNvPr id="30" name="文字方塊 29">
              <a:extLst>
                <a:ext uri="{FF2B5EF4-FFF2-40B4-BE49-F238E27FC236}">
                  <a16:creationId xmlns:a16="http://schemas.microsoft.com/office/drawing/2014/main" id="{7AE4F87C-3DE4-4898-A05B-0154B69EFAE2}"/>
                </a:ext>
              </a:extLst>
            </p:cNvPr>
            <p:cNvSpPr txBox="1"/>
            <p:nvPr/>
          </p:nvSpPr>
          <p:spPr>
            <a:xfrm>
              <a:off x="11887203" y="4763116"/>
              <a:ext cx="37714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x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p:sp useBgFill="1">
          <p:nvSpPr>
            <p:cNvPr id="32" name="文字方塊 31">
              <a:extLst>
                <a:ext uri="{FF2B5EF4-FFF2-40B4-BE49-F238E27FC236}">
                  <a16:creationId xmlns:a16="http://schemas.microsoft.com/office/drawing/2014/main" id="{5B36E61A-60CC-4CC6-8878-AE81F27D5CBE}"/>
                </a:ext>
              </a:extLst>
            </p:cNvPr>
            <p:cNvSpPr txBox="1"/>
            <p:nvPr/>
          </p:nvSpPr>
          <p:spPr>
            <a:xfrm flipH="1">
              <a:off x="11799958" y="4075989"/>
              <a:ext cx="146805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C</a:t>
              </a:r>
              <a:endParaRPr lang="en-US" altLang="zh-TW" dirty="0"/>
            </a:p>
          </p:txBody>
        </p:sp>
        <p:sp useBgFill="1">
          <p:nvSpPr>
            <p:cNvPr id="44" name="文字方塊 43">
              <a:extLst>
                <a:ext uri="{FF2B5EF4-FFF2-40B4-BE49-F238E27FC236}">
                  <a16:creationId xmlns:a16="http://schemas.microsoft.com/office/drawing/2014/main" id="{A7347E96-1B07-447F-8690-A100AAB87A08}"/>
                </a:ext>
              </a:extLst>
            </p:cNvPr>
            <p:cNvSpPr txBox="1"/>
            <p:nvPr/>
          </p:nvSpPr>
          <p:spPr>
            <a:xfrm>
              <a:off x="10573832" y="5028075"/>
              <a:ext cx="26835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B</a:t>
              </a:r>
              <a:endParaRPr lang="zh-TW" altLang="en-US" sz="1100" dirty="0"/>
            </a:p>
          </p:txBody>
        </p:sp>
        <p:sp useBgFill="1">
          <p:nvSpPr>
            <p:cNvPr id="47" name="文字方塊 46">
              <a:extLst>
                <a:ext uri="{FF2B5EF4-FFF2-40B4-BE49-F238E27FC236}">
                  <a16:creationId xmlns:a16="http://schemas.microsoft.com/office/drawing/2014/main" id="{5D5D3523-F43E-4A64-AFF9-F38059ACA979}"/>
                </a:ext>
              </a:extLst>
            </p:cNvPr>
            <p:cNvSpPr txBox="1"/>
            <p:nvPr/>
          </p:nvSpPr>
          <p:spPr>
            <a:xfrm>
              <a:off x="6513620" y="4505916"/>
              <a:ext cx="4107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A</a:t>
              </a:r>
              <a:endParaRPr lang="zh-TW" altLang="en-US" sz="110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0A5F91A7-2E66-454F-9578-43E6B5FDCDBC}"/>
                </a:ext>
              </a:extLst>
            </p:cNvPr>
            <p:cNvSpPr txBox="1"/>
            <p:nvPr/>
          </p:nvSpPr>
          <p:spPr>
            <a:xfrm>
              <a:off x="8766922" y="5485184"/>
              <a:ext cx="2056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(c) </a:t>
              </a:r>
              <a:r>
                <a:rPr lang="zh-TW" altLang="en-US" dirty="0"/>
                <a:t>上視圖</a:t>
              </a:r>
              <a:r>
                <a:rPr lang="en-US" altLang="zh-TW" dirty="0"/>
                <a:t>(</a:t>
              </a:r>
              <a:r>
                <a:rPr lang="en-US" altLang="zh-TW" dirty="0" err="1"/>
                <a:t>xy</a:t>
              </a:r>
              <a:r>
                <a:rPr lang="zh-TW" altLang="en-US" dirty="0"/>
                <a:t>平面</a:t>
              </a:r>
              <a:r>
                <a:rPr lang="en-US" altLang="zh-TW" dirty="0"/>
                <a:t>)</a:t>
              </a:r>
              <a:endParaRPr lang="zh-TW" altLang="en-US" dirty="0"/>
            </a:p>
          </p:txBody>
        </p: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ABDA2F18-762B-4961-941C-DA42E8670EDD}"/>
                </a:ext>
              </a:extLst>
            </p:cNvPr>
            <p:cNvCxnSpPr>
              <a:cxnSpLocks/>
            </p:cNvCxnSpPr>
            <p:nvPr/>
          </p:nvCxnSpPr>
          <p:spPr>
            <a:xfrm>
              <a:off x="11726089" y="4479077"/>
              <a:ext cx="0" cy="484094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BC198E3-70D2-44B9-AF8E-DE52CD0035D8}"/>
                    </a:ext>
                  </a:extLst>
                </p:cNvPr>
                <p:cNvSpPr txBox="1"/>
                <p:nvPr/>
              </p:nvSpPr>
              <p:spPr>
                <a:xfrm>
                  <a:off x="11108011" y="4598249"/>
                  <a:ext cx="155838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TW" altLang="en-GB" sz="1400" dirty="0" smtClean="0"/>
                          <m:t>𝛾</m:t>
                        </m:r>
                        <m:r>
                          <m:rPr>
                            <m:nor/>
                          </m:rPr>
                          <a:rPr lang="zh-TW" altLang="en-GB" sz="1400" dirty="0" smtClean="0"/>
                          <m:t> </m:t>
                        </m:r>
                        <m:r>
                          <m:rPr>
                            <m:nor/>
                          </m:rPr>
                          <a:rPr lang="en-GB" altLang="zh-TW" sz="1400" dirty="0" smtClean="0"/>
                          <m:t>cos</m:t>
                        </m:r>
                        <m:r>
                          <m:rPr>
                            <m:nor/>
                          </m:rPr>
                          <a:rPr lang="en-GB" altLang="zh-TW" sz="1400" dirty="0" smtClean="0"/>
                          <m:t>(</m:t>
                        </m:r>
                        <m:r>
                          <m:rPr>
                            <m:nor/>
                          </m:rPr>
                          <a:rPr lang="zh-TW" altLang="en-GB" sz="1400" dirty="0" smtClean="0"/>
                          <m:t>𝛼</m:t>
                        </m:r>
                        <m:r>
                          <m:rPr>
                            <m:nor/>
                          </m:rPr>
                          <a:rPr lang="en-GB" altLang="zh-TW" sz="1400" dirty="0" smtClean="0"/>
                          <m:t>°) </m:t>
                        </m:r>
                        <m:r>
                          <m:rPr>
                            <m:nor/>
                          </m:rPr>
                          <a:rPr lang="en-GB" altLang="zh-TW" sz="1400" dirty="0" smtClean="0"/>
                          <m:t>sin</m:t>
                        </m:r>
                        <m:r>
                          <m:rPr>
                            <m:nor/>
                          </m:rPr>
                          <a:rPr lang="en-GB" altLang="zh-TW" sz="1400" dirty="0" smtClean="0"/>
                          <m:t>(</m:t>
                        </m:r>
                        <m:r>
                          <m:rPr>
                            <m:nor/>
                          </m:rPr>
                          <a:rPr lang="zh-TW" altLang="en-GB" sz="1400" dirty="0" smtClean="0"/>
                          <m:t>𝛽</m:t>
                        </m:r>
                        <m:r>
                          <m:rPr>
                            <m:nor/>
                          </m:rPr>
                          <a:rPr lang="en-GB" altLang="zh-TW" sz="1400" dirty="0" smtClean="0"/>
                          <m:t>°)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BC198E3-70D2-44B9-AF8E-DE52CD003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8011" y="4598249"/>
                  <a:ext cx="155838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 useBgFill="1">
          <p:nvSpPr>
            <p:cNvPr id="45" name="文字方塊 44">
              <a:extLst>
                <a:ext uri="{FF2B5EF4-FFF2-40B4-BE49-F238E27FC236}">
                  <a16:creationId xmlns:a16="http://schemas.microsoft.com/office/drawing/2014/main" id="{6C655BF7-69D7-4DFC-8AB3-DB9A4BB4BF75}"/>
                </a:ext>
              </a:extLst>
            </p:cNvPr>
            <p:cNvSpPr txBox="1"/>
            <p:nvPr/>
          </p:nvSpPr>
          <p:spPr>
            <a:xfrm>
              <a:off x="10558440" y="3950569"/>
              <a:ext cx="37714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00B050"/>
                  </a:solidFill>
                </a:rPr>
                <a:t>y</a:t>
              </a:r>
              <a:endParaRPr lang="zh-TW" altLang="en-US" sz="2000" dirty="0">
                <a:solidFill>
                  <a:srgbClr val="00B050"/>
                </a:solidFill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897E32D4-05A8-45D2-B24B-5379B22EDC2B}"/>
              </a:ext>
            </a:extLst>
          </p:cNvPr>
          <p:cNvSpPr txBox="1"/>
          <p:nvPr/>
        </p:nvSpPr>
        <p:spPr>
          <a:xfrm>
            <a:off x="3307518" y="323866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(a) 3D</a:t>
            </a:r>
            <a:r>
              <a:rPr lang="zh-TW" altLang="en-US" dirty="0"/>
              <a:t>視圖</a:t>
            </a:r>
          </a:p>
        </p:txBody>
      </p:sp>
      <p:sp useBgFill="1">
        <p:nvSpPr>
          <p:cNvPr id="18" name="文字方塊 17">
            <a:extLst>
              <a:ext uri="{FF2B5EF4-FFF2-40B4-BE49-F238E27FC236}">
                <a16:creationId xmlns:a16="http://schemas.microsoft.com/office/drawing/2014/main" id="{D9E2B0F2-2B5B-43F1-BD2F-823F0D371ADD}"/>
              </a:ext>
            </a:extLst>
          </p:cNvPr>
          <p:cNvSpPr txBox="1"/>
          <p:nvPr/>
        </p:nvSpPr>
        <p:spPr>
          <a:xfrm>
            <a:off x="5699508" y="4343064"/>
            <a:ext cx="268357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7030A0"/>
                </a:solidFill>
              </a:rPr>
              <a:t>s</a:t>
            </a:r>
            <a:endParaRPr lang="zh-TW" altLang="en-US" sz="1100" dirty="0">
              <a:solidFill>
                <a:srgbClr val="7030A0"/>
              </a:solidFill>
            </a:endParaRPr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387B0BE6-71BA-415F-879F-ACC039631C2C}"/>
              </a:ext>
            </a:extLst>
          </p:cNvPr>
          <p:cNvGrpSpPr/>
          <p:nvPr/>
        </p:nvGrpSpPr>
        <p:grpSpPr>
          <a:xfrm>
            <a:off x="0" y="3832075"/>
            <a:ext cx="5541366" cy="2899947"/>
            <a:chOff x="0" y="3832075"/>
            <a:chExt cx="5541366" cy="2899947"/>
          </a:xfrm>
        </p:grpSpPr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2017F0C8-298F-44F0-9531-C57B2148B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832075"/>
              <a:ext cx="5046799" cy="2557706"/>
            </a:xfrm>
            <a:prstGeom prst="rect">
              <a:avLst/>
            </a:prstGeom>
          </p:spPr>
        </p:pic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525972B5-7F12-481D-BE35-991EC84E7BEA}"/>
                </a:ext>
              </a:extLst>
            </p:cNvPr>
            <p:cNvCxnSpPr>
              <a:cxnSpLocks/>
            </p:cNvCxnSpPr>
            <p:nvPr/>
          </p:nvCxnSpPr>
          <p:spPr>
            <a:xfrm>
              <a:off x="4838090" y="4257305"/>
              <a:ext cx="0" cy="143435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7BD05515-5BE6-4C81-8E53-95620D365289}"/>
                    </a:ext>
                  </a:extLst>
                </p:cNvPr>
                <p:cNvSpPr txBox="1"/>
                <p:nvPr/>
              </p:nvSpPr>
              <p:spPr>
                <a:xfrm>
                  <a:off x="4149092" y="4853076"/>
                  <a:ext cx="139227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TW" altLang="en-GB" sz="2000" dirty="0" smtClean="0"/>
                          <m:t>𝛾</m:t>
                        </m:r>
                        <m:r>
                          <m:rPr>
                            <m:nor/>
                          </m:rPr>
                          <a:rPr lang="zh-TW" altLang="en-GB" sz="2000" dirty="0" smtClean="0"/>
                          <m:t> </m:t>
                        </m:r>
                        <m:r>
                          <m:rPr>
                            <m:nor/>
                          </m:rPr>
                          <a:rPr lang="en-GB" altLang="zh-TW" sz="2000" dirty="0" smtClean="0"/>
                          <m:t>sin</m:t>
                        </m:r>
                        <m:r>
                          <m:rPr>
                            <m:nor/>
                          </m:rPr>
                          <a:rPr lang="en-GB" altLang="zh-TW" sz="2000" dirty="0" smtClean="0"/>
                          <m:t>(</m:t>
                        </m:r>
                        <m:r>
                          <m:rPr>
                            <m:nor/>
                          </m:rPr>
                          <a:rPr lang="zh-TW" altLang="en-GB" sz="2000" dirty="0" smtClean="0"/>
                          <m:t>𝛼</m:t>
                        </m:r>
                        <m:r>
                          <m:rPr>
                            <m:nor/>
                          </m:rPr>
                          <a:rPr lang="en-GB" altLang="zh-TW" sz="2000" dirty="0" smtClean="0"/>
                          <m:t>°)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7BD05515-5BE6-4C81-8E53-95620D365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9092" y="4853076"/>
                  <a:ext cx="1392274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 useBgFill="1">
          <p:nvSpPr>
            <p:cNvPr id="33" name="文字方塊 32">
              <a:extLst>
                <a:ext uri="{FF2B5EF4-FFF2-40B4-BE49-F238E27FC236}">
                  <a16:creationId xmlns:a16="http://schemas.microsoft.com/office/drawing/2014/main" id="{1E30C368-5F1B-43AB-B8F5-ED735AF3F9AD}"/>
                </a:ext>
              </a:extLst>
            </p:cNvPr>
            <p:cNvSpPr txBox="1"/>
            <p:nvPr/>
          </p:nvSpPr>
          <p:spPr>
            <a:xfrm>
              <a:off x="3514792" y="5253186"/>
              <a:ext cx="26835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B</a:t>
              </a:r>
              <a:endParaRPr lang="zh-TW" altLang="en-US" sz="1100" dirty="0"/>
            </a:p>
          </p:txBody>
        </p:sp>
        <p:sp useBgFill="1">
          <p:nvSpPr>
            <p:cNvPr id="34" name="文字方塊 33">
              <a:extLst>
                <a:ext uri="{FF2B5EF4-FFF2-40B4-BE49-F238E27FC236}">
                  <a16:creationId xmlns:a16="http://schemas.microsoft.com/office/drawing/2014/main" id="{21CFD4F9-EA98-4788-B957-615AE16E6BE6}"/>
                </a:ext>
              </a:extLst>
            </p:cNvPr>
            <p:cNvSpPr txBox="1"/>
            <p:nvPr/>
          </p:nvSpPr>
          <p:spPr>
            <a:xfrm>
              <a:off x="3891800" y="3900736"/>
              <a:ext cx="37714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</a:rPr>
                <a:t>z</a:t>
              </a:r>
              <a:endParaRPr lang="zh-TW" altLang="en-US" sz="2000" dirty="0">
                <a:solidFill>
                  <a:srgbClr val="0070C0"/>
                </a:solidFill>
              </a:endParaRPr>
            </a:p>
          </p:txBody>
        </p:sp>
        <p:sp useBgFill="1">
          <p:nvSpPr>
            <p:cNvPr id="35" name="文字方塊 34">
              <a:extLst>
                <a:ext uri="{FF2B5EF4-FFF2-40B4-BE49-F238E27FC236}">
                  <a16:creationId xmlns:a16="http://schemas.microsoft.com/office/drawing/2014/main" id="{5E305828-D68F-4531-8DB0-063A10D4FD79}"/>
                </a:ext>
              </a:extLst>
            </p:cNvPr>
            <p:cNvSpPr txBox="1"/>
            <p:nvPr/>
          </p:nvSpPr>
          <p:spPr>
            <a:xfrm>
              <a:off x="142411" y="5270501"/>
              <a:ext cx="26835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00B050"/>
                  </a:solidFill>
                </a:rPr>
                <a:t>r</a:t>
              </a:r>
              <a:endParaRPr lang="zh-TW" altLang="en-US" sz="1100" dirty="0">
                <a:solidFill>
                  <a:srgbClr val="00B050"/>
                </a:solidFill>
              </a:endParaRPr>
            </a:p>
          </p:txBody>
        </p:sp>
        <p:sp useBgFill="1">
          <p:nvSpPr>
            <p:cNvPr id="36" name="文字方塊 35">
              <a:extLst>
                <a:ext uri="{FF2B5EF4-FFF2-40B4-BE49-F238E27FC236}">
                  <a16:creationId xmlns:a16="http://schemas.microsoft.com/office/drawing/2014/main" id="{944BC2F5-C6FC-4894-BA67-E357D0BD4A16}"/>
                </a:ext>
              </a:extLst>
            </p:cNvPr>
            <p:cNvSpPr txBox="1"/>
            <p:nvPr/>
          </p:nvSpPr>
          <p:spPr>
            <a:xfrm>
              <a:off x="392665" y="5226149"/>
              <a:ext cx="4107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A</a:t>
              </a:r>
              <a:endParaRPr lang="zh-TW" altLang="en-US" sz="1100" dirty="0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5F9EC974-DA62-4EDD-BADB-7F969DCDA66E}"/>
                </a:ext>
              </a:extLst>
            </p:cNvPr>
            <p:cNvSpPr txBox="1"/>
            <p:nvPr/>
          </p:nvSpPr>
          <p:spPr>
            <a:xfrm>
              <a:off x="2479893" y="6362690"/>
              <a:ext cx="2069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(b) </a:t>
              </a:r>
              <a:r>
                <a:rPr lang="zh-TW" altLang="en-US" dirty="0"/>
                <a:t>側視圖</a:t>
              </a:r>
              <a:r>
                <a:rPr lang="en-US" altLang="zh-TW" dirty="0"/>
                <a:t>(</a:t>
              </a:r>
              <a:r>
                <a:rPr lang="en-US" altLang="zh-TW" dirty="0" err="1"/>
                <a:t>xz</a:t>
              </a:r>
              <a:r>
                <a:rPr lang="zh-TW" altLang="en-US" dirty="0"/>
                <a:t>平面</a:t>
              </a:r>
              <a:r>
                <a:rPr lang="en-US" altLang="zh-TW" dirty="0"/>
                <a:t>)</a:t>
              </a:r>
              <a:endParaRPr lang="zh-TW" altLang="en-US" dirty="0"/>
            </a:p>
          </p:txBody>
        </p:sp>
        <p:sp useBgFill="1">
          <p:nvSpPr>
            <p:cNvPr id="49" name="文字方塊 48">
              <a:extLst>
                <a:ext uri="{FF2B5EF4-FFF2-40B4-BE49-F238E27FC236}">
                  <a16:creationId xmlns:a16="http://schemas.microsoft.com/office/drawing/2014/main" id="{F36DFE00-3AC2-4821-894D-F598C39B86D5}"/>
                </a:ext>
              </a:extLst>
            </p:cNvPr>
            <p:cNvSpPr txBox="1"/>
            <p:nvPr/>
          </p:nvSpPr>
          <p:spPr>
            <a:xfrm flipH="1">
              <a:off x="4911959" y="3913131"/>
              <a:ext cx="146805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C</a:t>
              </a:r>
              <a:endParaRPr lang="en-US" altLang="zh-TW" dirty="0"/>
            </a:p>
          </p:txBody>
        </p:sp>
        <p:sp useBgFill="1">
          <p:nvSpPr>
            <p:cNvPr id="50" name="文字方塊 49">
              <a:extLst>
                <a:ext uri="{FF2B5EF4-FFF2-40B4-BE49-F238E27FC236}">
                  <a16:creationId xmlns:a16="http://schemas.microsoft.com/office/drawing/2014/main" id="{F00263A6-2A78-4AA1-972B-7AB0F0A2CF4B}"/>
                </a:ext>
              </a:extLst>
            </p:cNvPr>
            <p:cNvSpPr txBox="1"/>
            <p:nvPr/>
          </p:nvSpPr>
          <p:spPr>
            <a:xfrm>
              <a:off x="4952697" y="5491603"/>
              <a:ext cx="37714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x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9360CED1-0885-4239-B561-31E4D144D7A7}"/>
              </a:ext>
            </a:extLst>
          </p:cNvPr>
          <p:cNvGrpSpPr/>
          <p:nvPr/>
        </p:nvGrpSpPr>
        <p:grpSpPr>
          <a:xfrm>
            <a:off x="44031" y="32760"/>
            <a:ext cx="8354841" cy="3052910"/>
            <a:chOff x="44031" y="32760"/>
            <a:chExt cx="8354841" cy="3052910"/>
          </a:xfrm>
        </p:grpSpPr>
        <p:pic>
          <p:nvPicPr>
            <p:cNvPr id="4" name="內容版面配置區 6">
              <a:extLst>
                <a:ext uri="{FF2B5EF4-FFF2-40B4-BE49-F238E27FC236}">
                  <a16:creationId xmlns:a16="http://schemas.microsoft.com/office/drawing/2014/main" id="{8B8B6D4A-C6E3-4E87-B09A-6D4D1EE48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031" y="178121"/>
              <a:ext cx="6403532" cy="2907549"/>
            </a:xfrm>
            <a:prstGeom prst="rect">
              <a:avLst/>
            </a:prstGeom>
          </p:spPr>
        </p:pic>
        <p:sp useBgFill="1">
          <p:nvSpPr>
            <p:cNvPr id="26" name="文字方塊 25">
              <a:extLst>
                <a:ext uri="{FF2B5EF4-FFF2-40B4-BE49-F238E27FC236}">
                  <a16:creationId xmlns:a16="http://schemas.microsoft.com/office/drawing/2014/main" id="{8444459F-02A8-46C6-BF4B-0B1A40D0BAEF}"/>
                </a:ext>
              </a:extLst>
            </p:cNvPr>
            <p:cNvSpPr txBox="1"/>
            <p:nvPr/>
          </p:nvSpPr>
          <p:spPr>
            <a:xfrm>
              <a:off x="5067705" y="2038208"/>
              <a:ext cx="26835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2">
                      <a:lumMod val="75000"/>
                    </a:schemeClr>
                  </a:solidFill>
                </a:rPr>
                <a:t>t</a:t>
              </a:r>
              <a:endParaRPr lang="zh-TW" altLang="en-US" sz="11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80D54DB5-0CD8-471D-9927-81724C84D033}"/>
                    </a:ext>
                  </a:extLst>
                </p:cNvPr>
                <p:cNvSpPr txBox="1"/>
                <p:nvPr/>
              </p:nvSpPr>
              <p:spPr>
                <a:xfrm>
                  <a:off x="458090" y="1298137"/>
                  <a:ext cx="1084729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sz="1100" dirty="0"/>
                    <a:t>C(</a:t>
                  </a:r>
                  <a14:m>
                    <m:oMath xmlns:m="http://schemas.openxmlformats.org/officeDocument/2006/math">
                      <m:r>
                        <a:rPr lang="en-US" altLang="zh-TW" sz="11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1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TW" sz="1100" b="0" i="1" smtClean="0">
                          <a:latin typeface="Cambria Math" panose="02040503050406030204" pitchFamily="18" charset="0"/>
                        </a:rPr>
                        <m:t>,0,0</m:t>
                      </m:r>
                    </m:oMath>
                  </a14:m>
                  <a:r>
                    <a:rPr lang="en-US" altLang="zh-TW" sz="110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80D54DB5-0CD8-471D-9927-81724C84D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090" y="1298137"/>
                  <a:ext cx="1084729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 useBgFill="1">
          <p:nvSpPr>
            <p:cNvPr id="8" name="文字方塊 7">
              <a:extLst>
                <a:ext uri="{FF2B5EF4-FFF2-40B4-BE49-F238E27FC236}">
                  <a16:creationId xmlns:a16="http://schemas.microsoft.com/office/drawing/2014/main" id="{12E152C0-1A90-4647-ABA7-85261A12B95B}"/>
                </a:ext>
              </a:extLst>
            </p:cNvPr>
            <p:cNvSpPr txBox="1"/>
            <p:nvPr/>
          </p:nvSpPr>
          <p:spPr>
            <a:xfrm>
              <a:off x="5044008" y="2505727"/>
              <a:ext cx="37714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x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p:sp useBgFill="1">
          <p:nvSpPr>
            <p:cNvPr id="9" name="文字方塊 8">
              <a:extLst>
                <a:ext uri="{FF2B5EF4-FFF2-40B4-BE49-F238E27FC236}">
                  <a16:creationId xmlns:a16="http://schemas.microsoft.com/office/drawing/2014/main" id="{BC180612-61F8-4BB0-AAFE-46CED3798C3E}"/>
                </a:ext>
              </a:extLst>
            </p:cNvPr>
            <p:cNvSpPr txBox="1"/>
            <p:nvPr/>
          </p:nvSpPr>
          <p:spPr>
            <a:xfrm>
              <a:off x="4884020" y="2363031"/>
              <a:ext cx="377144" cy="1332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 useBgFill="1">
          <p:nvSpPr>
            <p:cNvPr id="10" name="文字方塊 9">
              <a:extLst>
                <a:ext uri="{FF2B5EF4-FFF2-40B4-BE49-F238E27FC236}">
                  <a16:creationId xmlns:a16="http://schemas.microsoft.com/office/drawing/2014/main" id="{4E54D305-61B9-4B60-83CD-7BCC3977248D}"/>
                </a:ext>
              </a:extLst>
            </p:cNvPr>
            <p:cNvSpPr txBox="1"/>
            <p:nvPr/>
          </p:nvSpPr>
          <p:spPr>
            <a:xfrm>
              <a:off x="6315762" y="1164366"/>
              <a:ext cx="37714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00B050"/>
                  </a:solidFill>
                </a:rPr>
                <a:t>y</a:t>
              </a:r>
              <a:endParaRPr lang="zh-TW" altLang="en-US" sz="2000" dirty="0">
                <a:solidFill>
                  <a:srgbClr val="00B050"/>
                </a:solidFill>
              </a:endParaRPr>
            </a:p>
          </p:txBody>
        </p:sp>
        <p:sp useBgFill="1">
          <p:nvSpPr>
            <p:cNvPr id="11" name="文字方塊 10">
              <a:extLst>
                <a:ext uri="{FF2B5EF4-FFF2-40B4-BE49-F238E27FC236}">
                  <a16:creationId xmlns:a16="http://schemas.microsoft.com/office/drawing/2014/main" id="{861E7B13-E56E-4F04-AE50-35E6C84F6991}"/>
                </a:ext>
              </a:extLst>
            </p:cNvPr>
            <p:cNvSpPr txBox="1"/>
            <p:nvPr/>
          </p:nvSpPr>
          <p:spPr>
            <a:xfrm>
              <a:off x="6183960" y="1551626"/>
              <a:ext cx="377144" cy="1332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 useBgFill="1">
          <p:nvSpPr>
            <p:cNvPr id="13" name="文字方塊 12">
              <a:extLst>
                <a:ext uri="{FF2B5EF4-FFF2-40B4-BE49-F238E27FC236}">
                  <a16:creationId xmlns:a16="http://schemas.microsoft.com/office/drawing/2014/main" id="{440FB9BD-0E1D-4539-92F6-F8026E3BC018}"/>
                </a:ext>
              </a:extLst>
            </p:cNvPr>
            <p:cNvSpPr txBox="1"/>
            <p:nvPr/>
          </p:nvSpPr>
          <p:spPr>
            <a:xfrm>
              <a:off x="4595050" y="319659"/>
              <a:ext cx="188562" cy="14009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EE0BA875-F835-4D49-98D5-CE892A6EB071}"/>
                </a:ext>
              </a:extLst>
            </p:cNvPr>
            <p:cNvSpPr/>
            <p:nvPr/>
          </p:nvSpPr>
          <p:spPr>
            <a:xfrm>
              <a:off x="4554531" y="1177220"/>
              <a:ext cx="1026609" cy="1461685"/>
            </a:xfrm>
            <a:custGeom>
              <a:avLst/>
              <a:gdLst>
                <a:gd name="connsiteX0" fmla="*/ 0 w 993913"/>
                <a:gd name="connsiteY0" fmla="*/ 1262270 h 1431235"/>
                <a:gd name="connsiteX1" fmla="*/ 993913 w 993913"/>
                <a:gd name="connsiteY1" fmla="*/ 1431235 h 1431235"/>
                <a:gd name="connsiteX2" fmla="*/ 974035 w 993913"/>
                <a:gd name="connsiteY2" fmla="*/ 29818 h 1431235"/>
                <a:gd name="connsiteX3" fmla="*/ 9939 w 993913"/>
                <a:gd name="connsiteY3" fmla="*/ 0 h 1431235"/>
                <a:gd name="connsiteX4" fmla="*/ 0 w 993913"/>
                <a:gd name="connsiteY4" fmla="*/ 1262270 h 1431235"/>
                <a:gd name="connsiteX0" fmla="*/ 0 w 993913"/>
                <a:gd name="connsiteY0" fmla="*/ 1262270 h 1431235"/>
                <a:gd name="connsiteX1" fmla="*/ 993913 w 993913"/>
                <a:gd name="connsiteY1" fmla="*/ 1431235 h 1431235"/>
                <a:gd name="connsiteX2" fmla="*/ 954790 w 993913"/>
                <a:gd name="connsiteY2" fmla="*/ 121481 h 1431235"/>
                <a:gd name="connsiteX3" fmla="*/ 9939 w 993913"/>
                <a:gd name="connsiteY3" fmla="*/ 0 h 1431235"/>
                <a:gd name="connsiteX4" fmla="*/ 0 w 993913"/>
                <a:gd name="connsiteY4" fmla="*/ 1262270 h 1431235"/>
                <a:gd name="connsiteX0" fmla="*/ 0 w 1025356"/>
                <a:gd name="connsiteY0" fmla="*/ 1262270 h 1431235"/>
                <a:gd name="connsiteX1" fmla="*/ 993913 w 1025356"/>
                <a:gd name="connsiteY1" fmla="*/ 1431235 h 1431235"/>
                <a:gd name="connsiteX2" fmla="*/ 1025356 w 1025356"/>
                <a:gd name="connsiteY2" fmla="*/ 75649 h 1431235"/>
                <a:gd name="connsiteX3" fmla="*/ 9939 w 1025356"/>
                <a:gd name="connsiteY3" fmla="*/ 0 h 1431235"/>
                <a:gd name="connsiteX4" fmla="*/ 0 w 1025356"/>
                <a:gd name="connsiteY4" fmla="*/ 1262270 h 1431235"/>
                <a:gd name="connsiteX0" fmla="*/ 0 w 993913"/>
                <a:gd name="connsiteY0" fmla="*/ 1262270 h 1431235"/>
                <a:gd name="connsiteX1" fmla="*/ 993913 w 993913"/>
                <a:gd name="connsiteY1" fmla="*/ 1431235 h 1431235"/>
                <a:gd name="connsiteX2" fmla="*/ 993280 w 993913"/>
                <a:gd name="connsiteY2" fmla="*/ 75649 h 1431235"/>
                <a:gd name="connsiteX3" fmla="*/ 9939 w 993913"/>
                <a:gd name="connsiteY3" fmla="*/ 0 h 1431235"/>
                <a:gd name="connsiteX4" fmla="*/ 0 w 993913"/>
                <a:gd name="connsiteY4" fmla="*/ 1262270 h 1431235"/>
                <a:gd name="connsiteX0" fmla="*/ 0 w 993913"/>
                <a:gd name="connsiteY0" fmla="*/ 1262270 h 1431235"/>
                <a:gd name="connsiteX1" fmla="*/ 993913 w 993913"/>
                <a:gd name="connsiteY1" fmla="*/ 1431235 h 1431235"/>
                <a:gd name="connsiteX2" fmla="*/ 993280 w 993913"/>
                <a:gd name="connsiteY2" fmla="*/ 134575 h 1431235"/>
                <a:gd name="connsiteX3" fmla="*/ 9939 w 993913"/>
                <a:gd name="connsiteY3" fmla="*/ 0 h 1431235"/>
                <a:gd name="connsiteX4" fmla="*/ 0 w 993913"/>
                <a:gd name="connsiteY4" fmla="*/ 1262270 h 1431235"/>
                <a:gd name="connsiteX0" fmla="*/ 0 w 993913"/>
                <a:gd name="connsiteY0" fmla="*/ 1275365 h 1444330"/>
                <a:gd name="connsiteX1" fmla="*/ 993913 w 993913"/>
                <a:gd name="connsiteY1" fmla="*/ 1444330 h 1444330"/>
                <a:gd name="connsiteX2" fmla="*/ 993280 w 993913"/>
                <a:gd name="connsiteY2" fmla="*/ 147670 h 1444330"/>
                <a:gd name="connsiteX3" fmla="*/ 9939 w 993913"/>
                <a:gd name="connsiteY3" fmla="*/ 0 h 1444330"/>
                <a:gd name="connsiteX4" fmla="*/ 0 w 993913"/>
                <a:gd name="connsiteY4" fmla="*/ 1275365 h 144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3913" h="1444330">
                  <a:moveTo>
                    <a:pt x="0" y="1275365"/>
                  </a:moveTo>
                  <a:lnTo>
                    <a:pt x="993913" y="1444330"/>
                  </a:lnTo>
                  <a:lnTo>
                    <a:pt x="993280" y="147670"/>
                  </a:lnTo>
                  <a:lnTo>
                    <a:pt x="9939" y="0"/>
                  </a:lnTo>
                  <a:lnTo>
                    <a:pt x="0" y="1275365"/>
                  </a:lnTo>
                  <a:close/>
                </a:path>
              </a:pathLst>
            </a:custGeom>
            <a:solidFill>
              <a:srgbClr val="00B050">
                <a:alpha val="16000"/>
              </a:srgbClr>
            </a:solidFill>
            <a:effectLst>
              <a:outerShdw blurRad="50800" dist="50800" dir="5400000" algn="ctr" rotWithShape="0">
                <a:srgbClr val="000000">
                  <a:alpha val="0"/>
                </a:srgbClr>
              </a:outerShdw>
              <a:reflection stA="0" endPos="650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166A50F7-0479-4B44-BA56-E0A8706DF891}"/>
                </a:ext>
              </a:extLst>
            </p:cNvPr>
            <p:cNvSpPr/>
            <p:nvPr/>
          </p:nvSpPr>
          <p:spPr>
            <a:xfrm>
              <a:off x="4549690" y="1792509"/>
              <a:ext cx="1828800" cy="788505"/>
            </a:xfrm>
            <a:custGeom>
              <a:avLst/>
              <a:gdLst>
                <a:gd name="connsiteX0" fmla="*/ 0 w 1789044"/>
                <a:gd name="connsiteY0" fmla="*/ 695739 h 815009"/>
                <a:gd name="connsiteX1" fmla="*/ 1133061 w 1789044"/>
                <a:gd name="connsiteY1" fmla="*/ 0 h 815009"/>
                <a:gd name="connsiteX2" fmla="*/ 1789044 w 1789044"/>
                <a:gd name="connsiteY2" fmla="*/ 99391 h 815009"/>
                <a:gd name="connsiteX3" fmla="*/ 685800 w 1789044"/>
                <a:gd name="connsiteY3" fmla="*/ 815009 h 815009"/>
                <a:gd name="connsiteX4" fmla="*/ 0 w 1789044"/>
                <a:gd name="connsiteY4" fmla="*/ 695739 h 815009"/>
                <a:gd name="connsiteX0" fmla="*/ 0 w 1828800"/>
                <a:gd name="connsiteY0" fmla="*/ 695739 h 815009"/>
                <a:gd name="connsiteX1" fmla="*/ 1133061 w 1828800"/>
                <a:gd name="connsiteY1" fmla="*/ 0 h 815009"/>
                <a:gd name="connsiteX2" fmla="*/ 1828800 w 1828800"/>
                <a:gd name="connsiteY2" fmla="*/ 145774 h 815009"/>
                <a:gd name="connsiteX3" fmla="*/ 685800 w 1828800"/>
                <a:gd name="connsiteY3" fmla="*/ 815009 h 815009"/>
                <a:gd name="connsiteX4" fmla="*/ 0 w 1828800"/>
                <a:gd name="connsiteY4" fmla="*/ 695739 h 815009"/>
                <a:gd name="connsiteX0" fmla="*/ 0 w 1828800"/>
                <a:gd name="connsiteY0" fmla="*/ 669235 h 788505"/>
                <a:gd name="connsiteX1" fmla="*/ 1133061 w 1828800"/>
                <a:gd name="connsiteY1" fmla="*/ 0 h 788505"/>
                <a:gd name="connsiteX2" fmla="*/ 1828800 w 1828800"/>
                <a:gd name="connsiteY2" fmla="*/ 119270 h 788505"/>
                <a:gd name="connsiteX3" fmla="*/ 685800 w 1828800"/>
                <a:gd name="connsiteY3" fmla="*/ 788505 h 788505"/>
                <a:gd name="connsiteX4" fmla="*/ 0 w 1828800"/>
                <a:gd name="connsiteY4" fmla="*/ 669235 h 788505"/>
                <a:gd name="connsiteX0" fmla="*/ 0 w 1828800"/>
                <a:gd name="connsiteY0" fmla="*/ 669235 h 788505"/>
                <a:gd name="connsiteX1" fmla="*/ 1126435 w 1828800"/>
                <a:gd name="connsiteY1" fmla="*/ 0 h 788505"/>
                <a:gd name="connsiteX2" fmla="*/ 1828800 w 1828800"/>
                <a:gd name="connsiteY2" fmla="*/ 119270 h 788505"/>
                <a:gd name="connsiteX3" fmla="*/ 685800 w 1828800"/>
                <a:gd name="connsiteY3" fmla="*/ 788505 h 788505"/>
                <a:gd name="connsiteX4" fmla="*/ 0 w 1828800"/>
                <a:gd name="connsiteY4" fmla="*/ 669235 h 788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788505">
                  <a:moveTo>
                    <a:pt x="0" y="669235"/>
                  </a:moveTo>
                  <a:lnTo>
                    <a:pt x="1126435" y="0"/>
                  </a:lnTo>
                  <a:lnTo>
                    <a:pt x="1828800" y="119270"/>
                  </a:lnTo>
                  <a:lnTo>
                    <a:pt x="685800" y="788505"/>
                  </a:lnTo>
                  <a:lnTo>
                    <a:pt x="0" y="669235"/>
                  </a:lnTo>
                  <a:close/>
                </a:path>
              </a:pathLst>
            </a:custGeom>
            <a:solidFill>
              <a:srgbClr val="7030A0">
                <a:alpha val="16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 useBgFill="1">
          <p:nvSpPr>
            <p:cNvPr id="17" name="文字方塊 16">
              <a:extLst>
                <a:ext uri="{FF2B5EF4-FFF2-40B4-BE49-F238E27FC236}">
                  <a16:creationId xmlns:a16="http://schemas.microsoft.com/office/drawing/2014/main" id="{06817C17-8A84-494B-959B-38588243F3FD}"/>
                </a:ext>
              </a:extLst>
            </p:cNvPr>
            <p:cNvSpPr txBox="1"/>
            <p:nvPr/>
          </p:nvSpPr>
          <p:spPr>
            <a:xfrm>
              <a:off x="138429" y="1190472"/>
              <a:ext cx="26835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00B050"/>
                  </a:solidFill>
                </a:rPr>
                <a:t>r</a:t>
              </a:r>
              <a:endParaRPr lang="zh-TW" altLang="en-US" sz="1100" dirty="0">
                <a:solidFill>
                  <a:srgbClr val="00B050"/>
                </a:solidFill>
              </a:endParaRPr>
            </a:p>
          </p:txBody>
        </p:sp>
        <p:sp useBgFill="1">
          <p:nvSpPr>
            <p:cNvPr id="19" name="文字方塊 18">
              <a:extLst>
                <a:ext uri="{FF2B5EF4-FFF2-40B4-BE49-F238E27FC236}">
                  <a16:creationId xmlns:a16="http://schemas.microsoft.com/office/drawing/2014/main" id="{4977B1EB-A8C9-43D6-8AE2-014602EF745C}"/>
                </a:ext>
              </a:extLst>
            </p:cNvPr>
            <p:cNvSpPr txBox="1"/>
            <p:nvPr/>
          </p:nvSpPr>
          <p:spPr>
            <a:xfrm>
              <a:off x="416461" y="1151516"/>
              <a:ext cx="124265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A(−</a:t>
              </a:r>
              <a:r>
                <a:rPr lang="zh-TW" altLang="en-US" sz="2000" dirty="0"/>
                <a:t>𝛿</a:t>
              </a:r>
              <a:r>
                <a:rPr lang="en-US" altLang="zh-TW" sz="2000" dirty="0"/>
                <a:t>,0,0)</a:t>
              </a:r>
              <a:endParaRPr lang="zh-TW" altLang="en-US" sz="1100" dirty="0"/>
            </a:p>
          </p:txBody>
        </p:sp>
        <p:sp useBgFill="1">
          <p:nvSpPr>
            <p:cNvPr id="20" name="文字方塊 19">
              <a:extLst>
                <a:ext uri="{FF2B5EF4-FFF2-40B4-BE49-F238E27FC236}">
                  <a16:creationId xmlns:a16="http://schemas.microsoft.com/office/drawing/2014/main" id="{E5881F99-B69B-4DD0-ABDD-5E60BF888357}"/>
                </a:ext>
              </a:extLst>
            </p:cNvPr>
            <p:cNvSpPr txBox="1"/>
            <p:nvPr/>
          </p:nvSpPr>
          <p:spPr>
            <a:xfrm>
              <a:off x="498444" y="1493097"/>
              <a:ext cx="377144" cy="1332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 useBgFill="1">
          <p:nvSpPr>
            <p:cNvPr id="22" name="文字方塊 21">
              <a:extLst>
                <a:ext uri="{FF2B5EF4-FFF2-40B4-BE49-F238E27FC236}">
                  <a16:creationId xmlns:a16="http://schemas.microsoft.com/office/drawing/2014/main" id="{0F3AC096-2AA8-4CB2-8D2A-B0226A493174}"/>
                </a:ext>
              </a:extLst>
            </p:cNvPr>
            <p:cNvSpPr txBox="1"/>
            <p:nvPr/>
          </p:nvSpPr>
          <p:spPr>
            <a:xfrm>
              <a:off x="1448134" y="1673810"/>
              <a:ext cx="377144" cy="1332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 useBgFill="1">
          <p:nvSpPr>
            <p:cNvPr id="21" name="文字方塊 20">
              <a:extLst>
                <a:ext uri="{FF2B5EF4-FFF2-40B4-BE49-F238E27FC236}">
                  <a16:creationId xmlns:a16="http://schemas.microsoft.com/office/drawing/2014/main" id="{05BC92DB-64D9-4764-9630-37E4ADA0F394}"/>
                </a:ext>
              </a:extLst>
            </p:cNvPr>
            <p:cNvSpPr txBox="1"/>
            <p:nvPr/>
          </p:nvSpPr>
          <p:spPr>
            <a:xfrm>
              <a:off x="83995" y="1840485"/>
              <a:ext cx="27941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7030A0"/>
                  </a:solidFill>
                </a:rPr>
                <a:t>s</a:t>
              </a:r>
              <a:endParaRPr lang="zh-TW" altLang="en-US" sz="2000" dirty="0">
                <a:solidFill>
                  <a:srgbClr val="7030A0"/>
                </a:solidFill>
              </a:endParaRPr>
            </a:p>
          </p:txBody>
        </p:sp>
        <p:sp useBgFill="1">
          <p:nvSpPr>
            <p:cNvPr id="23" name="文字方塊 22">
              <a:extLst>
                <a:ext uri="{FF2B5EF4-FFF2-40B4-BE49-F238E27FC236}">
                  <a16:creationId xmlns:a16="http://schemas.microsoft.com/office/drawing/2014/main" id="{5B72F29F-DFB9-428F-90A2-F64D0EC4E44C}"/>
                </a:ext>
              </a:extLst>
            </p:cNvPr>
            <p:cNvSpPr txBox="1"/>
            <p:nvPr/>
          </p:nvSpPr>
          <p:spPr>
            <a:xfrm>
              <a:off x="4211276" y="1945094"/>
              <a:ext cx="26835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B</a:t>
              </a:r>
              <a:endParaRPr lang="zh-TW" altLang="en-US" sz="1100" dirty="0"/>
            </a:p>
          </p:txBody>
        </p:sp>
        <p:sp useBgFill="1">
          <p:nvSpPr>
            <p:cNvPr id="24" name="文字方塊 23">
              <a:extLst>
                <a:ext uri="{FF2B5EF4-FFF2-40B4-BE49-F238E27FC236}">
                  <a16:creationId xmlns:a16="http://schemas.microsoft.com/office/drawing/2014/main" id="{A165D68F-BA47-47BC-A07A-806C7A69E595}"/>
                </a:ext>
              </a:extLst>
            </p:cNvPr>
            <p:cNvSpPr txBox="1"/>
            <p:nvPr/>
          </p:nvSpPr>
          <p:spPr>
            <a:xfrm>
              <a:off x="4595050" y="740809"/>
              <a:ext cx="3803822" cy="30777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1400" dirty="0"/>
                <a:t>C(</a:t>
              </a:r>
              <a:r>
                <a:rPr lang="zh-TW" altLang="en-US" sz="1400" dirty="0"/>
                <a:t>𝛾 </a:t>
              </a:r>
              <a:r>
                <a:rPr lang="en-US" altLang="zh-TW" sz="1400" dirty="0"/>
                <a:t>cos⁡(</a:t>
              </a:r>
              <a:r>
                <a:rPr lang="zh-TW" altLang="en-US" sz="1400" dirty="0"/>
                <a:t>𝛼</a:t>
              </a:r>
              <a:r>
                <a:rPr lang="en-US" altLang="zh-TW" sz="1400" dirty="0"/>
                <a:t>°) cos⁡(</a:t>
              </a:r>
              <a:r>
                <a:rPr lang="zh-TW" altLang="en-US" sz="1400" dirty="0"/>
                <a:t>𝛽</a:t>
              </a:r>
              <a:r>
                <a:rPr lang="en-US" altLang="zh-TW" sz="1400" dirty="0"/>
                <a:t>°),</a:t>
              </a:r>
              <a:r>
                <a:rPr lang="zh-TW" altLang="en-US" sz="1400" dirty="0"/>
                <a:t>𝛾 </a:t>
              </a:r>
              <a:r>
                <a:rPr lang="en-US" altLang="zh-TW" sz="1400" dirty="0"/>
                <a:t>cos⁡(</a:t>
              </a:r>
              <a:r>
                <a:rPr lang="zh-TW" altLang="en-US" sz="1400" dirty="0"/>
                <a:t>𝛼</a:t>
              </a:r>
              <a:r>
                <a:rPr lang="en-US" altLang="zh-TW" sz="1400" dirty="0"/>
                <a:t>°) sin⁡(</a:t>
              </a:r>
              <a:r>
                <a:rPr lang="zh-TW" altLang="en-US" sz="1400" dirty="0"/>
                <a:t>𝛽</a:t>
              </a:r>
              <a:r>
                <a:rPr lang="en-US" altLang="zh-TW" sz="1400" dirty="0"/>
                <a:t>°),</a:t>
              </a:r>
              <a:r>
                <a:rPr lang="zh-TW" altLang="en-US" sz="1400" dirty="0"/>
                <a:t>𝛾 </a:t>
              </a:r>
              <a:r>
                <a:rPr lang="en-US" altLang="zh-TW" sz="1400" dirty="0"/>
                <a:t>sin⁡(</a:t>
              </a:r>
              <a:r>
                <a:rPr lang="zh-TW" altLang="en-US" sz="1400" dirty="0"/>
                <a:t>𝛼</a:t>
              </a:r>
              <a:r>
                <a:rPr lang="en-US" altLang="zh-TW" sz="1400" dirty="0"/>
                <a:t>°))</a:t>
              </a:r>
            </a:p>
          </p:txBody>
        </p:sp>
        <p:sp useBgFill="1">
          <p:nvSpPr>
            <p:cNvPr id="25" name="文字方塊 24">
              <a:extLst>
                <a:ext uri="{FF2B5EF4-FFF2-40B4-BE49-F238E27FC236}">
                  <a16:creationId xmlns:a16="http://schemas.microsoft.com/office/drawing/2014/main" id="{E0B04B96-2BFD-43D8-8EBE-EBD8E95F15E4}"/>
                </a:ext>
              </a:extLst>
            </p:cNvPr>
            <p:cNvSpPr txBox="1"/>
            <p:nvPr/>
          </p:nvSpPr>
          <p:spPr>
            <a:xfrm>
              <a:off x="5871908" y="1003484"/>
              <a:ext cx="377144" cy="1332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 useBgFill="1">
          <p:nvSpPr>
            <p:cNvPr id="12" name="文字方塊 11">
              <a:extLst>
                <a:ext uri="{FF2B5EF4-FFF2-40B4-BE49-F238E27FC236}">
                  <a16:creationId xmlns:a16="http://schemas.microsoft.com/office/drawing/2014/main" id="{B92E6A58-F1B1-47EC-BAB5-36CBA4CA2A92}"/>
                </a:ext>
              </a:extLst>
            </p:cNvPr>
            <p:cNvSpPr txBox="1"/>
            <p:nvPr/>
          </p:nvSpPr>
          <p:spPr>
            <a:xfrm>
              <a:off x="4623494" y="32760"/>
              <a:ext cx="37714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0070C0"/>
                  </a:solidFill>
                </a:rPr>
                <a:t>z</a:t>
              </a:r>
              <a:endParaRPr lang="zh-TW" altLang="en-US" sz="2000" dirty="0">
                <a:solidFill>
                  <a:srgbClr val="0070C0"/>
                </a:solidFill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6F1D204C-6081-4A7C-8DFB-9B0EF6AA7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31183" y="1640432"/>
              <a:ext cx="152421" cy="200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5956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448" y="-122434"/>
            <a:ext cx="4546716" cy="710286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CEACC7-33BE-4DBC-AF6C-53971E47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5610BED-0968-4508-B860-09E58D6F3B11}"/>
                  </a:ext>
                </a:extLst>
              </p:cNvPr>
              <p:cNvSpPr txBox="1"/>
              <p:nvPr/>
            </p:nvSpPr>
            <p:spPr>
              <a:xfrm>
                <a:off x="143436" y="1411506"/>
                <a:ext cx="6592489" cy="2102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zh-TW" dirty="0"/>
              </a:p>
              <a:p>
                <a:r>
                  <a:rPr lang="zh-TW" altLang="en-US" dirty="0"/>
                  <a:t>令點</a:t>
                </a:r>
                <a:r>
                  <a:rPr lang="en-GB" altLang="zh-TW" dirty="0"/>
                  <a:t>D</a:t>
                </a:r>
                <a:r>
                  <a:rPr lang="zh-TW" altLang="en-US" dirty="0"/>
                  <a:t>在空間上為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𝛾 </a:t>
                </a:r>
                <a:r>
                  <a:rPr lang="en-GB" altLang="zh-TW" dirty="0"/>
                  <a:t>cos⁡(</a:t>
                </a:r>
                <a:r>
                  <a:rPr lang="zh-TW" altLang="en-GB" dirty="0"/>
                  <a:t>𝛼</a:t>
                </a:r>
                <a:r>
                  <a:rPr lang="en-GB" altLang="zh-TW" dirty="0"/>
                  <a:t>°) cos⁡(</a:t>
                </a:r>
                <a:r>
                  <a:rPr lang="zh-TW" altLang="en-GB" dirty="0"/>
                  <a:t>𝛽</a:t>
                </a:r>
                <a:r>
                  <a:rPr lang="en-GB" altLang="zh-TW" dirty="0"/>
                  <a:t>°),</a:t>
                </a:r>
                <a:r>
                  <a:rPr lang="zh-TW" altLang="en-GB" dirty="0"/>
                  <a:t>𝛾 </a:t>
                </a:r>
                <a:r>
                  <a:rPr lang="en-GB" altLang="zh-TW" dirty="0"/>
                  <a:t>cos⁡(</a:t>
                </a:r>
                <a:r>
                  <a:rPr lang="zh-TW" altLang="en-GB" dirty="0"/>
                  <a:t>𝛼</a:t>
                </a:r>
                <a:r>
                  <a:rPr lang="en-GB" altLang="zh-TW" dirty="0"/>
                  <a:t>°) sin⁡(</a:t>
                </a:r>
                <a:r>
                  <a:rPr lang="zh-TW" altLang="en-GB" dirty="0"/>
                  <a:t>𝛽</a:t>
                </a:r>
                <a:r>
                  <a:rPr lang="en-GB" altLang="zh-TW" dirty="0"/>
                  <a:t>°),</a:t>
                </a:r>
                <a:r>
                  <a:rPr lang="zh-TW" altLang="en-GB" dirty="0"/>
                  <a:t>𝛾 </a:t>
                </a:r>
                <a:r>
                  <a:rPr lang="en-GB" altLang="zh-TW" dirty="0"/>
                  <a:t>sin⁡(</a:t>
                </a:r>
                <a:r>
                  <a:rPr lang="zh-TW" altLang="en-GB" dirty="0"/>
                  <a:t>𝛼</a:t>
                </a:r>
                <a:r>
                  <a:rPr lang="en-GB" altLang="zh-TW" dirty="0"/>
                  <a:t>°)</a:t>
                </a:r>
                <a:r>
                  <a:rPr lang="en-US" altLang="zh-TW" dirty="0"/>
                  <a:t>)</a:t>
                </a:r>
              </a:p>
              <a:p>
                <a:r>
                  <a:rPr lang="zh-TW" altLang="en-US" dirty="0"/>
                  <a:t>點</a:t>
                </a:r>
                <a:r>
                  <a:rPr lang="en-US" altLang="zh-TW" dirty="0"/>
                  <a:t>C</a:t>
                </a:r>
                <a:r>
                  <a:rPr lang="zh-TW" altLang="en-US" dirty="0"/>
                  <a:t>在空間上為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,0,0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r>
                  <a:rPr lang="zh-TW" altLang="en-US" dirty="0"/>
                  <a:t>其中𝛾 為原點到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點長度，</a:t>
                </a:r>
                <a:r>
                  <a:rPr lang="zh-TW" altLang="en-GB" dirty="0"/>
                  <a:t>𝛼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點與</a:t>
                </a:r>
                <a:r>
                  <a:rPr lang="en-US" altLang="zh-TW" dirty="0" err="1"/>
                  <a:t>xy</a:t>
                </a:r>
                <a:r>
                  <a:rPr lang="zh-TW" altLang="en-US" dirty="0"/>
                  <a:t>平面之間的夾角，</a:t>
                </a:r>
                <a:r>
                  <a:rPr lang="zh-TW" altLang="en-GB" dirty="0"/>
                  <a:t>𝛽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點與</a:t>
                </a:r>
                <a:r>
                  <a:rPr lang="en-US" altLang="zh-TW" dirty="0" err="1"/>
                  <a:t>xz</a:t>
                </a:r>
                <a:r>
                  <a:rPr lang="zh-TW" altLang="en-US" dirty="0"/>
                  <a:t>平面之間的夾角</a:t>
                </a:r>
                <a:endParaRPr lang="en-US" altLang="zh-TW" dirty="0"/>
              </a:p>
              <a:p>
                <a:r>
                  <a:rPr lang="en-GB" altLang="zh-TW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TW" altLang="en-US" dirty="0"/>
                  <a:t>與</a:t>
                </a:r>
                <a:r>
                  <a:rPr lang="en-US" altLang="zh-TW" dirty="0" err="1"/>
                  <a:t>xy</a:t>
                </a:r>
                <a:r>
                  <a:rPr lang="zh-TW" altLang="en-US" dirty="0"/>
                  <a:t>平面夾角為</a:t>
                </a:r>
                <a:r>
                  <a:rPr lang="en-US" altLang="zh-TW" dirty="0"/>
                  <a:t>t</a:t>
                </a:r>
                <a:r>
                  <a:rPr lang="en-US" altLang="zh-TW" dirty="0">
                    <a:latin typeface="Poor Richard" panose="02080502050505020702" pitchFamily="18" charset="0"/>
                  </a:rPr>
                  <a:t>˚</a:t>
                </a:r>
                <a:r>
                  <a:rPr lang="zh-TW" altLang="en-US" dirty="0"/>
                  <a:t>，也就是</a:t>
                </a:r>
                <a:r>
                  <a:rPr lang="zh-TW" altLang="en-GB" dirty="0"/>
                  <a:t>𝛼</a:t>
                </a:r>
                <a:r>
                  <a:rPr lang="en-US" altLang="zh-TW" dirty="0">
                    <a:latin typeface="Poor Richard" panose="02080502050505020702" pitchFamily="18" charset="0"/>
                  </a:rPr>
                  <a:t>˚</a:t>
                </a:r>
              </a:p>
              <a:p>
                <a:r>
                  <a:rPr lang="zh-TW" altLang="en-US" dirty="0">
                    <a:latin typeface="Poor Richard" panose="02080502050505020702" pitchFamily="18" charset="0"/>
                  </a:rPr>
                  <a:t>首先分解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zh-TW" altLang="en-US" i="1">
                        <a:latin typeface="Cambria Math" panose="02040503050406030204" pitchFamily="18" charset="0"/>
                      </a:rPr>
                      <m:t>向量</m:t>
                    </m:r>
                  </m:oMath>
                </a14:m>
                <a:r>
                  <a:rPr lang="zh-TW" altLang="en-US" dirty="0">
                    <a:latin typeface="Poor Richard" panose="02080502050505020702" pitchFamily="18" charset="0"/>
                  </a:rPr>
                  <a:t>與</a:t>
                </a:r>
                <a:r>
                  <a:rPr lang="en-US" altLang="zh-TW" dirty="0" err="1"/>
                  <a:t>xy</a:t>
                </a:r>
                <a:r>
                  <a:rPr lang="zh-TW" altLang="en-US" dirty="0">
                    <a:latin typeface="Poor Richard" panose="02080502050505020702" pitchFamily="18" charset="0"/>
                  </a:rPr>
                  <a:t>平面的夾角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dirty="0">
                    <a:latin typeface="Poor Richard" panose="02080502050505020702" pitchFamily="18" charset="0"/>
                  </a:rPr>
                  <a:t>˚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5610BED-0968-4508-B860-09E58D6F3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6" y="1411506"/>
                <a:ext cx="6592489" cy="2102242"/>
              </a:xfrm>
              <a:prstGeom prst="rect">
                <a:avLst/>
              </a:prstGeom>
              <a:blipFill>
                <a:blip r:embed="rId4"/>
                <a:stretch>
                  <a:fillRect l="-833" b="-40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A7E90E7-8383-4CF5-ADC2-894BBA05814E}"/>
                  </a:ext>
                </a:extLst>
              </p:cNvPr>
              <p:cNvSpPr txBox="1"/>
              <p:nvPr/>
            </p:nvSpPr>
            <p:spPr>
              <a:xfrm>
                <a:off x="143437" y="3659562"/>
                <a:ext cx="6436658" cy="235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針對</a:t>
                </a:r>
                <a:r>
                  <a:rPr lang="en-US" altLang="zh-TW" dirty="0" err="1"/>
                  <a:t>xz</a:t>
                </a:r>
                <a:r>
                  <a:rPr lang="zh-TW" altLang="en-US" dirty="0"/>
                  <a:t>平面上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的分量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GB" altLang="zh-TW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altLang="zh-TW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altLang="zh-TW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TW" altLang="en-US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en-US" i="1" dirty="0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zh-TW" altLang="en-GB" dirty="0" smtClean="0"/>
                                        <m:t>𝛾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 smtClean="0"/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 smtClean="0"/>
                                        <m:t>sin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 smtClean="0"/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 smtClean="0"/>
                                        <m:t>𝛼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 smtClean="0"/>
                                        <m:t>°)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TW" altLang="en-US" i="1" dirty="0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zh-TW" alt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 dirty="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 dirty="0" smtClean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/>
              </a:p>
              <a:p>
                <a:r>
                  <a:rPr lang="zh-TW" altLang="en-US" dirty="0"/>
                  <a:t>而對</a:t>
                </a:r>
                <a:r>
                  <a:rPr lang="en-US" altLang="zh-TW" dirty="0" err="1"/>
                  <a:t>xy</a:t>
                </a:r>
                <a:r>
                  <a:rPr lang="zh-TW" altLang="en-US" dirty="0"/>
                  <a:t>平面上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的分量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altLang="zh-TW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TW" altLang="en-US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TW" altLang="en-US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𝛾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cos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𝛼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°)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sin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zh-TW" altLang="en-GB" dirty="0"/>
                                        <m:t>𝛽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GB" altLang="zh-TW" dirty="0"/>
                                        <m:t>°)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zh-TW" altLang="en-US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zh-TW" alt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 dirty="0">
                                              <a:latin typeface="Cambria Math" panose="02040503050406030204" pitchFamily="18" charset="0"/>
                                            </a:rPr>
                                            <m:t>CD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A7E90E7-8383-4CF5-ADC2-894BBA058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7" y="3659562"/>
                <a:ext cx="6436658" cy="2355132"/>
              </a:xfrm>
              <a:prstGeom prst="rect">
                <a:avLst/>
              </a:prstGeom>
              <a:blipFill>
                <a:blip r:embed="rId5"/>
                <a:stretch>
                  <a:fillRect l="-853" t="-1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手繪多邊形 11"/>
          <p:cNvSpPr/>
          <p:nvPr/>
        </p:nvSpPr>
        <p:spPr>
          <a:xfrm>
            <a:off x="9456234" y="602166"/>
            <a:ext cx="557561" cy="992458"/>
          </a:xfrm>
          <a:custGeom>
            <a:avLst/>
            <a:gdLst>
              <a:gd name="connsiteX0" fmla="*/ 11151 w 557561"/>
              <a:gd name="connsiteY0" fmla="*/ 11151 h 992458"/>
              <a:gd name="connsiteX1" fmla="*/ 0 w 557561"/>
              <a:gd name="connsiteY1" fmla="*/ 880946 h 992458"/>
              <a:gd name="connsiteX2" fmla="*/ 524107 w 557561"/>
              <a:gd name="connsiteY2" fmla="*/ 992458 h 992458"/>
              <a:gd name="connsiteX3" fmla="*/ 557561 w 557561"/>
              <a:gd name="connsiteY3" fmla="*/ 0 h 992458"/>
              <a:gd name="connsiteX4" fmla="*/ 11151 w 557561"/>
              <a:gd name="connsiteY4" fmla="*/ 11151 h 99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561" h="992458">
                <a:moveTo>
                  <a:pt x="11151" y="11151"/>
                </a:moveTo>
                <a:lnTo>
                  <a:pt x="0" y="880946"/>
                </a:lnTo>
                <a:lnTo>
                  <a:pt x="524107" y="992458"/>
                </a:lnTo>
                <a:lnTo>
                  <a:pt x="557561" y="0"/>
                </a:lnTo>
                <a:lnTo>
                  <a:pt x="11151" y="11151"/>
                </a:lnTo>
                <a:close/>
              </a:path>
            </a:pathLst>
          </a:custGeom>
          <a:solidFill>
            <a:srgbClr val="77BC4C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9534293" y="981307"/>
            <a:ext cx="1204331" cy="646786"/>
          </a:xfrm>
          <a:custGeom>
            <a:avLst/>
            <a:gdLst>
              <a:gd name="connsiteX0" fmla="*/ 0 w 1204331"/>
              <a:gd name="connsiteY0" fmla="*/ 501805 h 646786"/>
              <a:gd name="connsiteX1" fmla="*/ 0 w 1204331"/>
              <a:gd name="connsiteY1" fmla="*/ 501805 h 646786"/>
              <a:gd name="connsiteX2" fmla="*/ 100361 w 1204331"/>
              <a:gd name="connsiteY2" fmla="*/ 535259 h 646786"/>
              <a:gd name="connsiteX3" fmla="*/ 156117 w 1204331"/>
              <a:gd name="connsiteY3" fmla="*/ 546410 h 646786"/>
              <a:gd name="connsiteX4" fmla="*/ 200722 w 1204331"/>
              <a:gd name="connsiteY4" fmla="*/ 557561 h 646786"/>
              <a:gd name="connsiteX5" fmla="*/ 267629 w 1204331"/>
              <a:gd name="connsiteY5" fmla="*/ 568713 h 646786"/>
              <a:gd name="connsiteX6" fmla="*/ 301083 w 1204331"/>
              <a:gd name="connsiteY6" fmla="*/ 579864 h 646786"/>
              <a:gd name="connsiteX7" fmla="*/ 412595 w 1204331"/>
              <a:gd name="connsiteY7" fmla="*/ 602166 h 646786"/>
              <a:gd name="connsiteX8" fmla="*/ 457200 w 1204331"/>
              <a:gd name="connsiteY8" fmla="*/ 613317 h 646786"/>
              <a:gd name="connsiteX9" fmla="*/ 579863 w 1204331"/>
              <a:gd name="connsiteY9" fmla="*/ 635620 h 646786"/>
              <a:gd name="connsiteX10" fmla="*/ 635619 w 1204331"/>
              <a:gd name="connsiteY10" fmla="*/ 646771 h 646786"/>
              <a:gd name="connsiteX11" fmla="*/ 1204331 w 1204331"/>
              <a:gd name="connsiteY11" fmla="*/ 167269 h 646786"/>
              <a:gd name="connsiteX12" fmla="*/ 836341 w 1204331"/>
              <a:gd name="connsiteY12" fmla="*/ 0 h 646786"/>
              <a:gd name="connsiteX13" fmla="*/ 0 w 1204331"/>
              <a:gd name="connsiteY13" fmla="*/ 501805 h 646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04331" h="646786">
                <a:moveTo>
                  <a:pt x="0" y="501805"/>
                </a:moveTo>
                <a:lnTo>
                  <a:pt x="0" y="501805"/>
                </a:lnTo>
                <a:cubicBezTo>
                  <a:pt x="33454" y="512956"/>
                  <a:pt x="66455" y="525571"/>
                  <a:pt x="100361" y="535259"/>
                </a:cubicBezTo>
                <a:cubicBezTo>
                  <a:pt x="118585" y="540466"/>
                  <a:pt x="137615" y="542299"/>
                  <a:pt x="156117" y="546410"/>
                </a:cubicBezTo>
                <a:cubicBezTo>
                  <a:pt x="171078" y="549735"/>
                  <a:pt x="185694" y="554555"/>
                  <a:pt x="200722" y="557561"/>
                </a:cubicBezTo>
                <a:cubicBezTo>
                  <a:pt x="222893" y="561995"/>
                  <a:pt x="245557" y="563808"/>
                  <a:pt x="267629" y="568713"/>
                </a:cubicBezTo>
                <a:cubicBezTo>
                  <a:pt x="279104" y="571263"/>
                  <a:pt x="289630" y="577221"/>
                  <a:pt x="301083" y="579864"/>
                </a:cubicBezTo>
                <a:cubicBezTo>
                  <a:pt x="338019" y="588388"/>
                  <a:pt x="375820" y="592972"/>
                  <a:pt x="412595" y="602166"/>
                </a:cubicBezTo>
                <a:cubicBezTo>
                  <a:pt x="427463" y="605883"/>
                  <a:pt x="442172" y="610311"/>
                  <a:pt x="457200" y="613317"/>
                </a:cubicBezTo>
                <a:cubicBezTo>
                  <a:pt x="578237" y="637525"/>
                  <a:pt x="472232" y="611703"/>
                  <a:pt x="579863" y="635620"/>
                </a:cubicBezTo>
                <a:cubicBezTo>
                  <a:pt x="634100" y="647672"/>
                  <a:pt x="607681" y="646771"/>
                  <a:pt x="635619" y="646771"/>
                </a:cubicBezTo>
                <a:lnTo>
                  <a:pt x="1204331" y="167269"/>
                </a:lnTo>
                <a:lnTo>
                  <a:pt x="836341" y="0"/>
                </a:lnTo>
                <a:lnTo>
                  <a:pt x="0" y="501805"/>
                </a:lnTo>
                <a:close/>
              </a:path>
            </a:pathLst>
          </a:cu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545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6">
            <a:extLst>
              <a:ext uri="{FF2B5EF4-FFF2-40B4-BE49-F238E27FC236}">
                <a16:creationId xmlns:a16="http://schemas.microsoft.com/office/drawing/2014/main" id="{706EA9E9-505C-4A6E-8EF7-47EAA2885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772" y="2438641"/>
            <a:ext cx="5674350" cy="2576461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9836C15-149C-4F6D-B48B-CF2BB4D8C550}"/>
              </a:ext>
            </a:extLst>
          </p:cNvPr>
          <p:cNvSpPr txBox="1"/>
          <p:nvPr/>
        </p:nvSpPr>
        <p:spPr>
          <a:xfrm>
            <a:off x="2715306" y="2907955"/>
            <a:ext cx="3160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(</a:t>
            </a:r>
            <a:r>
              <a:rPr lang="zh-TW" altLang="en-US" sz="1200" dirty="0"/>
              <a:t>𝛾 </a:t>
            </a:r>
            <a:r>
              <a:rPr lang="en-GB" altLang="zh-TW" sz="1200" dirty="0"/>
              <a:t>cos⁡(</a:t>
            </a:r>
            <a:r>
              <a:rPr lang="zh-TW" altLang="en-GB" sz="1200" dirty="0"/>
              <a:t>𝛼</a:t>
            </a:r>
            <a:r>
              <a:rPr lang="en-GB" altLang="zh-TW" sz="1200" dirty="0"/>
              <a:t>°) cos⁡(</a:t>
            </a:r>
            <a:r>
              <a:rPr lang="zh-TW" altLang="en-GB" sz="1200" dirty="0"/>
              <a:t>𝛽</a:t>
            </a:r>
            <a:r>
              <a:rPr lang="en-GB" altLang="zh-TW" sz="1200" dirty="0"/>
              <a:t>°),</a:t>
            </a:r>
            <a:r>
              <a:rPr lang="zh-TW" altLang="en-GB" sz="1200" dirty="0"/>
              <a:t>𝛾 </a:t>
            </a:r>
            <a:r>
              <a:rPr lang="en-GB" altLang="zh-TW" sz="1200" dirty="0"/>
              <a:t>cos⁡(</a:t>
            </a:r>
            <a:r>
              <a:rPr lang="zh-TW" altLang="en-GB" sz="1200" dirty="0"/>
              <a:t>𝛼</a:t>
            </a:r>
            <a:r>
              <a:rPr lang="en-GB" altLang="zh-TW" sz="1200" dirty="0"/>
              <a:t>°) sin⁡(</a:t>
            </a:r>
            <a:r>
              <a:rPr lang="zh-TW" altLang="en-GB" sz="1200" dirty="0"/>
              <a:t>𝛽</a:t>
            </a:r>
            <a:r>
              <a:rPr lang="en-GB" altLang="zh-TW" sz="1200" dirty="0"/>
              <a:t>°),</a:t>
            </a:r>
            <a:r>
              <a:rPr lang="zh-TW" altLang="en-GB" sz="1200" dirty="0"/>
              <a:t>𝛾 </a:t>
            </a:r>
            <a:r>
              <a:rPr lang="en-GB" altLang="zh-TW" sz="1200" dirty="0"/>
              <a:t>sin⁡(</a:t>
            </a:r>
            <a:r>
              <a:rPr lang="zh-TW" altLang="en-GB" sz="1200" dirty="0"/>
              <a:t>𝛼</a:t>
            </a:r>
            <a:r>
              <a:rPr lang="en-GB" altLang="zh-TW" sz="1200" dirty="0"/>
              <a:t>°)</a:t>
            </a:r>
            <a:r>
              <a:rPr lang="en-US" altLang="zh-TW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EB6DB65-3EA5-4829-BFED-96AF803BDE73}"/>
                  </a:ext>
                </a:extLst>
              </p:cNvPr>
              <p:cNvSpPr txBox="1"/>
              <p:nvPr/>
            </p:nvSpPr>
            <p:spPr>
              <a:xfrm>
                <a:off x="680283" y="3515579"/>
                <a:ext cx="108472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100" dirty="0"/>
                  <a:t>(</a:t>
                </a:r>
                <a14:m>
                  <m:oMath xmlns:m="http://schemas.openxmlformats.org/officeDocument/2006/math">
                    <m:r>
                      <a:rPr lang="en-US" altLang="zh-TW" sz="11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11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TW" sz="1100" b="0" i="1" smtClean="0">
                        <a:latin typeface="Cambria Math" panose="02040503050406030204" pitchFamily="18" charset="0"/>
                      </a:rPr>
                      <m:t>,0,0</m:t>
                    </m:r>
                  </m:oMath>
                </a14:m>
                <a:r>
                  <a:rPr lang="en-US" altLang="zh-TW" sz="1100" dirty="0"/>
                  <a:t>)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EB6DB65-3EA5-4829-BFED-96AF803BD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83" y="3515579"/>
                <a:ext cx="1084729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DF5BE1E6-33EC-4FB6-94C3-6604BC419EA0}"/>
              </a:ext>
            </a:extLst>
          </p:cNvPr>
          <p:cNvSpPr txBox="1"/>
          <p:nvPr/>
        </p:nvSpPr>
        <p:spPr>
          <a:xfrm>
            <a:off x="2715306" y="526246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(a) 3D</a:t>
            </a:r>
            <a:r>
              <a:rPr lang="zh-TW" altLang="en-US" dirty="0"/>
              <a:t>視圖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3E0D7B9-8269-4E98-ACBA-974C0CCEB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007" y="4392826"/>
            <a:ext cx="4278813" cy="94487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F57C3A6-8ECC-4D00-BE41-75297DD2E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054" y="1327273"/>
            <a:ext cx="4140137" cy="209821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448E01-BAEE-4766-9C33-87224638116A}"/>
              </a:ext>
            </a:extLst>
          </p:cNvPr>
          <p:cNvSpPr txBox="1"/>
          <p:nvPr/>
        </p:nvSpPr>
        <p:spPr>
          <a:xfrm>
            <a:off x="7313840" y="3184954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(b) </a:t>
            </a:r>
            <a:r>
              <a:rPr lang="zh-TW" altLang="en-US" dirty="0"/>
              <a:t>側視圖</a:t>
            </a:r>
            <a:r>
              <a:rPr lang="en-US" altLang="zh-TW" dirty="0"/>
              <a:t>(</a:t>
            </a:r>
            <a:r>
              <a:rPr lang="en-US" altLang="zh-TW" dirty="0" err="1"/>
              <a:t>xz</a:t>
            </a:r>
            <a:r>
              <a:rPr lang="zh-TW" altLang="en-US" dirty="0"/>
              <a:t>平面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6B0DAFC-2FFE-4F38-9C8E-E49CC1408345}"/>
              </a:ext>
            </a:extLst>
          </p:cNvPr>
          <p:cNvSpPr txBox="1"/>
          <p:nvPr/>
        </p:nvSpPr>
        <p:spPr>
          <a:xfrm>
            <a:off x="7440840" y="5789881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(c)</a:t>
            </a:r>
            <a:r>
              <a:rPr lang="zh-TW" altLang="en-US" dirty="0"/>
              <a:t>上視圖</a:t>
            </a:r>
            <a:r>
              <a:rPr lang="en-US" altLang="zh-TW" dirty="0"/>
              <a:t>(</a:t>
            </a:r>
            <a:r>
              <a:rPr lang="en-US" altLang="zh-TW" dirty="0" err="1"/>
              <a:t>xy</a:t>
            </a:r>
            <a:r>
              <a:rPr lang="zh-TW" altLang="en-US" dirty="0"/>
              <a:t>平面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A6E2966-B6B7-4480-82E1-E210BD5D400D}"/>
              </a:ext>
            </a:extLst>
          </p:cNvPr>
          <p:cNvCxnSpPr>
            <a:cxnSpLocks/>
          </p:cNvCxnSpPr>
          <p:nvPr/>
        </p:nvCxnSpPr>
        <p:spPr>
          <a:xfrm>
            <a:off x="10569913" y="1666110"/>
            <a:ext cx="773" cy="1290822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B2CD124-37EE-4E7A-8655-23ED97EA9EAE}"/>
                  </a:ext>
                </a:extLst>
              </p:cNvPr>
              <p:cNvSpPr txBox="1"/>
              <p:nvPr/>
            </p:nvSpPr>
            <p:spPr>
              <a:xfrm>
                <a:off x="9809456" y="2211019"/>
                <a:ext cx="132229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GB" sz="1100" dirty="0" smtClean="0"/>
                        <m:t>𝛾</m:t>
                      </m:r>
                      <m:r>
                        <m:rPr>
                          <m:nor/>
                        </m:rPr>
                        <a:rPr lang="zh-TW" altLang="en-GB" sz="1100" dirty="0" smtClean="0"/>
                        <m:t> 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sin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(</m:t>
                      </m:r>
                      <m:r>
                        <m:rPr>
                          <m:nor/>
                        </m:rPr>
                        <a:rPr lang="zh-TW" altLang="en-GB" sz="1100" dirty="0" smtClean="0"/>
                        <m:t>𝛼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°)</m:t>
                      </m:r>
                    </m:oMath>
                  </m:oMathPara>
                </a14:m>
                <a:endParaRPr lang="zh-TW" altLang="en-US" sz="11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B2CD124-37EE-4E7A-8655-23ED97EA9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9456" y="2211019"/>
                <a:ext cx="1322294" cy="261610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AA33369-5E3C-4232-A9FD-9267965D7033}"/>
              </a:ext>
            </a:extLst>
          </p:cNvPr>
          <p:cNvCxnSpPr>
            <a:cxnSpLocks/>
          </p:cNvCxnSpPr>
          <p:nvPr/>
        </p:nvCxnSpPr>
        <p:spPr>
          <a:xfrm>
            <a:off x="10470604" y="4688158"/>
            <a:ext cx="0" cy="4840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F78757-19C1-40CE-BEF3-9107524B256A}"/>
                  </a:ext>
                </a:extLst>
              </p:cNvPr>
              <p:cNvSpPr txBox="1"/>
              <p:nvPr/>
            </p:nvSpPr>
            <p:spPr>
              <a:xfrm>
                <a:off x="9629203" y="5205974"/>
                <a:ext cx="125505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GB" sz="1100" dirty="0" smtClean="0"/>
                        <m:t>𝛾</m:t>
                      </m:r>
                      <m:r>
                        <m:rPr>
                          <m:nor/>
                        </m:rPr>
                        <a:rPr lang="zh-TW" altLang="en-GB" sz="1100" dirty="0" smtClean="0"/>
                        <m:t> 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cos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(</m:t>
                      </m:r>
                      <m:r>
                        <m:rPr>
                          <m:nor/>
                        </m:rPr>
                        <a:rPr lang="zh-TW" altLang="en-GB" sz="1100" dirty="0" smtClean="0"/>
                        <m:t>𝛼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°) 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sin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(</m:t>
                      </m:r>
                      <m:r>
                        <m:rPr>
                          <m:nor/>
                        </m:rPr>
                        <a:rPr lang="zh-TW" altLang="en-GB" sz="1100" dirty="0" smtClean="0"/>
                        <m:t>𝛽</m:t>
                      </m:r>
                      <m:r>
                        <m:rPr>
                          <m:nor/>
                        </m:rPr>
                        <a:rPr lang="en-GB" altLang="zh-TW" sz="1100" dirty="0" smtClean="0"/>
                        <m:t>°)</m:t>
                      </m:r>
                    </m:oMath>
                  </m:oMathPara>
                </a14:m>
                <a:endParaRPr lang="zh-TW" altLang="en-US" sz="11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F78757-19C1-40CE-BEF3-9107524B2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203" y="5205974"/>
                <a:ext cx="1255059" cy="261610"/>
              </a:xfrm>
              <a:prstGeom prst="rect">
                <a:avLst/>
              </a:prstGeom>
              <a:blipFill>
                <a:blip r:embed="rId7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6340122" y="1327273"/>
            <a:ext cx="4456008" cy="22270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6340122" y="3893123"/>
            <a:ext cx="4456008" cy="22254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947855" y="735980"/>
            <a:ext cx="39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947855" y="1217978"/>
            <a:ext cx="39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936704" y="1769737"/>
            <a:ext cx="39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Z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412612" y="1801405"/>
            <a:ext cx="3902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Z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607758" y="1367115"/>
            <a:ext cx="3902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Z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7468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D9AE3-4C20-460C-AF9D-CA4083F3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3374005-03F6-4AE0-9C5E-22FFDEDB70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760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/>
                  <a:t>目標是使線材尖端與插件孔面的法向量對齊，旋轉方法如圖所示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:r>
                  <a:rPr lang="zh-TW" altLang="en-US" dirty="0"/>
                  <a:t>為了抵銷一個平面上的角度分量，分別對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zh-TW" altLang="en-US" i="1">
                        <a:latin typeface="Cambria Math" panose="02040503050406030204" pitchFamily="18" charset="0"/>
                      </a:rPr>
                      <m:t>與</m:t>
                    </m:r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zh-TW" altLang="en-US" i="1">
                        <a:latin typeface="Cambria Math" panose="02040503050406030204" pitchFamily="18" charset="0"/>
                      </a:rPr>
                      <m:t>施加</m:t>
                    </m:r>
                  </m:oMath>
                </a14:m>
                <a:r>
                  <a:rPr lang="zh-TW" altLang="en-US" dirty="0"/>
                  <a:t>相反的旋轉方向，因此兩向量一方對右手定則正轉另一方對右手定則反轉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3374005-03F6-4AE0-9C5E-22FFDEDB7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7606"/>
                <a:ext cx="10515600" cy="4351338"/>
              </a:xfr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39B72FBD-666A-495A-AFF9-3DA3C2146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1050" y="2863850"/>
            <a:ext cx="10572750" cy="362902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0028055-69CB-4194-8A64-C672042FD47D}"/>
              </a:ext>
            </a:extLst>
          </p:cNvPr>
          <p:cNvSpPr txBox="1"/>
          <p:nvPr/>
        </p:nvSpPr>
        <p:spPr>
          <a:xfrm>
            <a:off x="781050" y="612354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上視圖</a:t>
            </a:r>
            <a:r>
              <a:rPr lang="en-US" altLang="zh-TW" dirty="0"/>
              <a:t>(</a:t>
            </a:r>
            <a:r>
              <a:rPr lang="en-US" altLang="zh-TW" dirty="0" err="1"/>
              <a:t>xy</a:t>
            </a:r>
            <a:r>
              <a:rPr lang="zh-TW" altLang="en-US" dirty="0"/>
              <a:t>平面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9724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518D7-B750-4AD1-8F18-88839E83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E09696-223D-4703-9826-4F69B9BC5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017" y="226751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2600" dirty="0"/>
                  <a:t>第一次旋轉</a:t>
                </a:r>
                <a:r>
                  <a:rPr lang="en-US" altLang="zh-TW" sz="2600" dirty="0"/>
                  <a:t>:</a:t>
                </a:r>
              </a:p>
              <a:p>
                <a:pPr marL="0" indent="0">
                  <a:buNone/>
                </a:pPr>
                <a:r>
                  <a:rPr lang="zh-TW" altLang="en-US" sz="2600" dirty="0"/>
                  <a:t>對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sz="2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sz="2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zh-TW" sz="260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TW" altLang="en-US" sz="2600" dirty="0"/>
                  <a:t>以</a:t>
                </a:r>
                <a:r>
                  <a:rPr lang="en-US" altLang="zh-TW" sz="2600" dirty="0"/>
                  <a:t>z</a:t>
                </a:r>
                <a:r>
                  <a:rPr lang="zh-TW" altLang="en-US" sz="2600" dirty="0"/>
                  <a:t>軸旋轉</a:t>
                </a:r>
                <a:r>
                  <a:rPr lang="en-US" altLang="zh-TW" sz="2600" dirty="0"/>
                  <a:t>-s</a:t>
                </a:r>
                <a:r>
                  <a:rPr lang="zh-TW" altLang="en-US" sz="2600" dirty="0"/>
                  <a:t>角度</a:t>
                </a:r>
                <a:r>
                  <a:rPr lang="en-US" altLang="zh-TW" sz="2600" dirty="0"/>
                  <a:t>(</a:t>
                </a:r>
                <a:r>
                  <a:rPr lang="zh-TW" altLang="en-US" sz="2600" dirty="0"/>
                  <a:t>以右手定則表示轉</a:t>
                </a:r>
                <a:r>
                  <a:rPr lang="en-US" altLang="zh-TW" sz="2600" dirty="0"/>
                  <a:t>-</a:t>
                </a:r>
                <a:r>
                  <a:rPr lang="zh-TW" altLang="en-US" sz="2600" dirty="0"/>
                  <a:t>角度</a:t>
                </a:r>
                <a:r>
                  <a:rPr lang="en-US" altLang="zh-TW" sz="26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AD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⃑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AD</m:t>
                          </m:r>
                        </m:e>
                      </m:ac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zh-TW" altLang="en-US" sz="2400" dirty="0"/>
                                  <m:t>𝛾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US" sz="24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cos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𝛼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°) 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cos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𝛽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°)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𝛾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cos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𝛼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°) 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sin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𝛽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°)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𝛾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sin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zh-TW" altLang="en-GB" sz="2400" dirty="0"/>
                                  <m:t>𝛼</m:t>
                                </m:r>
                                <m:r>
                                  <m:rPr>
                                    <m:nor/>
                                  </m:rPr>
                                  <a:rPr lang="en-GB" altLang="zh-TW" sz="2400" dirty="0"/>
                                  <m:t>°)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600" dirty="0"/>
              </a:p>
              <a:p>
                <a:pPr marL="0" indent="0">
                  <a:buNone/>
                </a:pPr>
                <a:r>
                  <a:rPr lang="zh-TW" altLang="en-US" sz="2400" dirty="0"/>
                  <a:t>對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zh-TW" altLang="en-US" sz="2400" dirty="0"/>
                  <a:t>以</a:t>
                </a:r>
                <a:r>
                  <a:rPr lang="en-US" altLang="zh-TW" sz="2400" dirty="0"/>
                  <a:t>z</a:t>
                </a:r>
                <a:r>
                  <a:rPr lang="zh-TW" altLang="en-US" sz="2400" dirty="0"/>
                  <a:t>軸旋轉</a:t>
                </a:r>
                <a:r>
                  <a:rPr lang="en-US" altLang="zh-TW" sz="2400" dirty="0"/>
                  <a:t>s</a:t>
                </a:r>
                <a:r>
                  <a:rPr lang="zh-TW" altLang="en-US" sz="2400" dirty="0"/>
                  <a:t>角度</a:t>
                </a:r>
                <a:r>
                  <a:rPr lang="en-US" altLang="zh-TW" sz="2400" dirty="0"/>
                  <a:t>(</a:t>
                </a:r>
                <a:r>
                  <a:rPr lang="zh-TW" altLang="en-US" sz="2400" dirty="0"/>
                  <a:t>以右手定則表示轉</a:t>
                </a:r>
                <a:r>
                  <a:rPr lang="en-US" altLang="zh-TW" sz="2400" dirty="0"/>
                  <a:t>+</a:t>
                </a:r>
                <a:r>
                  <a:rPr lang="zh-TW" altLang="en-US" sz="2400" dirty="0"/>
                  <a:t>角度</a:t>
                </a:r>
                <a:r>
                  <a:rPr lang="en-US" altLang="zh-TW" sz="24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⃑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CA</m:t>
                          </m:r>
                        </m:e>
                      </m:ac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600" dirty="0"/>
              </a:p>
              <a:p>
                <a:pPr marL="0" indent="0">
                  <a:buNone/>
                </a:pPr>
                <a:endParaRPr lang="zh-TW" altLang="en-US" sz="26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E09696-223D-4703-9826-4F69B9BC5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017" y="2267514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61D6338E-EE86-4A0B-A5CB-ED1948831401}"/>
              </a:ext>
            </a:extLst>
          </p:cNvPr>
          <p:cNvCxnSpPr>
            <a:cxnSpLocks/>
          </p:cNvCxnSpPr>
          <p:nvPr/>
        </p:nvCxnSpPr>
        <p:spPr>
          <a:xfrm flipH="1">
            <a:off x="8595139" y="4447971"/>
            <a:ext cx="1382905" cy="219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BE9E531-42F6-4CA5-8A76-35F4C6251846}"/>
              </a:ext>
            </a:extLst>
          </p:cNvPr>
          <p:cNvSpPr txBox="1"/>
          <p:nvPr/>
        </p:nvSpPr>
        <p:spPr>
          <a:xfrm>
            <a:off x="9980059" y="4234722"/>
            <a:ext cx="187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向量方向為</a:t>
            </a:r>
            <a:r>
              <a:rPr lang="en-US" altLang="zh-TW" dirty="0"/>
              <a:t>C-&gt;A</a:t>
            </a:r>
          </a:p>
          <a:p>
            <a:r>
              <a:rPr lang="zh-TW" altLang="en-US" dirty="0"/>
              <a:t>數值為正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3CFF55B-75CC-4720-8258-6C3B854CA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0309" y="109916"/>
            <a:ext cx="6701116" cy="230011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8C8F3AF9-FC9E-489F-954C-40C59BC4C976}"/>
              </a:ext>
            </a:extLst>
          </p:cNvPr>
          <p:cNvSpPr txBox="1"/>
          <p:nvPr/>
        </p:nvSpPr>
        <p:spPr>
          <a:xfrm>
            <a:off x="5040308" y="204069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上視圖</a:t>
            </a:r>
            <a:r>
              <a:rPr lang="en-US" altLang="zh-TW" dirty="0"/>
              <a:t>(</a:t>
            </a:r>
            <a:r>
              <a:rPr lang="en-US" altLang="zh-TW" dirty="0" err="1"/>
              <a:t>xy</a:t>
            </a:r>
            <a:r>
              <a:rPr lang="zh-TW" altLang="en-US" dirty="0"/>
              <a:t>平面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7173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3B264-24A5-4C03-9E21-6FC644ED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A161A18-6F41-42DB-A5B7-F8E04EE8C4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81514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TW" altLang="en-US" dirty="0"/>
                  <a:t>第二次旋轉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:r>
                  <a:rPr lang="zh-TW" altLang="en-US" dirty="0"/>
                  <a:t>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TW" sz="3200">
                                <a:latin typeface="Cambria Math" panose="02040503050406030204" pitchFamily="18" charset="0"/>
                              </a:rPr>
                              <m:t>AD</m:t>
                            </m:r>
                          </m:e>
                        </m:acc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TW" altLang="en-US" dirty="0"/>
                  <a:t>以</a:t>
                </a:r>
                <a:r>
                  <a:rPr lang="en-US" altLang="zh-TW" dirty="0"/>
                  <a:t>y</a:t>
                </a:r>
                <a:r>
                  <a:rPr lang="zh-TW" altLang="en-US" dirty="0"/>
                  <a:t>軸旋轉</a:t>
                </a:r>
                <a:r>
                  <a:rPr lang="en-US" altLang="zh-TW" dirty="0"/>
                  <a:t>r</a:t>
                </a:r>
                <a:r>
                  <a:rPr lang="zh-TW" altLang="en-US" dirty="0"/>
                  <a:t>角度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以右手定則表示轉</a:t>
                </a:r>
                <a:r>
                  <a:rPr lang="en-US" altLang="zh-TW" dirty="0"/>
                  <a:t>+</a:t>
                </a:r>
                <a:r>
                  <a:rPr lang="zh-TW" altLang="en-US" dirty="0"/>
                  <a:t>角度</a:t>
                </a:r>
                <a:r>
                  <a:rPr lang="en-US" altLang="zh-TW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AD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AD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 panose="02040503050406030204" pitchFamily="18" charset="0"/>
                                          </a:rPr>
                                          <m:t>AD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 panose="02040503050406030204" pitchFamily="18" charset="0"/>
                                          </a:rPr>
                                          <m:t>AD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 panose="02040503050406030204" pitchFamily="18" charset="0"/>
                                          </a:rPr>
                                          <m:t>AD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⃑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𝐴𝐻</m:t>
                          </m:r>
                        </m:e>
                      </m:acc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sz="2800" dirty="0"/>
                  <a:t>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TW" altLang="en-US" sz="2800" dirty="0"/>
                  <a:t>以</a:t>
                </a:r>
                <a:r>
                  <a:rPr lang="en-US" altLang="zh-TW" sz="2800" dirty="0"/>
                  <a:t>y</a:t>
                </a:r>
                <a:r>
                  <a:rPr lang="zh-TW" altLang="en-US" sz="2800" dirty="0"/>
                  <a:t>軸旋轉</a:t>
                </a:r>
                <a:r>
                  <a:rPr lang="en-US" altLang="zh-TW" sz="2800" dirty="0"/>
                  <a:t>-r</a:t>
                </a:r>
                <a:r>
                  <a:rPr lang="zh-TW" altLang="en-US" sz="2800" dirty="0"/>
                  <a:t>角度</a:t>
                </a:r>
                <a:r>
                  <a:rPr lang="en-US" altLang="zh-TW" sz="2800" dirty="0"/>
                  <a:t>(</a:t>
                </a:r>
                <a:r>
                  <a:rPr lang="zh-TW" altLang="en-US" sz="2800" dirty="0"/>
                  <a:t>以右手定則表示轉</a:t>
                </a:r>
                <a:r>
                  <a:rPr lang="en-US" altLang="zh-TW" dirty="0"/>
                  <a:t>-</a:t>
                </a:r>
                <a:r>
                  <a:rPr lang="zh-TW" altLang="en-US" sz="2800" dirty="0"/>
                  <a:t>角度</a:t>
                </a:r>
                <a:r>
                  <a:rPr lang="en-US" altLang="zh-TW" sz="28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CA</m:t>
                              </m:r>
                            </m:e>
                          </m:acc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CA</m:t>
                              </m:r>
                            </m:e>
                          </m:acc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 panose="02040503050406030204" pitchFamily="18" charset="0"/>
                                          </a:rPr>
                                          <m:t>CA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 panose="02040503050406030204" pitchFamily="18" charset="0"/>
                                          </a:rPr>
                                          <m:t>CA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 panose="02040503050406030204" pitchFamily="18" charset="0"/>
                                          </a:rPr>
                                          <m:t>CA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⃑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CG</m:t>
                          </m:r>
                        </m:e>
                      </m:acc>
                    </m:oMath>
                  </m:oMathPara>
                </a14:m>
                <a:endParaRPr lang="en-US" altLang="zh-TW" sz="2800" dirty="0"/>
              </a:p>
              <a:p>
                <a:pPr marL="0" indent="0">
                  <a:buNone/>
                </a:pPr>
                <a:endParaRPr lang="en-US" altLang="zh-TW" sz="280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A161A18-6F41-42DB-A5B7-F8E04EE8C4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81514"/>
                <a:ext cx="10515600" cy="4351338"/>
              </a:xfrm>
              <a:blipFill>
                <a:blip r:embed="rId3"/>
                <a:stretch>
                  <a:fillRect l="-1043" t="-23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EC155193-2936-48B7-B587-CB35DDD20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69542" y="55355"/>
            <a:ext cx="6284257" cy="2893023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05163301-8553-4C53-9DE6-42DD6898C526}"/>
              </a:ext>
            </a:extLst>
          </p:cNvPr>
          <p:cNvSpPr txBox="1"/>
          <p:nvPr/>
        </p:nvSpPr>
        <p:spPr>
          <a:xfrm>
            <a:off x="5069542" y="257904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側視圖</a:t>
            </a:r>
            <a:r>
              <a:rPr lang="en-US" altLang="zh-TW" dirty="0"/>
              <a:t>(</a:t>
            </a:r>
            <a:r>
              <a:rPr lang="en-US" altLang="zh-TW" dirty="0" err="1"/>
              <a:t>xz</a:t>
            </a:r>
            <a:r>
              <a:rPr lang="zh-TW" altLang="en-US" dirty="0"/>
              <a:t>平面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0155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201D819-A7EB-43B5-BD58-45919D87D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5765" y="1001713"/>
            <a:ext cx="5267695" cy="4029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D364F45-BAD6-411E-9054-0DA40250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E8A090C-7D46-4DF8-A30F-5FFD21BFD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5907157" cy="3508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dirty="0"/>
                  <a:t>由於向量沒有空間資訊，欲得到向量終點座標</a:t>
                </a:r>
                <a:r>
                  <a:rPr lang="en-US" altLang="zh-TW" dirty="0"/>
                  <a:t>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zh-TW" altLang="en-US" dirty="0"/>
                  <a:t>點位置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0" dirty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,0,0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CG</m:t>
                        </m:r>
                      </m:e>
                    </m:acc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TW" altLang="en-US" dirty="0"/>
                  <a:t>點位置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0,0,0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AH</m:t>
                        </m:r>
                      </m:e>
                    </m:acc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E8A090C-7D46-4DF8-A30F-5FFD21BFD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5907157" cy="3508375"/>
              </a:xfrm>
              <a:blipFill>
                <a:blip r:embed="rId3"/>
                <a:stretch>
                  <a:fillRect l="-2062" t="-2778" r="-9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15E30762-37BA-488F-BA99-ECAF3337C500}"/>
              </a:ext>
            </a:extLst>
          </p:cNvPr>
          <p:cNvSpPr txBox="1"/>
          <p:nvPr/>
        </p:nvSpPr>
        <p:spPr>
          <a:xfrm>
            <a:off x="6685765" y="472813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3D</a:t>
            </a:r>
            <a:r>
              <a:rPr lang="zh-TW" altLang="en-US" dirty="0"/>
              <a:t>視圖</a:t>
            </a:r>
          </a:p>
        </p:txBody>
      </p:sp>
    </p:spTree>
    <p:extLst>
      <p:ext uri="{BB962C8B-B14F-4D97-AF65-F5344CB8AC3E}">
        <p14:creationId xmlns:p14="http://schemas.microsoft.com/office/powerpoint/2010/main" val="3495168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7D2BD3-5399-4FD4-975C-EC7B4A2A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E95821C-283D-4501-BE08-78FB618DE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8444948" cy="46020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dirty="0"/>
                  <a:t>空間中兩點連線向量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)−(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欲證明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zh-TW" altLang="en-US" dirty="0"/>
                  <a:t>與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點到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軸距離為半徑形成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的圓之法向量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即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軸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單位向量相同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⃑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GH</m:t>
                          </m:r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GH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GH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GH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𝐺𝐻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⃑"/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GH</m:t>
                              </m:r>
                            </m:e>
                          </m:acc>
                        </m:num>
                        <m:den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||</m:t>
                          </m:r>
                          <m:acc>
                            <m:accPr>
                              <m:chr m:val="⃑"/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GH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||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𝐺𝐻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GH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𝐺𝐻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GH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𝐺𝐻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⃑"/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GH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=(1,0,0)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表示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zh-TW" altLang="en-US" dirty="0"/>
                  <a:t>與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軸對齊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E95821C-283D-4501-BE08-78FB618DE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8444948" cy="4602069"/>
              </a:xfrm>
              <a:blipFill>
                <a:blip r:embed="rId3"/>
                <a:stretch>
                  <a:fillRect l="-1516" t="-2119" b="-3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520A0AA0-C769-4B1C-8693-D51A7034B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593" y="697465"/>
            <a:ext cx="4848224" cy="28855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DBDD4A5-98A4-418F-9806-429FDD43BB7F}"/>
              </a:ext>
            </a:extLst>
          </p:cNvPr>
          <p:cNvSpPr txBox="1"/>
          <p:nvPr/>
        </p:nvSpPr>
        <p:spPr>
          <a:xfrm>
            <a:off x="6992593" y="321367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上視圖</a:t>
            </a:r>
            <a:r>
              <a:rPr lang="en-US" altLang="zh-TW" dirty="0"/>
              <a:t>(</a:t>
            </a:r>
            <a:r>
              <a:rPr lang="en-US" altLang="zh-TW" dirty="0" err="1"/>
              <a:t>xy</a:t>
            </a:r>
            <a:r>
              <a:rPr lang="zh-TW" altLang="en-US" dirty="0"/>
              <a:t>平面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3447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群組 16">
            <a:extLst>
              <a:ext uri="{FF2B5EF4-FFF2-40B4-BE49-F238E27FC236}">
                <a16:creationId xmlns:a16="http://schemas.microsoft.com/office/drawing/2014/main" id="{335416D1-D062-409D-ADFF-DC150AFB84AA}"/>
              </a:ext>
            </a:extLst>
          </p:cNvPr>
          <p:cNvGrpSpPr/>
          <p:nvPr/>
        </p:nvGrpSpPr>
        <p:grpSpPr>
          <a:xfrm>
            <a:off x="2655219" y="1085850"/>
            <a:ext cx="7069806" cy="4214834"/>
            <a:chOff x="2655219" y="1085850"/>
            <a:chExt cx="7069806" cy="4214834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5A0A9169-FC29-4EDF-AA7C-DBAA858F3ACA}"/>
                </a:ext>
              </a:extLst>
            </p:cNvPr>
            <p:cNvGrpSpPr/>
            <p:nvPr/>
          </p:nvGrpSpPr>
          <p:grpSpPr>
            <a:xfrm>
              <a:off x="2655219" y="1085850"/>
              <a:ext cx="7069806" cy="4214834"/>
              <a:chOff x="2655219" y="1085850"/>
              <a:chExt cx="7069806" cy="4214834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94252B9B-86BF-4142-9332-AB12CFBB4A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9" r="2209"/>
              <a:stretch/>
            </p:blipFill>
            <p:spPr>
              <a:xfrm>
                <a:off x="2655219" y="1085850"/>
                <a:ext cx="7069806" cy="4214834"/>
              </a:xfrm>
              <a:prstGeom prst="rect">
                <a:avLst/>
              </a:prstGeom>
              <a:ln>
                <a:noFill/>
              </a:ln>
            </p:spPr>
          </p:pic>
          <p:sp useBgFill="1"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9AECF04-EC64-40E3-8732-FA5B0EDBC51B}"/>
                  </a:ext>
                </a:extLst>
              </p:cNvPr>
              <p:cNvSpPr txBox="1"/>
              <p:nvPr/>
            </p:nvSpPr>
            <p:spPr>
              <a:xfrm flipH="1">
                <a:off x="8550503" y="2419349"/>
                <a:ext cx="488722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/>
                  <a:t>D</a:t>
                </a:r>
                <a:endParaRPr lang="en-US" altLang="zh-TW" sz="1400" dirty="0"/>
              </a:p>
            </p:txBody>
          </p:sp>
          <p:sp useBgFill="1"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49B102B-D12C-4D2B-9204-874520EEC8A0}"/>
                  </a:ext>
                </a:extLst>
              </p:cNvPr>
              <p:cNvSpPr txBox="1"/>
              <p:nvPr/>
            </p:nvSpPr>
            <p:spPr>
              <a:xfrm>
                <a:off x="7229542" y="3338661"/>
                <a:ext cx="268357" cy="400110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/>
                  <a:t>A</a:t>
                </a:r>
                <a:endParaRPr lang="zh-TW" altLang="en-US" sz="1100" dirty="0"/>
              </a:p>
            </p:txBody>
          </p:sp>
          <p:sp useBgFill="1"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17369B9-1821-422A-BD30-A6D764B88E4B}"/>
                  </a:ext>
                </a:extLst>
              </p:cNvPr>
              <p:cNvSpPr txBox="1"/>
              <p:nvPr/>
            </p:nvSpPr>
            <p:spPr>
              <a:xfrm>
                <a:off x="2954890" y="2734112"/>
                <a:ext cx="410721" cy="400110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/>
                  <a:t>C</a:t>
                </a:r>
                <a:endParaRPr lang="zh-TW" altLang="en-US" sz="1100" dirty="0"/>
              </a:p>
            </p:txBody>
          </p:sp>
          <p:sp useBgFill="1"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267186D-4FE2-4508-9394-77D3B0753E21}"/>
                  </a:ext>
                </a:extLst>
              </p:cNvPr>
              <p:cNvSpPr txBox="1"/>
              <p:nvPr/>
            </p:nvSpPr>
            <p:spPr>
              <a:xfrm>
                <a:off x="8878749" y="2657912"/>
                <a:ext cx="410721" cy="400110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solidFill>
                      <a:srgbClr val="7030A0"/>
                    </a:solidFill>
                  </a:rPr>
                  <a:t>H</a:t>
                </a:r>
                <a:endParaRPr lang="zh-TW" altLang="en-US" sz="1100" dirty="0">
                  <a:solidFill>
                    <a:srgbClr val="7030A0"/>
                  </a:solidFill>
                </a:endParaRPr>
              </a:p>
            </p:txBody>
          </p:sp>
          <p:sp useBgFill="1"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D8FB7C2-785C-4619-80CA-416AD8A391A7}"/>
                  </a:ext>
                </a:extLst>
              </p:cNvPr>
              <p:cNvSpPr txBox="1"/>
              <p:nvPr/>
            </p:nvSpPr>
            <p:spPr>
              <a:xfrm>
                <a:off x="6583224" y="2419349"/>
                <a:ext cx="410721" cy="400110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solidFill>
                      <a:srgbClr val="7030A0"/>
                    </a:solidFill>
                  </a:rPr>
                  <a:t>G</a:t>
                </a:r>
                <a:endParaRPr lang="zh-TW" altLang="en-US" sz="1100" dirty="0">
                  <a:solidFill>
                    <a:srgbClr val="7030A0"/>
                  </a:solidFill>
                </a:endParaRPr>
              </a:p>
            </p:txBody>
          </p:sp>
          <p:sp useBgFill="1"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6BAA166-E33B-4981-94D0-812347052743}"/>
                  </a:ext>
                </a:extLst>
              </p:cNvPr>
              <p:cNvSpPr txBox="1"/>
              <p:nvPr/>
            </p:nvSpPr>
            <p:spPr>
              <a:xfrm>
                <a:off x="7229542" y="1085850"/>
                <a:ext cx="377144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>
                    <a:solidFill>
                      <a:srgbClr val="00B050"/>
                    </a:solidFill>
                  </a:rPr>
                  <a:t>y</a:t>
                </a:r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  <p:sp useBgFill="1"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517F2-34C9-4645-A5A3-72D2D9C1A350}"/>
                  </a:ext>
                </a:extLst>
              </p:cNvPr>
              <p:cNvSpPr txBox="1"/>
              <p:nvPr/>
            </p:nvSpPr>
            <p:spPr>
              <a:xfrm>
                <a:off x="9329924" y="2546936"/>
                <a:ext cx="377144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>
                    <a:solidFill>
                      <a:srgbClr val="FF0000"/>
                    </a:solidFill>
                  </a:rPr>
                  <a:t>x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E0EC0E7-33F2-4DDC-897F-48468EF338BB}"/>
                </a:ext>
              </a:extLst>
            </p:cNvPr>
            <p:cNvSpPr/>
            <p:nvPr/>
          </p:nvSpPr>
          <p:spPr>
            <a:xfrm>
              <a:off x="6858233" y="2757903"/>
              <a:ext cx="2020515" cy="251011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D5FBDB7E-BA0A-4153-99CB-7B3A3EBCA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1315" y="4034636"/>
              <a:ext cx="187808" cy="231345"/>
            </a:xfrm>
            <a:prstGeom prst="straightConnector1">
              <a:avLst/>
            </a:prstGeom>
            <a:ln w="12700">
              <a:noFill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9882829-41A6-483B-8632-E4310CF58D05}"/>
                </a:ext>
              </a:extLst>
            </p:cNvPr>
            <p:cNvSpPr txBox="1"/>
            <p:nvPr/>
          </p:nvSpPr>
          <p:spPr>
            <a:xfrm>
              <a:off x="7363720" y="4198556"/>
              <a:ext cx="100540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TW" altLang="en-US" sz="3200" dirty="0"/>
                <a:t>圓面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1930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9EFE4-DF86-4C64-A083-435B2E22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結果檢視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04869AF-9D79-4D83-941F-BD646795D1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TW" altLang="en-US" dirty="0"/>
                  <a:t>經過計算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𝐺𝐻</m:t>
                        </m:r>
                      </m:sub>
                    </m:sSub>
                  </m:oMath>
                </a14:m>
                <a:r>
                  <a:rPr lang="zh-TW" altLang="en-US" dirty="0"/>
                  <a:t>，受到空間中旋轉的影響，此算法雖然可以扳回大角度的影響，但旋轉過後依然存在微小角度的趨勢並不能說完全與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軸同向共線。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計算</a:t>
                </a:r>
                <a:r>
                  <a:rPr lang="en-US" altLang="zh-TW" dirty="0" err="1"/>
                  <a:t>xy</a:t>
                </a:r>
                <a:r>
                  <a:rPr lang="zh-TW" altLang="en-US" dirty="0"/>
                  <a:t>方向上的斜率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zh-TW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極端狀況下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TW" altLang="en-US" dirty="0"/>
                  <a:t>皆不超過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TW" altLang="en-US" dirty="0"/>
                  <a:t>，實際移動距離夠近，則必定不會超出插線孔範圍。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err="1"/>
                  <a:t>xz</a:t>
                </a:r>
                <a:r>
                  <a:rPr lang="zh-TW" altLang="en-US" dirty="0"/>
                  <a:t>方向以及</a:t>
                </a:r>
                <a:r>
                  <a:rPr lang="en-US" altLang="zh-TW" dirty="0" err="1"/>
                  <a:t>yz</a:t>
                </a:r>
                <a:r>
                  <a:rPr lang="zh-TW" altLang="en-US" dirty="0"/>
                  <a:t>方向上斜率為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或無限大，表示不會因為一定距離出現角度偏移。</a:t>
                </a: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04869AF-9D79-4D83-941F-BD646795D1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7" t="-30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593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45B481-EF95-4D19-A5DB-0F461C6A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極端範例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5D35CE6-965C-4584-8684-598ECD823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1521" y="2105"/>
            <a:ext cx="5512379" cy="4351338"/>
          </a:xfr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701F9B5-B7D6-48DE-AC59-AADD3F2439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53" r="61559"/>
          <a:stretch/>
        </p:blipFill>
        <p:spPr>
          <a:xfrm>
            <a:off x="9932894" y="4513729"/>
            <a:ext cx="2052918" cy="1705213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FA81FE2-787C-4A4E-B5D6-851BC6D5BA43}"/>
              </a:ext>
            </a:extLst>
          </p:cNvPr>
          <p:cNvCxnSpPr>
            <a:cxnSpLocks/>
          </p:cNvCxnSpPr>
          <p:nvPr/>
        </p:nvCxnSpPr>
        <p:spPr>
          <a:xfrm flipH="1" flipV="1">
            <a:off x="10020484" y="3580898"/>
            <a:ext cx="665445" cy="987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368C146-E5BF-4560-88CC-BA24B516FFA9}"/>
                  </a:ext>
                </a:extLst>
              </p:cNvPr>
              <p:cNvSpPr txBox="1"/>
              <p:nvPr/>
            </p:nvSpPr>
            <p:spPr>
              <a:xfrm>
                <a:off x="986118" y="1690688"/>
                <a:ext cx="5897448" cy="1282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0.0126</m:t>
                      </m:r>
                    </m:oMath>
                  </m:oMathPara>
                </a14:m>
                <a:endParaRPr lang="en-US" altLang="zh-TW" sz="2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e>
                      </m:func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.72186°</m:t>
                      </m:r>
                    </m:oMath>
                  </m:oMathPara>
                </a14:m>
                <a:endParaRPr lang="en-US" altLang="zh-TW" sz="2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368C146-E5BF-4560-88CC-BA24B516F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118" y="1690688"/>
                <a:ext cx="5897448" cy="12820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7002508-428D-48C2-BCB7-AD033DBEBF99}"/>
                  </a:ext>
                </a:extLst>
              </p:cNvPr>
              <p:cNvSpPr txBox="1"/>
              <p:nvPr/>
            </p:nvSpPr>
            <p:spPr>
              <a:xfrm>
                <a:off x="548171" y="3377635"/>
                <a:ext cx="8172430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400" dirty="0"/>
                  <a:t>當線材幾乎彎折</a:t>
                </a:r>
                <a:r>
                  <a:rPr lang="en-US" altLang="zh-TW" sz="2400" dirty="0"/>
                  <a:t>90</a:t>
                </a:r>
                <a:r>
                  <a:rPr lang="zh-TW" altLang="en-US" sz="2400" dirty="0"/>
                  <a:t>度時，產生極端狀況。</a:t>
                </a:r>
                <a:br>
                  <a:rPr lang="en-US" altLang="zh-TW" sz="2400" dirty="0"/>
                </a:br>
                <a:r>
                  <a:rPr lang="zh-TW" altLang="en-US" sz="2400" dirty="0"/>
                  <a:t>實驗時，線材尖端與插件孔面距離為</a:t>
                </a:r>
                <a:r>
                  <a:rPr lang="en-US" altLang="zh-TW" sz="2400" dirty="0"/>
                  <a:t>15mm</a:t>
                </a:r>
              </a:p>
              <a:p>
                <a:r>
                  <a:rPr lang="zh-TW" altLang="en-US" sz="2400" dirty="0"/>
                  <a:t>斜率意義表明</a:t>
                </a:r>
                <a:r>
                  <a:rPr lang="en-US" altLang="zh-TW" sz="2400" dirty="0"/>
                  <a:t>x</a:t>
                </a:r>
                <a:r>
                  <a:rPr lang="zh-TW" altLang="en-US" sz="2400" dirty="0"/>
                  <a:t>軸方向每前進</a:t>
                </a:r>
                <a:r>
                  <a:rPr lang="en-US" altLang="zh-TW" sz="2400" dirty="0"/>
                  <a:t>1mm</a:t>
                </a:r>
                <a:r>
                  <a:rPr lang="zh-TW" altLang="en-US" sz="2400" dirty="0"/>
                  <a:t>，</a:t>
                </a:r>
                <a:r>
                  <a:rPr lang="en-US" altLang="zh-TW" sz="2400" dirty="0"/>
                  <a:t>y</a:t>
                </a:r>
                <a:r>
                  <a:rPr lang="zh-TW" altLang="en-US" sz="2400" dirty="0"/>
                  <a:t>軸方向偏移</a:t>
                </a:r>
                <a:r>
                  <a:rPr lang="en-US" altLang="zh-TW" sz="2400" dirty="0"/>
                  <a:t>0.0126mm</a:t>
                </a:r>
              </a:p>
              <a:p>
                <a:r>
                  <a:rPr lang="zh-TW" altLang="en-US" sz="2400" dirty="0"/>
                  <a:t>則到插線孔面前為</a:t>
                </a:r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0.0126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15=0.189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zh-TW" altLang="en-US" sz="2400" dirty="0"/>
                  <a:t>而實驗環境下的線材與插件孔面間的公差為</a:t>
                </a:r>
                <a:r>
                  <a:rPr lang="en-US" altLang="zh-TW" sz="2400" dirty="0"/>
                  <a:t>1.15mm</a:t>
                </a:r>
              </a:p>
              <a:p>
                <a:r>
                  <a:rPr lang="zh-TW" altLang="en-US" sz="2400" dirty="0"/>
                  <a:t>為其</a:t>
                </a:r>
                <a:r>
                  <a:rPr lang="en-US" altLang="zh-TW" sz="2400" dirty="0"/>
                  <a:t>6.1</a:t>
                </a:r>
                <a:r>
                  <a:rPr lang="zh-TW" altLang="en-US" sz="2400" dirty="0"/>
                  <a:t>倍差距，相較之下依然不影響實驗結果</a:t>
                </a:r>
                <a:endParaRPr lang="en-US" altLang="zh-TW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7002508-428D-48C2-BCB7-AD033DBEB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71" y="3377635"/>
                <a:ext cx="8172430" cy="2677656"/>
              </a:xfrm>
              <a:prstGeom prst="rect">
                <a:avLst/>
              </a:prstGeom>
              <a:blipFill>
                <a:blip r:embed="rId6"/>
                <a:stretch>
                  <a:fillRect l="-1193" t="-1595" b="-4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36AF028B-F084-41EA-A0D5-E704CDE19A73}"/>
              </a:ext>
            </a:extLst>
          </p:cNvPr>
          <p:cNvSpPr txBox="1"/>
          <p:nvPr/>
        </p:nvSpPr>
        <p:spPr>
          <a:xfrm>
            <a:off x="6735926" y="180459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3D</a:t>
            </a:r>
            <a:r>
              <a:rPr lang="zh-TW" altLang="en-US" dirty="0"/>
              <a:t>視圖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A662BC-C66F-42E6-8C4D-89C95C5A0541}"/>
              </a:ext>
            </a:extLst>
          </p:cNvPr>
          <p:cNvSpPr/>
          <p:nvPr/>
        </p:nvSpPr>
        <p:spPr>
          <a:xfrm>
            <a:off x="9305525" y="3172541"/>
            <a:ext cx="1342329" cy="512917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905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Verification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5C8A654-9683-4806-A6DD-C8C8AD841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73" y="1460967"/>
            <a:ext cx="5923847" cy="825033"/>
          </a:xfr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F5B61EF-6EC4-4219-A9AC-5037F51F8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8458" y="3494930"/>
            <a:ext cx="6801263" cy="2064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F49BEA5-7829-4C78-955C-5FEE73EB4DF3}"/>
                  </a:ext>
                </a:extLst>
              </p:cNvPr>
              <p:cNvSpPr txBox="1"/>
              <p:nvPr/>
            </p:nvSpPr>
            <p:spPr>
              <a:xfrm>
                <a:off x="566531" y="1621114"/>
                <a:ext cx="471114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TW" altLang="en-US" sz="2400" dirty="0"/>
                  <a:t>第一次施作時以手動方式插入線材，並記錄下手動校正的</a:t>
                </a:r>
                <a:r>
                  <a:rPr lang="en-US" altLang="zh-TW" sz="2400" dirty="0"/>
                  <a:t>TCP</a:t>
                </a:r>
                <a:r>
                  <a:rPr lang="zh-TW" altLang="en-US" sz="2400" dirty="0"/>
                  <a:t>位置、插件目標點位。</a:t>
                </a:r>
                <a:endParaRPr lang="en-US" altLang="zh-TW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TW" altLang="en-US" sz="2400" dirty="0"/>
                  <a:t>將</a:t>
                </a:r>
                <a:r>
                  <a:rPr lang="en-US" altLang="zh-TW" sz="2400" dirty="0"/>
                  <a:t>TCP</a:t>
                </a:r>
                <a:r>
                  <a:rPr lang="zh-TW" altLang="en-US" sz="2400" dirty="0"/>
                  <a:t>、點位資訊、手臂</a:t>
                </a:r>
                <a:r>
                  <a:rPr lang="en-US" altLang="zh-TW" sz="2400" dirty="0"/>
                  <a:t>MDH</a:t>
                </a:r>
                <a:r>
                  <a:rPr lang="zh-TW" altLang="en-US" sz="2400" dirty="0"/>
                  <a:t>參數放入</a:t>
                </a:r>
                <a:r>
                  <a:rPr lang="en-US" altLang="zh-TW" sz="2400" dirty="0"/>
                  <a:t>MATLAB</a:t>
                </a:r>
                <a:r>
                  <a:rPr lang="zh-TW" altLang="en-US" sz="2400" dirty="0"/>
                  <a:t>以程式碼的方式執行與</a:t>
                </a:r>
                <a:r>
                  <a:rPr lang="en-US" altLang="zh-TW" sz="2400" dirty="0" err="1"/>
                  <a:t>Geogebra</a:t>
                </a:r>
                <a:r>
                  <a:rPr lang="zh-TW" altLang="en-US" sz="2400" dirty="0"/>
                  <a:t>上類似的計算方式，最後以逆運動學的函式求出軸</a:t>
                </a:r>
                <a:r>
                  <a:rPr lang="en-US" altLang="zh-TW" sz="2400" dirty="0"/>
                  <a:t>1~</a:t>
                </a:r>
                <a:r>
                  <a:rPr lang="zh-TW" altLang="en-US" sz="2400" dirty="0"/>
                  <a:t>軸</a:t>
                </a:r>
                <a:r>
                  <a:rPr lang="en-US" altLang="zh-TW" sz="2400" dirty="0"/>
                  <a:t>6</a:t>
                </a:r>
                <a:r>
                  <a:rPr lang="zh-TW" altLang="en-US" sz="2400" dirty="0"/>
                  <a:t>角度，程式上確定容許誤差為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2400" dirty="0"/>
                  <a:t>mm</a:t>
                </a:r>
                <a:r>
                  <a:rPr lang="zh-TW" altLang="en-US" sz="2400" dirty="0"/>
                  <a:t>，右圖為特定歪斜角度情況下，</a:t>
                </a:r>
                <a:r>
                  <a:rPr lang="en-US" altLang="zh-TW" sz="2400" dirty="0"/>
                  <a:t>MATLAB</a:t>
                </a:r>
                <a:r>
                  <a:rPr lang="zh-TW" altLang="en-US" sz="2400" dirty="0"/>
                  <a:t>計算補償各軸新的角度並代入實體手臂結果。</a:t>
                </a:r>
                <a:endParaRPr lang="en-US" altLang="zh-TW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F49BEA5-7829-4C78-955C-5FEE73EB4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31" y="1621114"/>
                <a:ext cx="4711148" cy="4524315"/>
              </a:xfrm>
              <a:prstGeom prst="rect">
                <a:avLst/>
              </a:prstGeom>
              <a:blipFill>
                <a:blip r:embed="rId4"/>
                <a:stretch>
                  <a:fillRect l="-1811" t="-943" r="-1682" b="-22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3AB8BA0F-B5D3-435F-83D0-C979C11EFE6F}"/>
              </a:ext>
            </a:extLst>
          </p:cNvPr>
          <p:cNvSpPr txBox="1"/>
          <p:nvPr/>
        </p:nvSpPr>
        <p:spPr>
          <a:xfrm>
            <a:off x="7123353" y="2408143"/>
            <a:ext cx="299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4. </a:t>
            </a:r>
            <a:r>
              <a:rPr lang="zh-TW" altLang="en-US" dirty="0"/>
              <a:t>實驗結果與數學公式</a:t>
            </a:r>
          </a:p>
        </p:txBody>
      </p:sp>
    </p:spTree>
    <p:extLst>
      <p:ext uri="{BB962C8B-B14F-4D97-AF65-F5344CB8AC3E}">
        <p14:creationId xmlns:p14="http://schemas.microsoft.com/office/powerpoint/2010/main" val="4228217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EF04C2-7D73-4D1A-A6E1-53E7906B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BC7FB2-507D-4180-8245-E15AA629C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14" y="1320147"/>
            <a:ext cx="10856679" cy="4351338"/>
          </a:xfrm>
        </p:spPr>
        <p:txBody>
          <a:bodyPr/>
          <a:lstStyle/>
          <a:p>
            <a:r>
              <a:rPr lang="zh-TW" altLang="en-US" dirty="0"/>
              <a:t>當理想</a:t>
            </a:r>
            <a:r>
              <a:rPr lang="en-US" altLang="zh-TW" dirty="0"/>
              <a:t>TCP</a:t>
            </a:r>
            <a:r>
              <a:rPr lang="zh-TW" altLang="en-US" dirty="0"/>
              <a:t>固定為向左</a:t>
            </a:r>
            <a:r>
              <a:rPr lang="en-US" altLang="zh-TW" dirty="0"/>
              <a:t>15</a:t>
            </a:r>
            <a:r>
              <a:rPr lang="zh-TW" altLang="en-US" dirty="0"/>
              <a:t>度時，在模擬上對向左</a:t>
            </a:r>
            <a:r>
              <a:rPr lang="en-US" altLang="zh-TW" dirty="0"/>
              <a:t>15</a:t>
            </a:r>
            <a:r>
              <a:rPr lang="zh-TW" altLang="en-US" dirty="0"/>
              <a:t>度修正為</a:t>
            </a:r>
            <a:r>
              <a:rPr lang="en-US" altLang="zh-TW" dirty="0"/>
              <a:t>0</a:t>
            </a:r>
            <a:r>
              <a:rPr lang="zh-TW" altLang="en-US" dirty="0"/>
              <a:t>度時</a:t>
            </a:r>
            <a:endParaRPr lang="en-US" altLang="zh-TW" dirty="0"/>
          </a:p>
          <a:p>
            <a:r>
              <a:rPr lang="zh-TW" altLang="en-US" dirty="0"/>
              <a:t>各軸角度如下</a:t>
            </a:r>
            <a:r>
              <a:rPr lang="en-US" altLang="zh-TW" dirty="0"/>
              <a:t>:</a:t>
            </a:r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17AB1215-56B9-415B-9AB4-8FF0EF5A4707}"/>
              </a:ext>
            </a:extLst>
          </p:cNvPr>
          <p:cNvGrpSpPr/>
          <p:nvPr/>
        </p:nvGrpSpPr>
        <p:grpSpPr>
          <a:xfrm>
            <a:off x="5965170" y="2336967"/>
            <a:ext cx="6004643" cy="4351338"/>
            <a:chOff x="5965170" y="2336967"/>
            <a:chExt cx="6004643" cy="435133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B40A964-9C3B-4931-A335-D16591DBA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170" y="2336967"/>
              <a:ext cx="6004643" cy="4351338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6E76075-C129-4A0A-AF40-13032CD3D45F}"/>
                </a:ext>
              </a:extLst>
            </p:cNvPr>
            <p:cNvSpPr/>
            <p:nvPr/>
          </p:nvSpPr>
          <p:spPr>
            <a:xfrm>
              <a:off x="9771529" y="3048000"/>
              <a:ext cx="1855694" cy="115644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DDB08D50-BF52-4EA9-AA43-9CEF449D936D}"/>
              </a:ext>
            </a:extLst>
          </p:cNvPr>
          <p:cNvGrpSpPr/>
          <p:nvPr/>
        </p:nvGrpSpPr>
        <p:grpSpPr>
          <a:xfrm>
            <a:off x="258357" y="2336967"/>
            <a:ext cx="5801784" cy="4351338"/>
            <a:chOff x="258357" y="2336967"/>
            <a:chExt cx="5801784" cy="4351338"/>
          </a:xfrm>
        </p:grpSpPr>
        <p:pic>
          <p:nvPicPr>
            <p:cNvPr id="4" name="內容版面配置區 4">
              <a:extLst>
                <a:ext uri="{FF2B5EF4-FFF2-40B4-BE49-F238E27FC236}">
                  <a16:creationId xmlns:a16="http://schemas.microsoft.com/office/drawing/2014/main" id="{DA6D1299-E212-4F25-B5F0-73738CD66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357" y="2336967"/>
              <a:ext cx="5801784" cy="435133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ADEFDDF-CA27-49BD-A6E4-67E269129CA3}"/>
                </a:ext>
              </a:extLst>
            </p:cNvPr>
            <p:cNvSpPr/>
            <p:nvPr/>
          </p:nvSpPr>
          <p:spPr>
            <a:xfrm>
              <a:off x="600215" y="5100918"/>
              <a:ext cx="1793361" cy="10578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0078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1B3C6-8C61-4E33-BE0D-A92EB68C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實驗結果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55A2CF9-6AE9-42D9-813D-5B7952D9E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42" y="1481883"/>
            <a:ext cx="6066806" cy="4550105"/>
          </a:xfr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D8D1162-8DA5-4821-A93F-61E96A2AF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288" y="1686369"/>
            <a:ext cx="6002712" cy="434993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E5E4574-E75F-4829-BFC9-2E194BD6A777}"/>
              </a:ext>
            </a:extLst>
          </p:cNvPr>
          <p:cNvSpPr/>
          <p:nvPr/>
        </p:nvSpPr>
        <p:spPr>
          <a:xfrm>
            <a:off x="9995646" y="2366990"/>
            <a:ext cx="1873624" cy="1185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D9EBEE-54C7-4657-B307-54F73444AB8A}"/>
              </a:ext>
            </a:extLst>
          </p:cNvPr>
          <p:cNvSpPr txBox="1"/>
          <p:nvPr/>
        </p:nvSpPr>
        <p:spPr>
          <a:xfrm>
            <a:off x="5054569" y="630820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實體與虛擬環境對比</a:t>
            </a:r>
          </a:p>
        </p:txBody>
      </p:sp>
    </p:spTree>
    <p:extLst>
      <p:ext uri="{BB962C8B-B14F-4D97-AF65-F5344CB8AC3E}">
        <p14:creationId xmlns:p14="http://schemas.microsoft.com/office/powerpoint/2010/main" val="150923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09922AF-0E4B-4286-BA7D-14652A3DDE56}"/>
              </a:ext>
            </a:extLst>
          </p:cNvPr>
          <p:cNvGrpSpPr/>
          <p:nvPr/>
        </p:nvGrpSpPr>
        <p:grpSpPr>
          <a:xfrm>
            <a:off x="1305851" y="-1299898"/>
            <a:ext cx="9322905" cy="8676184"/>
            <a:chOff x="663120" y="369875"/>
            <a:chExt cx="9322905" cy="867618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D5DDB8D-196F-47D7-9136-7842D443D9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3120" y="369875"/>
              <a:ext cx="3090775" cy="2732199"/>
              <a:chOff x="5854149" y="3557617"/>
              <a:chExt cx="3541562" cy="313068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FB2F38A-988F-43B4-9EF8-86E6F13FDF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854149" y="3557617"/>
                <a:ext cx="3541562" cy="31306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1638E20-8ED8-4914-8D6D-AAE186EE10F2}"/>
                  </a:ext>
                </a:extLst>
              </p:cNvPr>
              <p:cNvSpPr/>
              <p:nvPr/>
            </p:nvSpPr>
            <p:spPr>
              <a:xfrm>
                <a:off x="8040756" y="3832386"/>
                <a:ext cx="1232453" cy="99803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0761752C-0FB4-4F6D-90F2-B34E02187C6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3120" y="3341869"/>
              <a:ext cx="3642931" cy="2732198"/>
              <a:chOff x="-4984413" y="1276106"/>
              <a:chExt cx="5801784" cy="435133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8" name="內容版面配置區 4">
                <a:extLst>
                  <a:ext uri="{FF2B5EF4-FFF2-40B4-BE49-F238E27FC236}">
                    <a16:creationId xmlns:a16="http://schemas.microsoft.com/office/drawing/2014/main" id="{1F43C09D-51DD-4E4B-BAB8-A316FD9DE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984413" y="1276106"/>
                <a:ext cx="5801784" cy="435133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28433A-4256-47A9-A4A4-627033808C21}"/>
                  </a:ext>
                </a:extLst>
              </p:cNvPr>
              <p:cNvSpPr/>
              <p:nvPr/>
            </p:nvSpPr>
            <p:spPr>
              <a:xfrm>
                <a:off x="-4642555" y="4040056"/>
                <a:ext cx="1793362" cy="105783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10" name="內容版面配置區 4">
              <a:extLst>
                <a:ext uri="{FF2B5EF4-FFF2-40B4-BE49-F238E27FC236}">
                  <a16:creationId xmlns:a16="http://schemas.microsoft.com/office/drawing/2014/main" id="{734E3B64-196D-4D97-91F5-1DB634136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120" y="6313862"/>
              <a:ext cx="3642929" cy="273219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7563D0F5-B209-4D53-8B94-BCFE6ADFA649}"/>
                </a:ext>
              </a:extLst>
            </p:cNvPr>
            <p:cNvSpPr txBox="1"/>
            <p:nvPr/>
          </p:nvSpPr>
          <p:spPr>
            <a:xfrm>
              <a:off x="4715767" y="7495294"/>
              <a:ext cx="3558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(c) </a:t>
              </a:r>
              <a:r>
                <a:rPr lang="en-GB" altLang="zh-TW" dirty="0"/>
                <a:t>Physical insertion experiment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DFE26B7-7AAC-4479-9F22-64F8E06F62A6}"/>
                </a:ext>
              </a:extLst>
            </p:cNvPr>
            <p:cNvSpPr txBox="1"/>
            <p:nvPr/>
          </p:nvSpPr>
          <p:spPr>
            <a:xfrm>
              <a:off x="4715767" y="1551308"/>
              <a:ext cx="5270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 Joint angles calculated by MATLAB simulation</a:t>
              </a:r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FA050E25-B744-4DC3-A77C-E5F1714E7EA2}"/>
                </a:ext>
              </a:extLst>
            </p:cNvPr>
            <p:cNvSpPr txBox="1"/>
            <p:nvPr/>
          </p:nvSpPr>
          <p:spPr>
            <a:xfrm>
              <a:off x="4715767" y="4523301"/>
              <a:ext cx="5270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 Comparison with the teaching pendant display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27128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60C69A-F062-4C7C-A55C-D3C9F50E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齊次變換方程式計算方法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F6C9B39-005E-4AA0-B74F-DE32079E3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/>
                  <a:t>對於手臂齊次變換方程式</a:t>
                </a:r>
                <a:r>
                  <a:rPr lang="en-US" altLang="zh-TW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</m:e>
                      </m:sPre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J1~J6</a:t>
                </a:r>
                <a:r>
                  <a:rPr lang="zh-TW" altLang="en-US" dirty="0"/>
                  <a:t>為手臂本身是固定值，由前面所述</a:t>
                </a:r>
                <a:r>
                  <a:rPr lang="en-US" altLang="zh-TW" dirty="0"/>
                  <a:t>J6~J7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J6</a:t>
                </a:r>
                <a:r>
                  <a:rPr lang="zh-TW" altLang="en-US" dirty="0"/>
                  <a:t>延伸出的一個位移，</a:t>
                </a:r>
                <a:r>
                  <a:rPr lang="en-US" altLang="zh-TW" dirty="0"/>
                  <a:t>J7~J8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J7</a:t>
                </a:r>
                <a:r>
                  <a:rPr lang="zh-TW" altLang="en-US" dirty="0"/>
                  <a:t>往</a:t>
                </a:r>
                <a:r>
                  <a:rPr lang="en-US" altLang="zh-TW" dirty="0"/>
                  <a:t>J8</a:t>
                </a:r>
                <a:r>
                  <a:rPr lang="zh-TW" altLang="en-US" dirty="0"/>
                  <a:t>在空間有一個角度並延伸出去作為線材的尖端，可整合為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sPre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 panose="02040503050406030204" pitchFamily="18" charset="0"/>
                                          </a:rPr>
                                          <m:t>C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CA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CA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AD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AD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AD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F6C9B39-005E-4AA0-B74F-DE32079E3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475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D98B8-43C5-41AC-B518-724AADE7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齊次變換方程式計算方法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01AC95E-1EEA-4E2D-B428-5614E6094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/>
                  <a:t>加入旋轉修正方法後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sPre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(−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zh-TW" altLang="en-US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dirty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dirty="0">
                                            <a:latin typeface="Cambria Math" panose="02040503050406030204" pitchFamily="18" charset="0"/>
                                          </a:rPr>
                                          <m:t>CA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zh-TW" altLang="en-US" i="1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dirty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(−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acc>
                                      <m:accPr>
                                        <m:chr m:val="⃑"/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dirty="0">
                                            <a:latin typeface="Cambria Math" panose="02040503050406030204" pitchFamily="18" charset="0"/>
                                          </a:rPr>
                                          <m:t>AD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經過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  <m:sPre>
                            <m:sPre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  <m:sup>
                              <m: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sPre>
                        </m:e>
                      </m:sPre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可以得知</a:t>
                </a:r>
                <a:r>
                  <a:rPr lang="en-US" altLang="zh-TW" dirty="0"/>
                  <a:t>D</a:t>
                </a:r>
                <a:r>
                  <a:rPr lang="zh-TW" altLang="en-US" dirty="0"/>
                  <a:t>點位置於手臂世界座標中的位置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基座座標</a:t>
                </a:r>
                <a:r>
                  <a:rPr lang="en-US" altLang="zh-TW" dirty="0"/>
                  <a:t>)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01AC95E-1EEA-4E2D-B428-5614E6094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左大括弧 3">
            <a:extLst>
              <a:ext uri="{FF2B5EF4-FFF2-40B4-BE49-F238E27FC236}">
                <a16:creationId xmlns:a16="http://schemas.microsoft.com/office/drawing/2014/main" id="{472B2914-C27F-4934-B031-72A8303FCA6C}"/>
              </a:ext>
            </a:extLst>
          </p:cNvPr>
          <p:cNvSpPr/>
          <p:nvPr/>
        </p:nvSpPr>
        <p:spPr>
          <a:xfrm rot="16200000">
            <a:off x="3750375" y="1432998"/>
            <a:ext cx="233549" cy="3758454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82E9CCA-72A5-48E4-AD29-E92C7F4748E1}"/>
              </a:ext>
            </a:extLst>
          </p:cNvPr>
          <p:cNvSpPr txBox="1"/>
          <p:nvPr/>
        </p:nvSpPr>
        <p:spPr>
          <a:xfrm>
            <a:off x="2312877" y="3462431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第一段</a:t>
            </a:r>
            <a:r>
              <a:rPr lang="en-US" altLang="zh-TW" dirty="0"/>
              <a:t>:</a:t>
            </a:r>
            <a:r>
              <a:rPr lang="zh-TW" altLang="en-US" dirty="0"/>
              <a:t>從</a:t>
            </a:r>
            <a:r>
              <a:rPr lang="en-US" altLang="zh-TW" dirty="0"/>
              <a:t>C</a:t>
            </a:r>
            <a:r>
              <a:rPr lang="zh-TW" altLang="en-US" dirty="0"/>
              <a:t>到</a:t>
            </a:r>
            <a:r>
              <a:rPr lang="en-US" altLang="zh-TW" dirty="0"/>
              <a:t>A</a:t>
            </a:r>
            <a:r>
              <a:rPr lang="zh-TW" altLang="en-US" dirty="0"/>
              <a:t>的移動與旋轉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5845221-5D63-4564-B091-A2682266841B}"/>
              </a:ext>
            </a:extLst>
          </p:cNvPr>
          <p:cNvSpPr txBox="1"/>
          <p:nvPr/>
        </p:nvSpPr>
        <p:spPr>
          <a:xfrm>
            <a:off x="7132534" y="3462431"/>
            <a:ext cx="3110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第二段</a:t>
            </a:r>
            <a:r>
              <a:rPr lang="en-US" altLang="zh-TW" dirty="0"/>
              <a:t>:</a:t>
            </a:r>
            <a:r>
              <a:rPr lang="zh-TW" altLang="en-US" dirty="0"/>
              <a:t>從</a:t>
            </a:r>
            <a:r>
              <a:rPr lang="en-US" altLang="zh-TW" dirty="0"/>
              <a:t>A</a:t>
            </a:r>
            <a:r>
              <a:rPr lang="zh-TW" altLang="en-US" dirty="0"/>
              <a:t>到</a:t>
            </a:r>
            <a:r>
              <a:rPr lang="en-US" altLang="zh-TW" dirty="0"/>
              <a:t>D</a:t>
            </a:r>
            <a:r>
              <a:rPr lang="zh-TW" altLang="en-US" dirty="0"/>
              <a:t>的移動與旋轉</a:t>
            </a:r>
          </a:p>
        </p:txBody>
      </p:sp>
      <p:sp>
        <p:nvSpPr>
          <p:cNvPr id="8" name="左大括弧 7">
            <a:extLst>
              <a:ext uri="{FF2B5EF4-FFF2-40B4-BE49-F238E27FC236}">
                <a16:creationId xmlns:a16="http://schemas.microsoft.com/office/drawing/2014/main" id="{AE117274-B526-4414-AD1C-250DCC62FCEF}"/>
              </a:ext>
            </a:extLst>
          </p:cNvPr>
          <p:cNvSpPr/>
          <p:nvPr/>
        </p:nvSpPr>
        <p:spPr>
          <a:xfrm rot="16200000">
            <a:off x="8571137" y="1432998"/>
            <a:ext cx="233549" cy="3758454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403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2106B-D814-4CD8-A40D-DAC14B25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245BA45-F8E3-485B-8258-EEBC2EE21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17" y="696804"/>
            <a:ext cx="7023652" cy="9824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B462526-D87B-47F0-8816-7DEBA867027E}"/>
              </a:ext>
            </a:extLst>
          </p:cNvPr>
          <p:cNvSpPr txBox="1"/>
          <p:nvPr/>
        </p:nvSpPr>
        <p:spPr>
          <a:xfrm>
            <a:off x="616226" y="1875354"/>
            <a:ext cx="44328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/>
              <a:t>現行研究以固定角度夾爪手指代替視覺判斷線材彎折角度。</a:t>
            </a:r>
            <a:endParaRPr lang="en-US" altLang="zh-TW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400" dirty="0"/>
              <a:t>未來加入相機以視覺方式辨識線材彎折角度，搭配原有線材治具，目標是實現能每次都進行彎折修正的自動化插件，並且可以應用於各式各樣的手臂上，也能基於插件產品的公差等修正模擬時的演算法。</a:t>
            </a:r>
            <a:endParaRPr lang="en-US" altLang="zh-TW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EDDD20E-2290-4A24-B2C8-A7BA6B7E0E70}"/>
              </a:ext>
            </a:extLst>
          </p:cNvPr>
          <p:cNvSpPr txBox="1"/>
          <p:nvPr/>
        </p:nvSpPr>
        <p:spPr>
          <a:xfrm>
            <a:off x="7575273" y="1690688"/>
            <a:ext cx="1838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步驟</a:t>
            </a:r>
            <a:r>
              <a:rPr lang="en-US" altLang="zh-TW" dirty="0"/>
              <a:t>5.</a:t>
            </a:r>
            <a:r>
              <a:rPr lang="zh-TW" altLang="en-US" dirty="0"/>
              <a:t> 未來目標</a:t>
            </a:r>
          </a:p>
        </p:txBody>
      </p:sp>
      <p:pic>
        <p:nvPicPr>
          <p:cNvPr id="34" name="內容版面配置區 33">
            <a:extLst>
              <a:ext uri="{FF2B5EF4-FFF2-40B4-BE49-F238E27FC236}">
                <a16:creationId xmlns:a16="http://schemas.microsoft.com/office/drawing/2014/main" id="{46B7ED27-D9FE-4AF2-AAC7-C9B7C08EE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8607" y="2162372"/>
            <a:ext cx="5072070" cy="4169488"/>
          </a:xfr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789173F1-7AF0-49E0-836E-B5846A9AABCB}"/>
              </a:ext>
            </a:extLst>
          </p:cNvPr>
          <p:cNvSpPr txBox="1"/>
          <p:nvPr/>
        </p:nvSpPr>
        <p:spPr>
          <a:xfrm>
            <a:off x="7712349" y="6331860"/>
            <a:ext cx="156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研究成果運用</a:t>
            </a:r>
          </a:p>
        </p:txBody>
      </p:sp>
    </p:spTree>
    <p:extLst>
      <p:ext uri="{BB962C8B-B14F-4D97-AF65-F5344CB8AC3E}">
        <p14:creationId xmlns:p14="http://schemas.microsoft.com/office/powerpoint/2010/main" val="4840434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CD9B24C-F895-4D13-B7C9-7D4DA7297F67}"/>
              </a:ext>
            </a:extLst>
          </p:cNvPr>
          <p:cNvCxnSpPr/>
          <p:nvPr/>
        </p:nvCxnSpPr>
        <p:spPr>
          <a:xfrm>
            <a:off x="3261688" y="4391273"/>
            <a:ext cx="44539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99FD5879-33ED-4476-B1C4-6C78C8C146CF}"/>
              </a:ext>
            </a:extLst>
          </p:cNvPr>
          <p:cNvCxnSpPr>
            <a:cxnSpLocks/>
          </p:cNvCxnSpPr>
          <p:nvPr/>
        </p:nvCxnSpPr>
        <p:spPr>
          <a:xfrm flipV="1">
            <a:off x="3707085" y="4703474"/>
            <a:ext cx="467348" cy="55659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1">
            <a:extLst>
              <a:ext uri="{FF2B5EF4-FFF2-40B4-BE49-F238E27FC236}">
                <a16:creationId xmlns:a16="http://schemas.microsoft.com/office/drawing/2014/main" id="{14B1A1B1-5962-45EB-A63F-8A32D0555536}"/>
              </a:ext>
            </a:extLst>
          </p:cNvPr>
          <p:cNvGrpSpPr/>
          <p:nvPr/>
        </p:nvGrpSpPr>
        <p:grpSpPr>
          <a:xfrm>
            <a:off x="1490659" y="198034"/>
            <a:ext cx="9002874" cy="6235413"/>
            <a:chOff x="1490659" y="198034"/>
            <a:chExt cx="9002874" cy="6235413"/>
          </a:xfrm>
        </p:grpSpPr>
        <p:pic>
          <p:nvPicPr>
            <p:cNvPr id="4" name="內容版面配置區 4">
              <a:extLst>
                <a:ext uri="{FF2B5EF4-FFF2-40B4-BE49-F238E27FC236}">
                  <a16:creationId xmlns:a16="http://schemas.microsoft.com/office/drawing/2014/main" id="{C7CD7EC5-C00C-484D-9226-8E42ECDF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7823" y="2987410"/>
              <a:ext cx="3438525" cy="2962275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2B8124E-9C02-4F24-AE0D-A2100ADF6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4333" y="2987413"/>
              <a:ext cx="3949696" cy="29622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image13.png">
              <a:extLst>
                <a:ext uri="{FF2B5EF4-FFF2-40B4-BE49-F238E27FC236}">
                  <a16:creationId xmlns:a16="http://schemas.microsoft.com/office/drawing/2014/main" id="{321CDEB7-86F7-4257-B716-CC3005122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987823" y="198034"/>
              <a:ext cx="4761128" cy="22727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EDB7E3E-BD78-4149-B62A-E4E62578D701}"/>
                </a:ext>
              </a:extLst>
            </p:cNvPr>
            <p:cNvSpPr txBox="1"/>
            <p:nvPr/>
          </p:nvSpPr>
          <p:spPr>
            <a:xfrm>
              <a:off x="1929146" y="2505522"/>
              <a:ext cx="4691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 Camera identification of the wire tip pose</a:t>
              </a:r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C8341C9D-22FF-4169-B7D0-06C323660632}"/>
                </a:ext>
              </a:extLst>
            </p:cNvPr>
            <p:cNvSpPr txBox="1"/>
            <p:nvPr/>
          </p:nvSpPr>
          <p:spPr>
            <a:xfrm>
              <a:off x="1490659" y="6064115"/>
              <a:ext cx="4432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(c) Import the model used in this research</a:t>
              </a:r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87ECEB4-C8BF-4098-91E0-0221973838B9}"/>
                </a:ext>
              </a:extLst>
            </p:cNvPr>
            <p:cNvSpPr txBox="1"/>
            <p:nvPr/>
          </p:nvSpPr>
          <p:spPr>
            <a:xfrm>
              <a:off x="5923511" y="6064115"/>
              <a:ext cx="3873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(d) Future application add in camera</a:t>
              </a:r>
              <a:endParaRPr lang="zh-TW" altLang="en-US" dirty="0"/>
            </a:p>
          </p:txBody>
        </p:sp>
        <p:pic>
          <p:nvPicPr>
            <p:cNvPr id="14" name="image1.png">
              <a:extLst>
                <a:ext uri="{FF2B5EF4-FFF2-40B4-BE49-F238E27FC236}">
                  <a16:creationId xmlns:a16="http://schemas.microsoft.com/office/drawing/2014/main" id="{354FE8A4-8DD1-434F-99B4-00DF51A30D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6756"/>
            <a:stretch/>
          </p:blipFill>
          <p:spPr bwMode="auto">
            <a:xfrm>
              <a:off x="6861144" y="198034"/>
              <a:ext cx="2682885" cy="227272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A7568C11-C329-44FA-85F6-1C6CCB029438}"/>
                </a:ext>
              </a:extLst>
            </p:cNvPr>
            <p:cNvSpPr txBox="1"/>
            <p:nvPr/>
          </p:nvSpPr>
          <p:spPr>
            <a:xfrm>
              <a:off x="6620416" y="2505522"/>
              <a:ext cx="3873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</a:t>
              </a:r>
              <a:r>
                <a:rPr lang="zh-TW" altLang="en-US" dirty="0"/>
                <a:t> </a:t>
              </a:r>
              <a:r>
                <a:rPr lang="en-US" altLang="zh-TW" dirty="0"/>
                <a:t>Import wire tip position to </a:t>
              </a:r>
              <a:r>
                <a:rPr lang="en-US" altLang="zh-TW" dirty="0" err="1"/>
                <a:t>Matlab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8913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36B50-CE74-4001-944E-1C298A14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169D58-3C83-4F2F-AF02-07B4FF348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acc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b="0" dirty="0"/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sPre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169D58-3C83-4F2F-AF02-07B4FF348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66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6130</TotalTime>
  <Words>2858</Words>
  <Application>Microsoft Office PowerPoint</Application>
  <PresentationFormat>寬螢幕</PresentationFormat>
  <Paragraphs>331</Paragraphs>
  <Slides>36</Slides>
  <Notes>20</Notes>
  <HiddenSlides>13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3" baseType="lpstr">
      <vt:lpstr>Microsoft JhengHei</vt:lpstr>
      <vt:lpstr>Microsoft JhengHei</vt:lpstr>
      <vt:lpstr>Arial</vt:lpstr>
      <vt:lpstr>Calibri</vt:lpstr>
      <vt:lpstr>Cambria Math</vt:lpstr>
      <vt:lpstr>Poor Richard</vt:lpstr>
      <vt:lpstr>Office 佈景主題</vt:lpstr>
      <vt:lpstr>Thesis progress</vt:lpstr>
      <vt:lpstr>口試用流程圖</vt:lpstr>
      <vt:lpstr>Motivation </vt:lpstr>
      <vt:lpstr>Motivation</vt:lpstr>
      <vt:lpstr>WorkFlow</vt:lpstr>
      <vt:lpstr>Wire Insertion</vt:lpstr>
      <vt:lpstr>PowerPoint 簡報</vt:lpstr>
      <vt:lpstr>Modified Denavit-Hartenberg</vt:lpstr>
      <vt:lpstr>Modeling</vt:lpstr>
      <vt:lpstr>PowerPoint 簡報</vt:lpstr>
      <vt:lpstr>PowerPoint 簡報</vt:lpstr>
      <vt:lpstr>TCP offset</vt:lpstr>
      <vt:lpstr>PowerPoint 簡報</vt:lpstr>
      <vt:lpstr>法向量對齊</vt:lpstr>
      <vt:lpstr>計算流程</vt:lpstr>
      <vt:lpstr>計算流程</vt:lpstr>
      <vt:lpstr>PowerPoint 簡報</vt:lpstr>
      <vt:lpstr>計算流程</vt:lpstr>
      <vt:lpstr>PowerPoint 簡報</vt:lpstr>
      <vt:lpstr>計算流程</vt:lpstr>
      <vt:lpstr>計算流程</vt:lpstr>
      <vt:lpstr>計算流程</vt:lpstr>
      <vt:lpstr>計算流程</vt:lpstr>
      <vt:lpstr>計算流程</vt:lpstr>
      <vt:lpstr>PowerPoint 簡報</vt:lpstr>
      <vt:lpstr>結果檢視</vt:lpstr>
      <vt:lpstr>極端範例</vt:lpstr>
      <vt:lpstr>Verification</vt:lpstr>
      <vt:lpstr>實驗結果</vt:lpstr>
      <vt:lpstr>實驗結果</vt:lpstr>
      <vt:lpstr>PowerPoint 簡報</vt:lpstr>
      <vt:lpstr>齊次變換方程式計算方法</vt:lpstr>
      <vt:lpstr>齊次變換方程式計算方法</vt:lpstr>
      <vt:lpstr>Future work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M11351033</dc:creator>
  <cp:lastModifiedBy>M11351033</cp:lastModifiedBy>
  <cp:revision>213</cp:revision>
  <dcterms:created xsi:type="dcterms:W3CDTF">2026-04-28T05:37:41Z</dcterms:created>
  <dcterms:modified xsi:type="dcterms:W3CDTF">2026-08-12T13:26:17Z</dcterms:modified>
</cp:coreProperties>
</file>