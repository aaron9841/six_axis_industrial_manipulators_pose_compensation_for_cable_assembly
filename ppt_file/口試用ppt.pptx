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7" r:id="rId2"/>
    <p:sldId id="315" r:id="rId3"/>
    <p:sldId id="310" r:id="rId4"/>
    <p:sldId id="297" r:id="rId5"/>
    <p:sldId id="273" r:id="rId6"/>
    <p:sldId id="290" r:id="rId7"/>
    <p:sldId id="308" r:id="rId8"/>
    <p:sldId id="300" r:id="rId9"/>
    <p:sldId id="292" r:id="rId10"/>
    <p:sldId id="274" r:id="rId11"/>
    <p:sldId id="275" r:id="rId12"/>
    <p:sldId id="276" r:id="rId13"/>
    <p:sldId id="278" r:id="rId14"/>
    <p:sldId id="277" r:id="rId15"/>
    <p:sldId id="280" r:id="rId16"/>
    <p:sldId id="281" r:id="rId17"/>
    <p:sldId id="282" r:id="rId18"/>
    <p:sldId id="293" r:id="rId19"/>
    <p:sldId id="283" r:id="rId20"/>
    <p:sldId id="284" r:id="rId21"/>
    <p:sldId id="307" r:id="rId22"/>
    <p:sldId id="311" r:id="rId23"/>
    <p:sldId id="285" r:id="rId24"/>
    <p:sldId id="286" r:id="rId25"/>
    <p:sldId id="309" r:id="rId26"/>
    <p:sldId id="313" r:id="rId27"/>
    <p:sldId id="312" r:id="rId28"/>
    <p:sldId id="314" r:id="rId29"/>
    <p:sldId id="316" r:id="rId30"/>
    <p:sldId id="287" r:id="rId31"/>
  </p:sldIdLst>
  <p:sldSz cx="12192000" cy="6858000"/>
  <p:notesSz cx="6797675" cy="99266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87821" autoAdjust="0"/>
  </p:normalViewPr>
  <p:slideViewPr>
    <p:cSldViewPr snapToGrid="0">
      <p:cViewPr varScale="1">
        <p:scale>
          <a:sx n="99" d="100"/>
          <a:sy n="99" d="100"/>
        </p:scale>
        <p:origin x="504" y="48"/>
      </p:cViewPr>
      <p:guideLst/>
    </p:cSldViewPr>
  </p:slideViewPr>
  <p:outlineViewPr>
    <p:cViewPr>
      <p:scale>
        <a:sx n="33" d="100"/>
        <a:sy n="33" d="100"/>
      </p:scale>
      <p:origin x="0" y="-352"/>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35743366-784C-46C3-AFD6-F18FB121F1B6}" type="datetimeFigureOut">
              <a:rPr lang="zh-TW" altLang="en-US" smtClean="0"/>
              <a:t>2026/8/10</a:t>
            </a:fld>
            <a:endParaRPr lang="zh-TW" altLang="en-US"/>
          </a:p>
        </p:txBody>
      </p:sp>
      <p:sp>
        <p:nvSpPr>
          <p:cNvPr id="4" name="投影片影像版面配置區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4B12BBA-2391-4BFE-B4EF-B2D4EE163621}" type="slidenum">
              <a:rPr lang="zh-TW" altLang="en-US" smtClean="0"/>
              <a:t>‹#›</a:t>
            </a:fld>
            <a:endParaRPr lang="zh-TW" altLang="en-US"/>
          </a:p>
        </p:txBody>
      </p:sp>
    </p:spTree>
    <p:extLst>
      <p:ext uri="{BB962C8B-B14F-4D97-AF65-F5344CB8AC3E}">
        <p14:creationId xmlns:p14="http://schemas.microsoft.com/office/powerpoint/2010/main" val="2177455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歡迎各位評審委員的蒞臨指導，我是智慧製造所的研究生黃柏舜，今天我要報告的論文題目是</a:t>
            </a:r>
            <a:r>
              <a:rPr lang="zh-TW" altLang="en-US" sz="1200" dirty="0"/>
              <a:t>六軸工業機械手臂的線材組件姿態補償，我的指導教授是梁書豪博士。</a:t>
            </a:r>
            <a:endParaRPr lang="en-US" altLang="zh-TW" sz="1200" dirty="0"/>
          </a:p>
        </p:txBody>
      </p:sp>
      <p:sp>
        <p:nvSpPr>
          <p:cNvPr id="4" name="投影片編號版面配置區 3"/>
          <p:cNvSpPr>
            <a:spLocks noGrp="1"/>
          </p:cNvSpPr>
          <p:nvPr>
            <p:ph type="sldNum" sz="quarter" idx="5"/>
          </p:nvPr>
        </p:nvSpPr>
        <p:spPr/>
        <p:txBody>
          <a:bodyPr/>
          <a:lstStyle/>
          <a:p>
            <a:fld id="{B4B12BBA-2391-4BFE-B4EF-B2D4EE163621}" type="slidenum">
              <a:rPr lang="zh-TW" altLang="en-US" smtClean="0"/>
              <a:t>1</a:t>
            </a:fld>
            <a:endParaRPr lang="zh-TW" altLang="en-US"/>
          </a:p>
        </p:txBody>
      </p:sp>
    </p:spTree>
    <p:extLst>
      <p:ext uri="{BB962C8B-B14F-4D97-AF65-F5344CB8AC3E}">
        <p14:creationId xmlns:p14="http://schemas.microsoft.com/office/powerpoint/2010/main" val="496623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本次報告的大鋼如下，主要會依序介紹本研究的動機、方法論、流程圖、實驗與驗證，最後是未來展望</a:t>
            </a:r>
          </a:p>
        </p:txBody>
      </p:sp>
      <p:sp>
        <p:nvSpPr>
          <p:cNvPr id="4" name="投影片編號版面配置區 3"/>
          <p:cNvSpPr>
            <a:spLocks noGrp="1"/>
          </p:cNvSpPr>
          <p:nvPr>
            <p:ph type="sldNum" sz="quarter" idx="5"/>
          </p:nvPr>
        </p:nvSpPr>
        <p:spPr/>
        <p:txBody>
          <a:bodyPr/>
          <a:lstStyle/>
          <a:p>
            <a:fld id="{B4B12BBA-2391-4BFE-B4EF-B2D4EE163621}" type="slidenum">
              <a:rPr lang="zh-TW" altLang="en-US" smtClean="0"/>
              <a:t>2</a:t>
            </a:fld>
            <a:endParaRPr lang="zh-TW" altLang="en-US"/>
          </a:p>
        </p:txBody>
      </p:sp>
    </p:spTree>
    <p:extLst>
      <p:ext uri="{BB962C8B-B14F-4D97-AF65-F5344CB8AC3E}">
        <p14:creationId xmlns:p14="http://schemas.microsoft.com/office/powerpoint/2010/main" val="316889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t>
            </a:r>
            <a:r>
              <a:rPr lang="zh-TW" altLang="en-US" dirty="0"/>
              <a:t>之挑戰，因此本研究聚焦</a:t>
            </a:r>
            <a:r>
              <a:rPr lang="en-US" altLang="zh-TW" dirty="0"/>
              <a:t>3</a:t>
            </a:r>
            <a:r>
              <a:rPr lang="zh-TW" altLang="en-US" dirty="0"/>
              <a:t>個重點，第一是工業界常常使用商用的手臂做自動化，但是商用手臂的內部運動學演算法跟補償邏輯是不會讓使用者知道的，這限制了手臂在面對複雜組裝的參數自訂能力，第二是柔性線性物件的問題，手臂夾起這類材料時容易彎折，導致控制困難，因此本研究</a:t>
            </a:r>
            <a:r>
              <a:rPr lang="en-US" altLang="zh-TW" dirty="0"/>
              <a:t>!</a:t>
            </a:r>
            <a:r>
              <a:rPr lang="zh-TW" altLang="en-US" dirty="0"/>
              <a:t>開發一個通用的模型，優勢在於即使不同的商用手臂與不同的柔性線性物件，只要依照本研究的開發流程就都能套用的姿態補償模型</a:t>
            </a:r>
            <a:endParaRPr lang="en-US" altLang="zh-TW" dirty="0"/>
          </a:p>
        </p:txBody>
      </p:sp>
      <p:sp>
        <p:nvSpPr>
          <p:cNvPr id="4" name="投影片編號版面配置區 3"/>
          <p:cNvSpPr>
            <a:spLocks noGrp="1"/>
          </p:cNvSpPr>
          <p:nvPr>
            <p:ph type="sldNum" sz="quarter" idx="5"/>
          </p:nvPr>
        </p:nvSpPr>
        <p:spPr/>
        <p:txBody>
          <a:bodyPr/>
          <a:lstStyle/>
          <a:p>
            <a:fld id="{B4B12BBA-2391-4BFE-B4EF-B2D4EE163621}" type="slidenum">
              <a:rPr lang="zh-TW" altLang="en-US" smtClean="0"/>
              <a:t>3</a:t>
            </a:fld>
            <a:endParaRPr lang="zh-TW" altLang="en-US"/>
          </a:p>
        </p:txBody>
      </p:sp>
    </p:spTree>
    <p:extLst>
      <p:ext uri="{BB962C8B-B14F-4D97-AF65-F5344CB8AC3E}">
        <p14:creationId xmlns:p14="http://schemas.microsoft.com/office/powerpoint/2010/main" val="1953477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為了建構最終的姿態補償模型，本研究從兩點出發，首先</a:t>
            </a:r>
            <a:endParaRPr lang="en-US" altLang="zh-TW" dirty="0"/>
          </a:p>
        </p:txBody>
      </p:sp>
      <p:sp>
        <p:nvSpPr>
          <p:cNvPr id="4" name="投影片編號版面配置區 3"/>
          <p:cNvSpPr>
            <a:spLocks noGrp="1"/>
          </p:cNvSpPr>
          <p:nvPr>
            <p:ph type="sldNum" sz="quarter" idx="5"/>
          </p:nvPr>
        </p:nvSpPr>
        <p:spPr/>
        <p:txBody>
          <a:bodyPr/>
          <a:lstStyle/>
          <a:p>
            <a:fld id="{B4B12BBA-2391-4BFE-B4EF-B2D4EE163621}" type="slidenum">
              <a:rPr lang="zh-TW" altLang="en-US" smtClean="0"/>
              <a:t>4</a:t>
            </a:fld>
            <a:endParaRPr lang="zh-TW" altLang="en-US"/>
          </a:p>
        </p:txBody>
      </p:sp>
    </p:spTree>
    <p:extLst>
      <p:ext uri="{BB962C8B-B14F-4D97-AF65-F5344CB8AC3E}">
        <p14:creationId xmlns:p14="http://schemas.microsoft.com/office/powerpoint/2010/main" val="1707638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因此本研究的流程分成以下</a:t>
            </a:r>
            <a:r>
              <a:rPr lang="en-US" altLang="zh-TW" dirty="0"/>
              <a:t>5</a:t>
            </a:r>
            <a:r>
              <a:rPr lang="zh-TW" altLang="en-US" dirty="0"/>
              <a:t>步</a:t>
            </a:r>
            <a:r>
              <a:rPr lang="en-US" altLang="zh-TW" dirty="0"/>
              <a:t>:</a:t>
            </a:r>
            <a:r>
              <a:rPr lang="zh-TW" altLang="en-US" dirty="0"/>
              <a:t>第一步以手動方式進行插件，確定環境沒有問題、第二步針對商用機械手臂進行建模，可以繞過控制器底層不可修改的問題、第三步針對線材前端彎折部分做出分析，補償角度彎折問題，第四步則是將前三步驟的方法合併在一起形成通用模型，並在實體環境中做驗證，該模型涵蓋第二步與第三步優點，可以不限於任何六軸手臂、對於柔性線性材料做夾取姿態補償，最後則是有關該研究的未來展望，接下來的投影片中將會依序介紹以上所有步驟</a:t>
            </a:r>
            <a:endParaRPr lang="en-US" altLang="zh-TW" dirty="0"/>
          </a:p>
        </p:txBody>
      </p:sp>
      <p:sp>
        <p:nvSpPr>
          <p:cNvPr id="4" name="投影片編號版面配置區 3"/>
          <p:cNvSpPr>
            <a:spLocks noGrp="1"/>
          </p:cNvSpPr>
          <p:nvPr>
            <p:ph type="sldNum" sz="quarter" idx="5"/>
          </p:nvPr>
        </p:nvSpPr>
        <p:spPr/>
        <p:txBody>
          <a:bodyPr/>
          <a:lstStyle/>
          <a:p>
            <a:fld id="{BF04EF62-ED8F-4DCE-8F8C-FB3FE10D185C}" type="slidenum">
              <a:rPr lang="zh-TW" altLang="en-US" smtClean="0"/>
              <a:t>5</a:t>
            </a:fld>
            <a:endParaRPr lang="zh-TW" altLang="en-US"/>
          </a:p>
        </p:txBody>
      </p:sp>
    </p:spTree>
    <p:extLst>
      <p:ext uri="{BB962C8B-B14F-4D97-AF65-F5344CB8AC3E}">
        <p14:creationId xmlns:p14="http://schemas.microsoft.com/office/powerpoint/2010/main" val="1912205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第一步是手動插件</a:t>
            </a:r>
          </a:p>
        </p:txBody>
      </p:sp>
      <p:sp>
        <p:nvSpPr>
          <p:cNvPr id="4" name="投影片編號版面配置區 3"/>
          <p:cNvSpPr>
            <a:spLocks noGrp="1"/>
          </p:cNvSpPr>
          <p:nvPr>
            <p:ph type="sldNum" sz="quarter" idx="5"/>
          </p:nvPr>
        </p:nvSpPr>
        <p:spPr/>
        <p:txBody>
          <a:bodyPr/>
          <a:lstStyle/>
          <a:p>
            <a:fld id="{BF04EF62-ED8F-4DCE-8F8C-FB3FE10D185C}" type="slidenum">
              <a:rPr lang="zh-TW" altLang="en-US" smtClean="0"/>
              <a:t>6</a:t>
            </a:fld>
            <a:endParaRPr lang="zh-TW" altLang="en-US"/>
          </a:p>
        </p:txBody>
      </p:sp>
    </p:spTree>
    <p:extLst>
      <p:ext uri="{BB962C8B-B14F-4D97-AF65-F5344CB8AC3E}">
        <p14:creationId xmlns:p14="http://schemas.microsoft.com/office/powerpoint/2010/main" val="803201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在第二步，手臂建模的主要目的是因為商用的運動學模型通常是無法存取的，</a:t>
            </a:r>
            <a:r>
              <a:rPr lang="zh-TW" altLang="en-US" sz="1200" dirty="0">
                <a:solidFill>
                  <a:srgbClr val="FF0000"/>
                </a:solidFill>
              </a:rPr>
              <a:t>為了後續的插件系統的模擬，將手臂完整建模是必須的，本研究使用的方法是</a:t>
            </a:r>
            <a:r>
              <a:rPr lang="en-US" altLang="zh-TW" sz="1200" dirty="0">
                <a:solidFill>
                  <a:srgbClr val="FF0000"/>
                </a:solidFill>
              </a:rPr>
              <a:t>…</a:t>
            </a:r>
            <a:r>
              <a:rPr lang="zh-TW" altLang="en-US" sz="1200" dirty="0">
                <a:solidFill>
                  <a:srgbClr val="FF0000"/>
                </a:solidFill>
              </a:rPr>
              <a:t>，如坐標系定義的圖所示，左邊是定義各軸框架，右邊是手臂參數表</a:t>
            </a:r>
            <a:endParaRPr lang="zh-TW" altLang="en-US" dirty="0"/>
          </a:p>
        </p:txBody>
      </p:sp>
      <p:sp>
        <p:nvSpPr>
          <p:cNvPr id="4" name="投影片編號版面配置區 3"/>
          <p:cNvSpPr>
            <a:spLocks noGrp="1"/>
          </p:cNvSpPr>
          <p:nvPr>
            <p:ph type="sldNum" sz="quarter" idx="5"/>
          </p:nvPr>
        </p:nvSpPr>
        <p:spPr/>
        <p:txBody>
          <a:bodyPr/>
          <a:lstStyle/>
          <a:p>
            <a:fld id="{BF04EF62-ED8F-4DCE-8F8C-FB3FE10D185C}" type="slidenum">
              <a:rPr lang="zh-TW" altLang="en-US" smtClean="0"/>
              <a:t>7</a:t>
            </a:fld>
            <a:endParaRPr lang="zh-TW" altLang="en-US"/>
          </a:p>
        </p:txBody>
      </p:sp>
    </p:spTree>
    <p:extLst>
      <p:ext uri="{BB962C8B-B14F-4D97-AF65-F5344CB8AC3E}">
        <p14:creationId xmlns:p14="http://schemas.microsoft.com/office/powerpoint/2010/main" val="3152435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手臂建模的結果如右圖所示，這個模型</a:t>
            </a:r>
            <a:r>
              <a:rPr lang="zh-TW" altLang="en-US" sz="1200" dirty="0"/>
              <a:t>可以模擬實體手臂的動作，並依照給予的各軸角度做變化，也可以在模擬空間中移動。</a:t>
            </a:r>
            <a:endParaRPr lang="zh-TW" altLang="en-US" dirty="0"/>
          </a:p>
        </p:txBody>
      </p:sp>
      <p:sp>
        <p:nvSpPr>
          <p:cNvPr id="4" name="投影片編號版面配置區 3"/>
          <p:cNvSpPr>
            <a:spLocks noGrp="1"/>
          </p:cNvSpPr>
          <p:nvPr>
            <p:ph type="sldNum" sz="quarter" idx="5"/>
          </p:nvPr>
        </p:nvSpPr>
        <p:spPr/>
        <p:txBody>
          <a:bodyPr/>
          <a:lstStyle/>
          <a:p>
            <a:fld id="{BF04EF62-ED8F-4DCE-8F8C-FB3FE10D185C}" type="slidenum">
              <a:rPr lang="zh-TW" altLang="en-US" smtClean="0"/>
              <a:t>8</a:t>
            </a:fld>
            <a:endParaRPr lang="zh-TW" altLang="en-US"/>
          </a:p>
        </p:txBody>
      </p:sp>
    </p:spTree>
    <p:extLst>
      <p:ext uri="{BB962C8B-B14F-4D97-AF65-F5344CB8AC3E}">
        <p14:creationId xmlns:p14="http://schemas.microsoft.com/office/powerpoint/2010/main" val="2153473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第三步驟是對於線材尖端的彎折進行補償，可以從右圖看到理想</a:t>
            </a:r>
            <a:r>
              <a:rPr lang="en-US" altLang="zh-TW" dirty="0"/>
              <a:t>TCP</a:t>
            </a:r>
            <a:r>
              <a:rPr lang="zh-TW" altLang="en-US" dirty="0"/>
              <a:t>的位置是夾爪手指夾起的直線延伸，而實際情況多是彎折的實際</a:t>
            </a:r>
            <a:r>
              <a:rPr lang="en-US" altLang="zh-TW" dirty="0"/>
              <a:t>TCP</a:t>
            </a:r>
            <a:r>
              <a:rPr lang="zh-TW" altLang="en-US" dirty="0"/>
              <a:t>，與理想</a:t>
            </a:r>
            <a:r>
              <a:rPr lang="en-US" altLang="zh-TW" dirty="0"/>
              <a:t>TCP</a:t>
            </a:r>
            <a:r>
              <a:rPr lang="zh-TW" altLang="en-US" dirty="0"/>
              <a:t>之間呈現一個夾角，這個步驟最重要的一點是在實體手臂</a:t>
            </a:r>
            <a:r>
              <a:rPr lang="en-US" altLang="zh-TW" dirty="0"/>
              <a:t>…</a:t>
            </a:r>
          </a:p>
        </p:txBody>
      </p:sp>
      <p:sp>
        <p:nvSpPr>
          <p:cNvPr id="4" name="投影片編號版面配置區 3"/>
          <p:cNvSpPr>
            <a:spLocks noGrp="1"/>
          </p:cNvSpPr>
          <p:nvPr>
            <p:ph type="sldNum" sz="quarter" idx="5"/>
          </p:nvPr>
        </p:nvSpPr>
        <p:spPr/>
        <p:txBody>
          <a:bodyPr/>
          <a:lstStyle/>
          <a:p>
            <a:fld id="{BF04EF62-ED8F-4DCE-8F8C-FB3FE10D185C}" type="slidenum">
              <a:rPr lang="zh-TW" altLang="en-US" smtClean="0"/>
              <a:t>9</a:t>
            </a:fld>
            <a:endParaRPr lang="zh-TW" altLang="en-US"/>
          </a:p>
        </p:txBody>
      </p:sp>
    </p:spTree>
    <p:extLst>
      <p:ext uri="{BB962C8B-B14F-4D97-AF65-F5344CB8AC3E}">
        <p14:creationId xmlns:p14="http://schemas.microsoft.com/office/powerpoint/2010/main" val="6690940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講完了怎麼做</a:t>
            </a:r>
            <a:r>
              <a:rPr lang="en-US" altLang="zh-TW" dirty="0"/>
              <a:t>TCP</a:t>
            </a:r>
            <a:r>
              <a:rPr lang="zh-TW" altLang="en-US" dirty="0"/>
              <a:t>的補償之後，為了方便讀者能夠快速理解第三步驟的方法，本研究先以</a:t>
            </a:r>
            <a:r>
              <a:rPr lang="en-US" altLang="zh-TW" dirty="0"/>
              <a:t>2D</a:t>
            </a:r>
            <a:r>
              <a:rPr lang="zh-TW" altLang="en-US" dirty="0"/>
              <a:t>的方式做出分析，圖片左方是線材姿態尚未補償的樣子，上方的綠圈是插件孔面，線材以藍色線表示，也就是向量</a:t>
            </a:r>
            <a:r>
              <a:rPr lang="en-US" altLang="zh-TW" dirty="0"/>
              <a:t>AB</a:t>
            </a:r>
            <a:r>
              <a:rPr lang="zh-TW" altLang="en-US" dirty="0"/>
              <a:t>與</a:t>
            </a:r>
            <a:r>
              <a:rPr lang="en-US" altLang="zh-TW" dirty="0"/>
              <a:t>BC</a:t>
            </a:r>
            <a:r>
              <a:rPr lang="zh-TW" altLang="en-US" dirty="0"/>
              <a:t>，可以明顯看出線材如果以這個狀態就直接推進插件孔面的話，該次插件是一定會失敗的，所以這邊有兩個角度可以做選擇，一個角度是線材彎折的</a:t>
            </a:r>
            <a:r>
              <a:rPr lang="en-US" altLang="zh-TW" dirty="0"/>
              <a:t>gamma</a:t>
            </a:r>
            <a:r>
              <a:rPr lang="zh-TW" altLang="en-US" dirty="0"/>
              <a:t>角，另外一個則是本研究提出的姿態補償</a:t>
            </a:r>
            <a:r>
              <a:rPr lang="en-US" altLang="zh-TW" dirty="0"/>
              <a:t>x</a:t>
            </a:r>
            <a:r>
              <a:rPr lang="zh-TW" altLang="en-US" dirty="0"/>
              <a:t>角，先來說說選擇</a:t>
            </a:r>
            <a:r>
              <a:rPr lang="en-US" altLang="zh-TW" dirty="0"/>
              <a:t>gamma</a:t>
            </a:r>
            <a:r>
              <a:rPr lang="zh-TW" altLang="en-US" dirty="0"/>
              <a:t>角進行補償的狀況，由於補償的旋轉是在實際</a:t>
            </a:r>
            <a:r>
              <a:rPr lang="en-US" altLang="zh-TW" dirty="0"/>
              <a:t>TCP</a:t>
            </a:r>
            <a:r>
              <a:rPr lang="zh-TW" altLang="en-US" dirty="0"/>
              <a:t>原點執行，因此如果直接補償</a:t>
            </a:r>
            <a:r>
              <a:rPr lang="en-US" altLang="zh-TW" dirty="0"/>
              <a:t>gamma</a:t>
            </a:r>
            <a:r>
              <a:rPr lang="zh-TW" altLang="en-US" dirty="0"/>
              <a:t>角，有可能會導致補償的角度過多或過少，導致當次插件失敗。那為什麼要選擇姿態補償角</a:t>
            </a:r>
            <a:r>
              <a:rPr lang="en-US" altLang="zh-TW" dirty="0"/>
              <a:t>X</a:t>
            </a:r>
            <a:r>
              <a:rPr lang="zh-TW" altLang="en-US" dirty="0"/>
              <a:t>呢</a:t>
            </a:r>
            <a:r>
              <a:rPr lang="en-US" altLang="zh-TW" dirty="0"/>
              <a:t>?</a:t>
            </a:r>
            <a:r>
              <a:rPr lang="zh-TW" altLang="en-US" dirty="0"/>
              <a:t>因為姿態補正是透過手臂本身進行，也就是說角度必須要是從手臂末端</a:t>
            </a:r>
            <a:r>
              <a:rPr lang="en-US" altLang="zh-TW" dirty="0"/>
              <a:t>J6</a:t>
            </a:r>
            <a:r>
              <a:rPr lang="zh-TW" altLang="en-US" dirty="0"/>
              <a:t>法蘭面進行補償結果才會是正確的。所以右圖展示當補償</a:t>
            </a:r>
            <a:r>
              <a:rPr lang="en-US" altLang="zh-TW" dirty="0"/>
              <a:t>-</a:t>
            </a:r>
            <a:r>
              <a:rPr lang="zh-TW" altLang="en-US" dirty="0"/>
              <a:t>姿態補償角</a:t>
            </a:r>
            <a:r>
              <a:rPr lang="en-US" altLang="zh-TW" dirty="0"/>
              <a:t>X</a:t>
            </a:r>
            <a:r>
              <a:rPr lang="zh-TW" altLang="en-US" dirty="0"/>
              <a:t>度之後，雖然假想</a:t>
            </a:r>
            <a:r>
              <a:rPr lang="en-US" altLang="zh-TW" dirty="0"/>
              <a:t>TCP</a:t>
            </a:r>
            <a:r>
              <a:rPr lang="zh-TW" altLang="en-US" dirty="0"/>
              <a:t>坐標系軸向不與插件孔面法向量對齊，但對於線材尖端本身則是與插件孔面對齊的狀態，達到姿態補正的目的。</a:t>
            </a:r>
            <a:endParaRPr lang="en-US" altLang="zh-TW" dirty="0"/>
          </a:p>
        </p:txBody>
      </p:sp>
      <p:sp>
        <p:nvSpPr>
          <p:cNvPr id="4" name="投影片編號版面配置區 3"/>
          <p:cNvSpPr>
            <a:spLocks noGrp="1"/>
          </p:cNvSpPr>
          <p:nvPr>
            <p:ph type="sldNum" sz="quarter" idx="5"/>
          </p:nvPr>
        </p:nvSpPr>
        <p:spPr/>
        <p:txBody>
          <a:bodyPr/>
          <a:lstStyle/>
          <a:p>
            <a:fld id="{BF04EF62-ED8F-4DCE-8F8C-FB3FE10D185C}" type="slidenum">
              <a:rPr lang="zh-TW" altLang="en-US" smtClean="0"/>
              <a:t>10</a:t>
            </a:fld>
            <a:endParaRPr lang="zh-TW" altLang="en-US"/>
          </a:p>
        </p:txBody>
      </p:sp>
    </p:spTree>
    <p:extLst>
      <p:ext uri="{BB962C8B-B14F-4D97-AF65-F5344CB8AC3E}">
        <p14:creationId xmlns:p14="http://schemas.microsoft.com/office/powerpoint/2010/main" val="32220319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不過在</a:t>
            </a:r>
            <a:r>
              <a:rPr lang="en-US" altLang="zh-TW" dirty="0"/>
              <a:t>3D</a:t>
            </a:r>
            <a:r>
              <a:rPr lang="zh-TW" altLang="en-US" dirty="0"/>
              <a:t>環境中，需要補償的角度就不會只有一個面向，而是兩個，如右上的圖所示，</a:t>
            </a:r>
            <a:r>
              <a:rPr lang="en-US" altLang="zh-TW" dirty="0"/>
              <a:t>ABC</a:t>
            </a:r>
            <a:r>
              <a:rPr lang="zh-TW" altLang="en-US" dirty="0"/>
              <a:t>點都與</a:t>
            </a:r>
            <a:r>
              <a:rPr lang="en-US" altLang="zh-TW" dirty="0"/>
              <a:t>2D</a:t>
            </a:r>
            <a:r>
              <a:rPr lang="zh-TW" altLang="en-US" dirty="0"/>
              <a:t>分析中的點一樣，目標是旋轉</a:t>
            </a:r>
            <a:r>
              <a:rPr lang="en-US" altLang="zh-TW" dirty="0"/>
              <a:t>AC</a:t>
            </a:r>
            <a:r>
              <a:rPr lang="zh-TW" altLang="en-US" dirty="0"/>
              <a:t>向量能夠與插件孔面也就是紅色圓的法向量對齊，就像右下圖</a:t>
            </a:r>
            <a:r>
              <a:rPr lang="en-US" altLang="zh-TW" dirty="0"/>
              <a:t>B’’C”</a:t>
            </a:r>
            <a:r>
              <a:rPr lang="zh-TW" altLang="en-US" dirty="0"/>
              <a:t>向量這樣</a:t>
            </a:r>
          </a:p>
        </p:txBody>
      </p:sp>
      <p:sp>
        <p:nvSpPr>
          <p:cNvPr id="4" name="投影片編號版面配置區 3"/>
          <p:cNvSpPr>
            <a:spLocks noGrp="1"/>
          </p:cNvSpPr>
          <p:nvPr>
            <p:ph type="sldNum" sz="quarter" idx="5"/>
          </p:nvPr>
        </p:nvSpPr>
        <p:spPr/>
        <p:txBody>
          <a:bodyPr/>
          <a:lstStyle/>
          <a:p>
            <a:fld id="{B4B12BBA-2391-4BFE-B4EF-B2D4EE163621}" type="slidenum">
              <a:rPr lang="zh-TW" altLang="en-US" smtClean="0"/>
              <a:t>11</a:t>
            </a:fld>
            <a:endParaRPr lang="zh-TW" altLang="en-US"/>
          </a:p>
        </p:txBody>
      </p:sp>
    </p:spTree>
    <p:extLst>
      <p:ext uri="{BB962C8B-B14F-4D97-AF65-F5344CB8AC3E}">
        <p14:creationId xmlns:p14="http://schemas.microsoft.com/office/powerpoint/2010/main" val="390824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將空間上的</a:t>
            </a:r>
            <a:r>
              <a:rPr lang="en-US" altLang="zh-TW" dirty="0"/>
              <a:t>3</a:t>
            </a:r>
            <a:r>
              <a:rPr lang="zh-TW" altLang="en-US" dirty="0"/>
              <a:t>個點以數學形式表示，</a:t>
            </a:r>
            <a:r>
              <a:rPr lang="en-US" altLang="zh-TW" dirty="0"/>
              <a:t>C</a:t>
            </a:r>
            <a:r>
              <a:rPr lang="zh-TW" altLang="en-US" dirty="0"/>
              <a:t>可以是空間上的任一點，</a:t>
            </a:r>
            <a:r>
              <a:rPr lang="en-US" altLang="zh-TW" dirty="0"/>
              <a:t>A</a:t>
            </a:r>
            <a:r>
              <a:rPr lang="zh-TW" altLang="en-US" dirty="0"/>
              <a:t>則是根據線材長度不同而有所變化，在空間中，向量</a:t>
            </a:r>
            <a:r>
              <a:rPr lang="en-US" altLang="zh-TW" dirty="0"/>
              <a:t>AC</a:t>
            </a:r>
            <a:r>
              <a:rPr lang="zh-TW" altLang="en-US" dirty="0"/>
              <a:t>與</a:t>
            </a:r>
            <a:r>
              <a:rPr lang="en-US" altLang="zh-TW" dirty="0"/>
              <a:t>AB</a:t>
            </a:r>
            <a:r>
              <a:rPr lang="zh-TW" altLang="en-US" dirty="0"/>
              <a:t>之間的夾角為角</a:t>
            </a:r>
            <a:r>
              <a:rPr lang="en-US" altLang="zh-TW" dirty="0"/>
              <a:t>P</a:t>
            </a:r>
            <a:r>
              <a:rPr lang="zh-TW" altLang="en-US" dirty="0"/>
              <a:t>，也就是</a:t>
            </a:r>
            <a:r>
              <a:rPr lang="en-US" altLang="zh-TW" dirty="0"/>
              <a:t>J6</a:t>
            </a:r>
            <a:r>
              <a:rPr lang="zh-TW" altLang="en-US" dirty="0"/>
              <a:t>法蘭面到線材尖端之間的夾角，為了抵銷這個角</a:t>
            </a:r>
            <a:r>
              <a:rPr lang="en-US" altLang="zh-TW" dirty="0"/>
              <a:t>P</a:t>
            </a:r>
            <a:r>
              <a:rPr lang="zh-TW" altLang="en-US" dirty="0"/>
              <a:t>，利用簡單的三角函數，分別以兩個平面分解角</a:t>
            </a:r>
            <a:r>
              <a:rPr lang="en-US" altLang="zh-TW" dirty="0"/>
              <a:t>P</a:t>
            </a:r>
            <a:r>
              <a:rPr lang="zh-TW" altLang="en-US" dirty="0"/>
              <a:t>形成角</a:t>
            </a:r>
            <a:r>
              <a:rPr lang="en-US" altLang="zh-TW" dirty="0"/>
              <a:t>r</a:t>
            </a:r>
            <a:r>
              <a:rPr lang="zh-TW" altLang="en-US" dirty="0"/>
              <a:t>與角</a:t>
            </a:r>
            <a:r>
              <a:rPr lang="en-US" altLang="zh-TW" dirty="0"/>
              <a:t>s</a:t>
            </a:r>
            <a:endParaRPr lang="zh-TW" altLang="en-US" dirty="0"/>
          </a:p>
        </p:txBody>
      </p:sp>
      <p:sp>
        <p:nvSpPr>
          <p:cNvPr id="4" name="投影片編號版面配置區 3"/>
          <p:cNvSpPr>
            <a:spLocks noGrp="1"/>
          </p:cNvSpPr>
          <p:nvPr>
            <p:ph type="sldNum" sz="quarter" idx="5"/>
          </p:nvPr>
        </p:nvSpPr>
        <p:spPr/>
        <p:txBody>
          <a:bodyPr/>
          <a:lstStyle/>
          <a:p>
            <a:fld id="{B4B12BBA-2391-4BFE-B4EF-B2D4EE163621}" type="slidenum">
              <a:rPr lang="zh-TW" altLang="en-US" smtClean="0"/>
              <a:t>12</a:t>
            </a:fld>
            <a:endParaRPr lang="zh-TW" altLang="en-US"/>
          </a:p>
        </p:txBody>
      </p:sp>
    </p:spTree>
    <p:extLst>
      <p:ext uri="{BB962C8B-B14F-4D97-AF65-F5344CB8AC3E}">
        <p14:creationId xmlns:p14="http://schemas.microsoft.com/office/powerpoint/2010/main" val="2776236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由於本研究的目標是抵銷兩個面上的角度，這裡講的是如何做角度的抵銷，如圖所示，角</a:t>
                </a:r>
                <a:r>
                  <a:rPr lang="en-US" altLang="zh-TW" dirty="0"/>
                  <a:t>s</a:t>
                </a:r>
                <a:r>
                  <a:rPr lang="zh-TW" altLang="en-US" dirty="0"/>
                  <a:t>是欲抵銷的角度，</a:t>
                </a:r>
                <a:r>
                  <a:rPr lang="zh-TW" altLang="en-US" sz="1200" dirty="0"/>
                  <a:t>為了抵銷一個平面上的角度分量，分別對</a:t>
                </a:r>
                <a14:m>
                  <m:oMath xmlns:m="http://schemas.openxmlformats.org/officeDocument/2006/math">
                    <m:acc>
                      <m:accPr>
                        <m:chr m:val="⃑"/>
                        <m:ctrlPr>
                          <a:rPr lang="zh-TW" altLang="en-US" sz="1200" i="1" smtClean="0">
                            <a:latin typeface="Cambria Math" panose="02040503050406030204" pitchFamily="18" charset="0"/>
                          </a:rPr>
                        </m:ctrlPr>
                      </m:accPr>
                      <m:e>
                        <m:r>
                          <m:rPr>
                            <m:sty m:val="p"/>
                          </m:rPr>
                          <a:rPr lang="en-US" altLang="zh-TW" sz="1200" i="1" smtClean="0">
                            <a:latin typeface="Cambria Math" panose="02040503050406030204" pitchFamily="18" charset="0"/>
                          </a:rPr>
                          <m:t>AB</m:t>
                        </m:r>
                      </m:e>
                    </m:acc>
                    <m:r>
                      <a:rPr lang="zh-TW" altLang="en-US" sz="1200" i="1">
                        <a:latin typeface="Cambria Math" panose="02040503050406030204" pitchFamily="18" charset="0"/>
                      </a:rPr>
                      <m:t>與</m:t>
                    </m:r>
                    <m:acc>
                      <m:accPr>
                        <m:chr m:val="⃑"/>
                        <m:ctrlPr>
                          <a:rPr lang="zh-TW" altLang="en-US" sz="1200" i="1" smtClean="0">
                            <a:latin typeface="Cambria Math" panose="02040503050406030204" pitchFamily="18" charset="0"/>
                          </a:rPr>
                        </m:ctrlPr>
                      </m:accPr>
                      <m:e>
                        <m:r>
                          <m:rPr>
                            <m:sty m:val="p"/>
                          </m:rPr>
                          <a:rPr lang="en-US" altLang="zh-TW" sz="1200" i="1" smtClean="0">
                            <a:latin typeface="Cambria Math" panose="02040503050406030204" pitchFamily="18" charset="0"/>
                          </a:rPr>
                          <m:t>BC</m:t>
                        </m:r>
                      </m:e>
                    </m:acc>
                    <m:r>
                      <a:rPr lang="zh-TW" altLang="en-US" sz="1200" i="1">
                        <a:latin typeface="Cambria Math" panose="02040503050406030204" pitchFamily="18" charset="0"/>
                      </a:rPr>
                      <m:t>施加</m:t>
                    </m:r>
                  </m:oMath>
                </a14:m>
                <a:r>
                  <a:rPr lang="zh-TW" altLang="en-US" sz="1200" dirty="0"/>
                  <a:t>相反的旋轉方向，因此兩向量一方對右手定則正轉另一方對右手定則反轉，經過不同方向的旋轉之後兩個向量終點相連才會是與</a:t>
                </a:r>
                <a:r>
                  <a:rPr lang="en-US" altLang="zh-TW" sz="1200" dirty="0"/>
                  <a:t>x</a:t>
                </a:r>
                <a:r>
                  <a:rPr lang="zh-TW" altLang="en-US" sz="1200" dirty="0"/>
                  <a:t>軸對齊的一個向量</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由於本研究的目標是抵銷兩個面上的角度，這裡講的是如何做角度的抵銷，如圖所示，角</a:t>
                </a:r>
                <a:r>
                  <a:rPr lang="en-US" altLang="zh-TW" dirty="0"/>
                  <a:t>s</a:t>
                </a:r>
                <a:r>
                  <a:rPr lang="zh-TW" altLang="en-US" dirty="0"/>
                  <a:t>是欲抵銷的角度，</a:t>
                </a:r>
                <a:r>
                  <a:rPr lang="zh-TW" altLang="en-US" sz="1200" dirty="0"/>
                  <a:t>為了抵銷一個平面上的角度分量，分別對</a:t>
                </a:r>
                <a:r>
                  <a:rPr lang="zh-TW" altLang="en-US" sz="1200" i="0">
                    <a:latin typeface="Cambria Math" panose="02040503050406030204" pitchFamily="18" charset="0"/>
                  </a:rPr>
                  <a:t>(</a:t>
                </a:r>
                <a:r>
                  <a:rPr lang="en-US" altLang="zh-TW" sz="1200" i="0">
                    <a:latin typeface="Cambria Math" panose="02040503050406030204" pitchFamily="18" charset="0"/>
                  </a:rPr>
                  <a:t>AB</a:t>
                </a:r>
                <a:r>
                  <a:rPr lang="zh-TW" altLang="en-US" sz="1200" i="0">
                    <a:latin typeface="Cambria Math" panose="02040503050406030204" pitchFamily="18" charset="0"/>
                  </a:rPr>
                  <a:t>) ⃑與(</a:t>
                </a:r>
                <a:r>
                  <a:rPr lang="en-US" altLang="zh-TW" sz="1200" i="0">
                    <a:latin typeface="Cambria Math" panose="02040503050406030204" pitchFamily="18" charset="0"/>
                  </a:rPr>
                  <a:t>BC</a:t>
                </a:r>
                <a:r>
                  <a:rPr lang="zh-TW" altLang="en-US" sz="1200" i="0">
                    <a:latin typeface="Cambria Math" panose="02040503050406030204" pitchFamily="18" charset="0"/>
                  </a:rPr>
                  <a:t>) ⃑施加</a:t>
                </a:r>
                <a:r>
                  <a:rPr lang="zh-TW" altLang="en-US" sz="1200" dirty="0"/>
                  <a:t>相反的旋轉方向，因此兩向量一方對右手定則正轉另一方對右手定則反轉，經過不同方向的旋轉之後兩個向量終點相連才會是與</a:t>
                </a:r>
                <a:r>
                  <a:rPr lang="en-US" altLang="zh-TW" sz="1200" dirty="0"/>
                  <a:t>x</a:t>
                </a:r>
                <a:r>
                  <a:rPr lang="zh-TW" altLang="en-US" sz="1200" dirty="0"/>
                  <a:t>軸對齊的一個向量</a:t>
                </a:r>
                <a:endParaRPr lang="zh-TW" altLang="en-US" dirty="0"/>
              </a:p>
            </p:txBody>
          </p:sp>
        </mc:Fallback>
      </mc:AlternateContent>
      <p:sp>
        <p:nvSpPr>
          <p:cNvPr id="4" name="投影片編號版面配置區 3"/>
          <p:cNvSpPr>
            <a:spLocks noGrp="1"/>
          </p:cNvSpPr>
          <p:nvPr>
            <p:ph type="sldNum" sz="quarter" idx="5"/>
          </p:nvPr>
        </p:nvSpPr>
        <p:spPr/>
        <p:txBody>
          <a:bodyPr/>
          <a:lstStyle/>
          <a:p>
            <a:fld id="{B4B12BBA-2391-4BFE-B4EF-B2D4EE163621}" type="slidenum">
              <a:rPr lang="zh-TW" altLang="en-US" smtClean="0"/>
              <a:t>13</a:t>
            </a:fld>
            <a:endParaRPr lang="zh-TW" altLang="en-US"/>
          </a:p>
        </p:txBody>
      </p:sp>
    </p:spTree>
    <p:extLst>
      <p:ext uri="{BB962C8B-B14F-4D97-AF65-F5344CB8AC3E}">
        <p14:creationId xmlns:p14="http://schemas.microsoft.com/office/powerpoint/2010/main" val="5048971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旋轉的方式如下</a:t>
            </a:r>
          </a:p>
        </p:txBody>
      </p:sp>
      <p:sp>
        <p:nvSpPr>
          <p:cNvPr id="4" name="投影片編號版面配置區 3"/>
          <p:cNvSpPr>
            <a:spLocks noGrp="1"/>
          </p:cNvSpPr>
          <p:nvPr>
            <p:ph type="sldNum" sz="quarter" idx="5"/>
          </p:nvPr>
        </p:nvSpPr>
        <p:spPr/>
        <p:txBody>
          <a:bodyPr/>
          <a:lstStyle/>
          <a:p>
            <a:fld id="{BF04EF62-ED8F-4DCE-8F8C-FB3FE10D185C}" type="slidenum">
              <a:rPr lang="zh-TW" altLang="en-US" smtClean="0"/>
              <a:t>14</a:t>
            </a:fld>
            <a:endParaRPr lang="zh-TW" altLang="en-US"/>
          </a:p>
        </p:txBody>
      </p:sp>
    </p:spTree>
    <p:extLst>
      <p:ext uri="{BB962C8B-B14F-4D97-AF65-F5344CB8AC3E}">
        <p14:creationId xmlns:p14="http://schemas.microsoft.com/office/powerpoint/2010/main" val="22873187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BF04EF62-ED8F-4DCE-8F8C-FB3FE10D185C}" type="slidenum">
              <a:rPr lang="zh-TW" altLang="en-US" smtClean="0"/>
              <a:t>15</a:t>
            </a:fld>
            <a:endParaRPr lang="zh-TW" altLang="en-US"/>
          </a:p>
        </p:txBody>
      </p:sp>
    </p:spTree>
    <p:extLst>
      <p:ext uri="{BB962C8B-B14F-4D97-AF65-F5344CB8AC3E}">
        <p14:creationId xmlns:p14="http://schemas.microsoft.com/office/powerpoint/2010/main" val="16256077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可以從前面得出的向量</a:t>
            </a:r>
            <a:r>
              <a:rPr lang="en-US" altLang="zh-TW" dirty="0"/>
              <a:t>AB’’</a:t>
            </a:r>
            <a:r>
              <a:rPr lang="zh-TW" altLang="en-US" dirty="0"/>
              <a:t>跟</a:t>
            </a:r>
            <a:r>
              <a:rPr lang="en-US" altLang="zh-TW" dirty="0"/>
              <a:t>BC’’</a:t>
            </a:r>
            <a:r>
              <a:rPr lang="zh-TW" altLang="en-US" dirty="0"/>
              <a:t>，因為要的是補償後的兩個向量終點連線，所以需要計算出</a:t>
            </a:r>
            <a:r>
              <a:rPr lang="en-US" altLang="zh-TW" dirty="0"/>
              <a:t>B’’</a:t>
            </a:r>
            <a:r>
              <a:rPr lang="zh-TW" altLang="en-US" dirty="0"/>
              <a:t>點與</a:t>
            </a:r>
            <a:r>
              <a:rPr lang="en-US" altLang="zh-TW" dirty="0"/>
              <a:t>C’’</a:t>
            </a:r>
            <a:r>
              <a:rPr lang="zh-TW" altLang="en-US" dirty="0"/>
              <a:t>點的位置</a:t>
            </a:r>
          </a:p>
        </p:txBody>
      </p:sp>
      <p:sp>
        <p:nvSpPr>
          <p:cNvPr id="4" name="投影片編號版面配置區 3"/>
          <p:cNvSpPr>
            <a:spLocks noGrp="1"/>
          </p:cNvSpPr>
          <p:nvPr>
            <p:ph type="sldNum" sz="quarter" idx="5"/>
          </p:nvPr>
        </p:nvSpPr>
        <p:spPr/>
        <p:txBody>
          <a:bodyPr/>
          <a:lstStyle/>
          <a:p>
            <a:fld id="{B4B12BBA-2391-4BFE-B4EF-B2D4EE163621}" type="slidenum">
              <a:rPr lang="zh-TW" altLang="en-US" smtClean="0"/>
              <a:t>16</a:t>
            </a:fld>
            <a:endParaRPr lang="zh-TW" altLang="en-US"/>
          </a:p>
        </p:txBody>
      </p:sp>
    </p:spTree>
    <p:extLst>
      <p:ext uri="{BB962C8B-B14F-4D97-AF65-F5344CB8AC3E}">
        <p14:creationId xmlns:p14="http://schemas.microsoft.com/office/powerpoint/2010/main" val="39782629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算出向量</a:t>
            </a:r>
            <a:r>
              <a:rPr lang="en-US" altLang="zh-TW" dirty="0"/>
              <a:t>B’’C”’</a:t>
            </a:r>
            <a:r>
              <a:rPr lang="zh-TW" altLang="en-US" dirty="0"/>
              <a:t>後，為了證明</a:t>
            </a:r>
          </a:p>
        </p:txBody>
      </p:sp>
      <p:sp>
        <p:nvSpPr>
          <p:cNvPr id="4" name="投影片編號版面配置區 3"/>
          <p:cNvSpPr>
            <a:spLocks noGrp="1"/>
          </p:cNvSpPr>
          <p:nvPr>
            <p:ph type="sldNum" sz="quarter" idx="5"/>
          </p:nvPr>
        </p:nvSpPr>
        <p:spPr/>
        <p:txBody>
          <a:bodyPr/>
          <a:lstStyle/>
          <a:p>
            <a:fld id="{BF04EF62-ED8F-4DCE-8F8C-FB3FE10D185C}" type="slidenum">
              <a:rPr lang="zh-TW" altLang="en-US" smtClean="0"/>
              <a:t>17</a:t>
            </a:fld>
            <a:endParaRPr lang="zh-TW" altLang="en-US"/>
          </a:p>
        </p:txBody>
      </p:sp>
    </p:spTree>
    <p:extLst>
      <p:ext uri="{BB962C8B-B14F-4D97-AF65-F5344CB8AC3E}">
        <p14:creationId xmlns:p14="http://schemas.microsoft.com/office/powerpoint/2010/main" val="2268366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B4B12BBA-2391-4BFE-B4EF-B2D4EE163621}" type="slidenum">
              <a:rPr lang="zh-TW" altLang="en-US" smtClean="0"/>
              <a:t>18</a:t>
            </a:fld>
            <a:endParaRPr lang="zh-TW" altLang="en-US"/>
          </a:p>
        </p:txBody>
      </p:sp>
    </p:spTree>
    <p:extLst>
      <p:ext uri="{BB962C8B-B14F-4D97-AF65-F5344CB8AC3E}">
        <p14:creationId xmlns:p14="http://schemas.microsoft.com/office/powerpoint/2010/main" val="20946228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本研究也針對單位向量</a:t>
            </a:r>
            <a:r>
              <a:rPr lang="en-US" altLang="zh-TW" dirty="0"/>
              <a:t>B’’C’’</a:t>
            </a:r>
            <a:r>
              <a:rPr lang="zh-TW" altLang="en-US" dirty="0"/>
              <a:t>做出探討，</a:t>
            </a:r>
            <a:r>
              <a:rPr lang="en-US" altLang="zh-TW" dirty="0"/>
              <a:t>…</a:t>
            </a:r>
            <a:r>
              <a:rPr lang="zh-TW" altLang="en-US" dirty="0"/>
              <a:t>所以利用斜率來驗證單位向量在移動多少時會導致完全偏移出插件孔面導致插件失敗，經過測試，</a:t>
            </a:r>
          </a:p>
        </p:txBody>
      </p:sp>
      <p:sp>
        <p:nvSpPr>
          <p:cNvPr id="4" name="投影片編號版面配置區 3"/>
          <p:cNvSpPr>
            <a:spLocks noGrp="1"/>
          </p:cNvSpPr>
          <p:nvPr>
            <p:ph type="sldNum" sz="quarter" idx="5"/>
          </p:nvPr>
        </p:nvSpPr>
        <p:spPr/>
        <p:txBody>
          <a:bodyPr/>
          <a:lstStyle/>
          <a:p>
            <a:fld id="{B4B12BBA-2391-4BFE-B4EF-B2D4EE163621}" type="slidenum">
              <a:rPr lang="zh-TW" altLang="en-US" smtClean="0"/>
              <a:t>19</a:t>
            </a:fld>
            <a:endParaRPr lang="zh-TW" altLang="en-US"/>
          </a:p>
        </p:txBody>
      </p:sp>
    </p:spTree>
    <p:extLst>
      <p:ext uri="{BB962C8B-B14F-4D97-AF65-F5344CB8AC3E}">
        <p14:creationId xmlns:p14="http://schemas.microsoft.com/office/powerpoint/2010/main" val="27212408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這邊展示的是在極端狀況下，彎折將近</a:t>
            </a:r>
            <a:r>
              <a:rPr lang="en-US" altLang="zh-TW" dirty="0"/>
              <a:t>90</a:t>
            </a:r>
            <a:r>
              <a:rPr lang="zh-TW" altLang="en-US" dirty="0"/>
              <a:t>度時的狀態，計算出斜率是</a:t>
            </a:r>
            <a:r>
              <a:rPr lang="en-US" altLang="zh-TW" dirty="0"/>
              <a:t>0.0126</a:t>
            </a:r>
            <a:r>
              <a:rPr lang="zh-TW" altLang="en-US" dirty="0"/>
              <a:t>，那在實驗時本身有設計安全距離</a:t>
            </a:r>
            <a:r>
              <a:rPr lang="en-US" altLang="zh-TW" dirty="0"/>
              <a:t>15mm</a:t>
            </a:r>
            <a:r>
              <a:rPr lang="zh-TW" altLang="en-US" dirty="0"/>
              <a:t>，就是線材會停在插件孔面前</a:t>
            </a:r>
            <a:r>
              <a:rPr lang="en-US" altLang="zh-TW" dirty="0"/>
              <a:t>15mm</a:t>
            </a:r>
            <a:r>
              <a:rPr lang="zh-TW" altLang="en-US" dirty="0"/>
              <a:t>，只要手臂向前移動就可以進行插件，可以看到斜率意義表明</a:t>
            </a:r>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fld id="{BF04EF62-ED8F-4DCE-8F8C-FB3FE10D185C}" type="slidenum">
              <a:rPr lang="zh-TW" altLang="en-US" smtClean="0"/>
              <a:t>20</a:t>
            </a:fld>
            <a:endParaRPr lang="zh-TW" altLang="en-US"/>
          </a:p>
        </p:txBody>
      </p:sp>
    </p:spTree>
    <p:extLst>
      <p:ext uri="{BB962C8B-B14F-4D97-AF65-F5344CB8AC3E}">
        <p14:creationId xmlns:p14="http://schemas.microsoft.com/office/powerpoint/2010/main" val="10553979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最後就是本研究的未來展望</a:t>
            </a:r>
          </a:p>
        </p:txBody>
      </p:sp>
      <p:sp>
        <p:nvSpPr>
          <p:cNvPr id="4" name="投影片編號版面配置區 3"/>
          <p:cNvSpPr>
            <a:spLocks noGrp="1"/>
          </p:cNvSpPr>
          <p:nvPr>
            <p:ph type="sldNum" sz="quarter" idx="5"/>
          </p:nvPr>
        </p:nvSpPr>
        <p:spPr/>
        <p:txBody>
          <a:bodyPr/>
          <a:lstStyle/>
          <a:p>
            <a:fld id="{BF04EF62-ED8F-4DCE-8F8C-FB3FE10D185C}" type="slidenum">
              <a:rPr lang="zh-TW" altLang="en-US" smtClean="0"/>
              <a:t>21</a:t>
            </a:fld>
            <a:endParaRPr lang="zh-TW" altLang="en-US"/>
          </a:p>
        </p:txBody>
      </p:sp>
    </p:spTree>
    <p:extLst>
      <p:ext uri="{BB962C8B-B14F-4D97-AF65-F5344CB8AC3E}">
        <p14:creationId xmlns:p14="http://schemas.microsoft.com/office/powerpoint/2010/main" val="41586483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我的報告到此為止，感謝各位口試委員的耐心寧聽，若有問題的話歡迎提出</a:t>
            </a:r>
          </a:p>
        </p:txBody>
      </p:sp>
      <p:sp>
        <p:nvSpPr>
          <p:cNvPr id="4" name="投影片編號版面配置區 3"/>
          <p:cNvSpPr>
            <a:spLocks noGrp="1"/>
          </p:cNvSpPr>
          <p:nvPr>
            <p:ph type="sldNum" sz="quarter" idx="5"/>
          </p:nvPr>
        </p:nvSpPr>
        <p:spPr/>
        <p:txBody>
          <a:bodyPr/>
          <a:lstStyle/>
          <a:p>
            <a:fld id="{B4B12BBA-2391-4BFE-B4EF-B2D4EE163621}" type="slidenum">
              <a:rPr lang="zh-TW" altLang="en-US" smtClean="0"/>
              <a:t>22</a:t>
            </a:fld>
            <a:endParaRPr lang="zh-TW" altLang="en-US"/>
          </a:p>
        </p:txBody>
      </p:sp>
    </p:spTree>
    <p:extLst>
      <p:ext uri="{BB962C8B-B14F-4D97-AF65-F5344CB8AC3E}">
        <p14:creationId xmlns:p14="http://schemas.microsoft.com/office/powerpoint/2010/main" val="8817815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B4B12BBA-2391-4BFE-B4EF-B2D4EE163621}" type="slidenum">
              <a:rPr lang="zh-TW" altLang="en-US" smtClean="0"/>
              <a:t>23</a:t>
            </a:fld>
            <a:endParaRPr lang="zh-TW" altLang="en-US"/>
          </a:p>
        </p:txBody>
      </p:sp>
    </p:spTree>
    <p:extLst>
      <p:ext uri="{BB962C8B-B14F-4D97-AF65-F5344CB8AC3E}">
        <p14:creationId xmlns:p14="http://schemas.microsoft.com/office/powerpoint/2010/main" val="9583928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訊號線 孔洞的規格</a:t>
            </a:r>
            <a:endParaRPr lang="en-US" altLang="zh-TW" dirty="0"/>
          </a:p>
          <a:p>
            <a:r>
              <a:rPr lang="zh-TW" altLang="en-US" dirty="0"/>
              <a:t>杜邦線金屬插入洞對洞的規格</a:t>
            </a:r>
            <a:endParaRPr lang="en-US" altLang="zh-TW" dirty="0"/>
          </a:p>
          <a:p>
            <a:endParaRPr lang="en-US" altLang="zh-TW" dirty="0"/>
          </a:p>
          <a:p>
            <a:r>
              <a:rPr lang="zh-TW" altLang="en-US" dirty="0"/>
              <a:t>畫個斷面表示圖</a:t>
            </a:r>
          </a:p>
        </p:txBody>
      </p:sp>
      <p:sp>
        <p:nvSpPr>
          <p:cNvPr id="4" name="投影片編號版面配置區 3"/>
          <p:cNvSpPr>
            <a:spLocks noGrp="1"/>
          </p:cNvSpPr>
          <p:nvPr>
            <p:ph type="sldNum" sz="quarter" idx="5"/>
          </p:nvPr>
        </p:nvSpPr>
        <p:spPr/>
        <p:txBody>
          <a:bodyPr/>
          <a:lstStyle/>
          <a:p>
            <a:fld id="{B467AD85-F74C-49A8-91F4-4670BAAB0ADA}" type="slidenum">
              <a:rPr lang="zh-TW" altLang="en-US" smtClean="0"/>
              <a:t>30</a:t>
            </a:fld>
            <a:endParaRPr lang="zh-TW" altLang="en-US"/>
          </a:p>
        </p:txBody>
      </p:sp>
    </p:spTree>
    <p:extLst>
      <p:ext uri="{BB962C8B-B14F-4D97-AF65-F5344CB8AC3E}">
        <p14:creationId xmlns:p14="http://schemas.microsoft.com/office/powerpoint/2010/main" val="2274846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485DBD-0C06-43A1-9341-98C31699DC9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6DC37E4E-6297-4824-B4F7-03ECEAB3C4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88607A6-7125-4E5E-90C5-24317FC71A91}"/>
              </a:ext>
            </a:extLst>
          </p:cNvPr>
          <p:cNvSpPr>
            <a:spLocks noGrp="1"/>
          </p:cNvSpPr>
          <p:nvPr>
            <p:ph type="dt" sz="half" idx="10"/>
          </p:nvPr>
        </p:nvSpPr>
        <p:spPr/>
        <p:txBody>
          <a:bodyPr/>
          <a:lstStyle/>
          <a:p>
            <a:fld id="{37B20B19-417A-45B2-8E5F-EF8D65F75D40}" type="datetime1">
              <a:rPr lang="zh-TW" altLang="en-US" smtClean="0"/>
              <a:t>2026/8/10</a:t>
            </a:fld>
            <a:endParaRPr lang="zh-TW" altLang="en-US"/>
          </a:p>
        </p:txBody>
      </p:sp>
      <p:sp>
        <p:nvSpPr>
          <p:cNvPr id="5" name="頁尾版面配置區 4">
            <a:extLst>
              <a:ext uri="{FF2B5EF4-FFF2-40B4-BE49-F238E27FC236}">
                <a16:creationId xmlns:a16="http://schemas.microsoft.com/office/drawing/2014/main" id="{57358A79-32A3-402A-B6AC-F74E990A456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19BCDDE-9D9D-4DBA-A7C3-538654BE67D8}"/>
              </a:ext>
            </a:extLst>
          </p:cNvPr>
          <p:cNvSpPr>
            <a:spLocks noGrp="1"/>
          </p:cNvSpPr>
          <p:nvPr>
            <p:ph type="sldNum" sz="quarter" idx="12"/>
          </p:nvPr>
        </p:nvSpPr>
        <p:spPr/>
        <p:txBody>
          <a:bodyPr/>
          <a:lstStyle/>
          <a:p>
            <a:fld id="{12DE3F29-1F68-43B4-BFC6-B027CAE8215F}" type="slidenum">
              <a:rPr lang="zh-TW" altLang="en-US" smtClean="0"/>
              <a:t>‹#›</a:t>
            </a:fld>
            <a:endParaRPr lang="zh-TW" altLang="en-US"/>
          </a:p>
        </p:txBody>
      </p:sp>
    </p:spTree>
    <p:extLst>
      <p:ext uri="{BB962C8B-B14F-4D97-AF65-F5344CB8AC3E}">
        <p14:creationId xmlns:p14="http://schemas.microsoft.com/office/powerpoint/2010/main" val="4279965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B9C5AD-3A15-4C08-A662-2D74D689C30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91147C9-02C5-4850-B805-3D4E66D86143}"/>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5E8C6D6-B572-431A-8D4C-87148408C742}"/>
              </a:ext>
            </a:extLst>
          </p:cNvPr>
          <p:cNvSpPr>
            <a:spLocks noGrp="1"/>
          </p:cNvSpPr>
          <p:nvPr>
            <p:ph type="dt" sz="half" idx="10"/>
          </p:nvPr>
        </p:nvSpPr>
        <p:spPr/>
        <p:txBody>
          <a:bodyPr/>
          <a:lstStyle/>
          <a:p>
            <a:fld id="{1330FF25-BD12-4CCE-B186-44404639A368}" type="datetime1">
              <a:rPr lang="zh-TW" altLang="en-US" smtClean="0"/>
              <a:t>2026/8/10</a:t>
            </a:fld>
            <a:endParaRPr lang="zh-TW" altLang="en-US"/>
          </a:p>
        </p:txBody>
      </p:sp>
      <p:sp>
        <p:nvSpPr>
          <p:cNvPr id="5" name="頁尾版面配置區 4">
            <a:extLst>
              <a:ext uri="{FF2B5EF4-FFF2-40B4-BE49-F238E27FC236}">
                <a16:creationId xmlns:a16="http://schemas.microsoft.com/office/drawing/2014/main" id="{559555BA-57AB-4BF6-B908-676CD94807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256B584-497D-4E91-9F00-A330FAD6C5AB}"/>
              </a:ext>
            </a:extLst>
          </p:cNvPr>
          <p:cNvSpPr>
            <a:spLocks noGrp="1"/>
          </p:cNvSpPr>
          <p:nvPr>
            <p:ph type="sldNum" sz="quarter" idx="12"/>
          </p:nvPr>
        </p:nvSpPr>
        <p:spPr/>
        <p:txBody>
          <a:bodyPr/>
          <a:lstStyle/>
          <a:p>
            <a:fld id="{12DE3F29-1F68-43B4-BFC6-B027CAE8215F}" type="slidenum">
              <a:rPr lang="zh-TW" altLang="en-US" smtClean="0"/>
              <a:t>‹#›</a:t>
            </a:fld>
            <a:endParaRPr lang="zh-TW" altLang="en-US"/>
          </a:p>
        </p:txBody>
      </p:sp>
    </p:spTree>
    <p:extLst>
      <p:ext uri="{BB962C8B-B14F-4D97-AF65-F5344CB8AC3E}">
        <p14:creationId xmlns:p14="http://schemas.microsoft.com/office/powerpoint/2010/main" val="2586398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E47C81-9D45-42AF-B199-AE35ACFBC004}"/>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BB93D050-DED6-438D-8116-3E9758FD6C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16F03EFA-DA57-45FD-8588-A5BAB95357C5}"/>
              </a:ext>
            </a:extLst>
          </p:cNvPr>
          <p:cNvSpPr>
            <a:spLocks noGrp="1"/>
          </p:cNvSpPr>
          <p:nvPr>
            <p:ph type="dt" sz="half" idx="10"/>
          </p:nvPr>
        </p:nvSpPr>
        <p:spPr/>
        <p:txBody>
          <a:bodyPr/>
          <a:lstStyle/>
          <a:p>
            <a:fld id="{20861E95-DE61-4453-AD4E-7717324786C5}" type="datetime1">
              <a:rPr lang="zh-TW" altLang="en-US" smtClean="0"/>
              <a:t>2026/8/10</a:t>
            </a:fld>
            <a:endParaRPr lang="zh-TW" altLang="en-US"/>
          </a:p>
        </p:txBody>
      </p:sp>
      <p:sp>
        <p:nvSpPr>
          <p:cNvPr id="5" name="頁尾版面配置區 4">
            <a:extLst>
              <a:ext uri="{FF2B5EF4-FFF2-40B4-BE49-F238E27FC236}">
                <a16:creationId xmlns:a16="http://schemas.microsoft.com/office/drawing/2014/main" id="{7F52B61B-A07F-42A8-BA4D-81712CDE11C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F69AF08-1494-4909-A1AD-5422A43D7F43}"/>
              </a:ext>
            </a:extLst>
          </p:cNvPr>
          <p:cNvSpPr>
            <a:spLocks noGrp="1"/>
          </p:cNvSpPr>
          <p:nvPr>
            <p:ph type="sldNum" sz="quarter" idx="12"/>
          </p:nvPr>
        </p:nvSpPr>
        <p:spPr/>
        <p:txBody>
          <a:bodyPr/>
          <a:lstStyle/>
          <a:p>
            <a:fld id="{12DE3F29-1F68-43B4-BFC6-B027CAE8215F}" type="slidenum">
              <a:rPr lang="zh-TW" altLang="en-US" smtClean="0"/>
              <a:t>‹#›</a:t>
            </a:fld>
            <a:endParaRPr lang="zh-TW" altLang="en-US"/>
          </a:p>
        </p:txBody>
      </p:sp>
    </p:spTree>
    <p:extLst>
      <p:ext uri="{BB962C8B-B14F-4D97-AF65-F5344CB8AC3E}">
        <p14:creationId xmlns:p14="http://schemas.microsoft.com/office/powerpoint/2010/main" val="3772440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A9B2F8-039A-42C6-8468-D35E14E1CD5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5DA2E9F-885C-4084-AD1D-FB6A2AB49CF0}"/>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75EE5786-4448-4641-8BEF-AE2A29D30A8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AA6A745-4062-4018-B58D-7B55D47021FD}"/>
              </a:ext>
            </a:extLst>
          </p:cNvPr>
          <p:cNvSpPr>
            <a:spLocks noGrp="1"/>
          </p:cNvSpPr>
          <p:nvPr>
            <p:ph type="dt" sz="half" idx="10"/>
          </p:nvPr>
        </p:nvSpPr>
        <p:spPr/>
        <p:txBody>
          <a:bodyPr/>
          <a:lstStyle/>
          <a:p>
            <a:fld id="{E61CB4D7-CCAD-4BFD-9F0E-6A763838F5BE}" type="datetime1">
              <a:rPr lang="zh-TW" altLang="en-US" smtClean="0"/>
              <a:t>2026/8/10</a:t>
            </a:fld>
            <a:endParaRPr lang="zh-TW" altLang="en-US"/>
          </a:p>
        </p:txBody>
      </p:sp>
      <p:sp>
        <p:nvSpPr>
          <p:cNvPr id="6" name="頁尾版面配置區 5">
            <a:extLst>
              <a:ext uri="{FF2B5EF4-FFF2-40B4-BE49-F238E27FC236}">
                <a16:creationId xmlns:a16="http://schemas.microsoft.com/office/drawing/2014/main" id="{71141FBD-0C16-4F4B-8191-842767F05A7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5336C0B-D069-4DAF-BB3C-C68E28EFDA57}"/>
              </a:ext>
            </a:extLst>
          </p:cNvPr>
          <p:cNvSpPr>
            <a:spLocks noGrp="1"/>
          </p:cNvSpPr>
          <p:nvPr>
            <p:ph type="sldNum" sz="quarter" idx="12"/>
          </p:nvPr>
        </p:nvSpPr>
        <p:spPr/>
        <p:txBody>
          <a:bodyPr/>
          <a:lstStyle/>
          <a:p>
            <a:fld id="{12DE3F29-1F68-43B4-BFC6-B027CAE8215F}" type="slidenum">
              <a:rPr lang="zh-TW" altLang="en-US" smtClean="0"/>
              <a:t>‹#›</a:t>
            </a:fld>
            <a:endParaRPr lang="zh-TW" altLang="en-US"/>
          </a:p>
        </p:txBody>
      </p:sp>
    </p:spTree>
    <p:extLst>
      <p:ext uri="{BB962C8B-B14F-4D97-AF65-F5344CB8AC3E}">
        <p14:creationId xmlns:p14="http://schemas.microsoft.com/office/powerpoint/2010/main" val="819859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1C23F0-5C79-4860-B74B-FFF1CE3D97A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6D8E0E0-8C1E-4272-A301-3DA753C5F4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29FA214E-FDBF-4DB3-9A8C-1E9373CCE519}"/>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1445D46-4954-449B-87FD-E677B6294A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CF44EF8E-4860-4084-B36A-BFC6290357AD}"/>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F3237EDF-4859-412A-AE99-D75D581D4756}"/>
              </a:ext>
            </a:extLst>
          </p:cNvPr>
          <p:cNvSpPr>
            <a:spLocks noGrp="1"/>
          </p:cNvSpPr>
          <p:nvPr>
            <p:ph type="dt" sz="half" idx="10"/>
          </p:nvPr>
        </p:nvSpPr>
        <p:spPr/>
        <p:txBody>
          <a:bodyPr/>
          <a:lstStyle/>
          <a:p>
            <a:fld id="{365839E9-62FA-4D1C-864D-A8BA4A74E108}" type="datetime1">
              <a:rPr lang="zh-TW" altLang="en-US" smtClean="0"/>
              <a:t>2026/8/10</a:t>
            </a:fld>
            <a:endParaRPr lang="zh-TW" altLang="en-US"/>
          </a:p>
        </p:txBody>
      </p:sp>
      <p:sp>
        <p:nvSpPr>
          <p:cNvPr id="8" name="頁尾版面配置區 7">
            <a:extLst>
              <a:ext uri="{FF2B5EF4-FFF2-40B4-BE49-F238E27FC236}">
                <a16:creationId xmlns:a16="http://schemas.microsoft.com/office/drawing/2014/main" id="{CD16F608-12DC-4140-9A44-56B9B1798D2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C9AAFF58-E3A4-4690-B7D6-474C97AE531C}"/>
              </a:ext>
            </a:extLst>
          </p:cNvPr>
          <p:cNvSpPr>
            <a:spLocks noGrp="1"/>
          </p:cNvSpPr>
          <p:nvPr>
            <p:ph type="sldNum" sz="quarter" idx="12"/>
          </p:nvPr>
        </p:nvSpPr>
        <p:spPr/>
        <p:txBody>
          <a:bodyPr/>
          <a:lstStyle/>
          <a:p>
            <a:fld id="{12DE3F29-1F68-43B4-BFC6-B027CAE8215F}" type="slidenum">
              <a:rPr lang="zh-TW" altLang="en-US" smtClean="0"/>
              <a:t>‹#›</a:t>
            </a:fld>
            <a:endParaRPr lang="zh-TW" altLang="en-US"/>
          </a:p>
        </p:txBody>
      </p:sp>
    </p:spTree>
    <p:extLst>
      <p:ext uri="{BB962C8B-B14F-4D97-AF65-F5344CB8AC3E}">
        <p14:creationId xmlns:p14="http://schemas.microsoft.com/office/powerpoint/2010/main" val="3711093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2E3ED4-9C3B-4DF1-AE28-EE385E19E50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9C7D15E-25B2-428B-A9FC-A66FD69F0210}"/>
              </a:ext>
            </a:extLst>
          </p:cNvPr>
          <p:cNvSpPr>
            <a:spLocks noGrp="1"/>
          </p:cNvSpPr>
          <p:nvPr>
            <p:ph type="dt" sz="half" idx="10"/>
          </p:nvPr>
        </p:nvSpPr>
        <p:spPr/>
        <p:txBody>
          <a:bodyPr/>
          <a:lstStyle/>
          <a:p>
            <a:fld id="{4016A0A1-3E99-4182-A89A-586D7F109E7B}" type="datetime1">
              <a:rPr lang="zh-TW" altLang="en-US" smtClean="0"/>
              <a:t>2026/8/10</a:t>
            </a:fld>
            <a:endParaRPr lang="zh-TW" altLang="en-US"/>
          </a:p>
        </p:txBody>
      </p:sp>
      <p:sp>
        <p:nvSpPr>
          <p:cNvPr id="4" name="頁尾版面配置區 3">
            <a:extLst>
              <a:ext uri="{FF2B5EF4-FFF2-40B4-BE49-F238E27FC236}">
                <a16:creationId xmlns:a16="http://schemas.microsoft.com/office/drawing/2014/main" id="{544E6EA3-3CC2-4958-BB6C-034803F638BC}"/>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E71501A-8F0C-4540-8CAC-0285EB3BEC39}"/>
              </a:ext>
            </a:extLst>
          </p:cNvPr>
          <p:cNvSpPr>
            <a:spLocks noGrp="1"/>
          </p:cNvSpPr>
          <p:nvPr>
            <p:ph type="sldNum" sz="quarter" idx="12"/>
          </p:nvPr>
        </p:nvSpPr>
        <p:spPr/>
        <p:txBody>
          <a:bodyPr/>
          <a:lstStyle/>
          <a:p>
            <a:fld id="{12DE3F29-1F68-43B4-BFC6-B027CAE8215F}" type="slidenum">
              <a:rPr lang="zh-TW" altLang="en-US" smtClean="0"/>
              <a:t>‹#›</a:t>
            </a:fld>
            <a:endParaRPr lang="zh-TW" altLang="en-US"/>
          </a:p>
        </p:txBody>
      </p:sp>
    </p:spTree>
    <p:extLst>
      <p:ext uri="{BB962C8B-B14F-4D97-AF65-F5344CB8AC3E}">
        <p14:creationId xmlns:p14="http://schemas.microsoft.com/office/powerpoint/2010/main" val="2813670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CCDBA30-8E9D-43E9-A7BC-B059216D6204}"/>
              </a:ext>
            </a:extLst>
          </p:cNvPr>
          <p:cNvSpPr>
            <a:spLocks noGrp="1"/>
          </p:cNvSpPr>
          <p:nvPr>
            <p:ph type="dt" sz="half" idx="10"/>
          </p:nvPr>
        </p:nvSpPr>
        <p:spPr/>
        <p:txBody>
          <a:bodyPr/>
          <a:lstStyle/>
          <a:p>
            <a:fld id="{7868163F-8169-4436-BD3F-EA69C9D3B04D}" type="datetime1">
              <a:rPr lang="zh-TW" altLang="en-US" smtClean="0"/>
              <a:t>2026/8/10</a:t>
            </a:fld>
            <a:endParaRPr lang="zh-TW" altLang="en-US"/>
          </a:p>
        </p:txBody>
      </p:sp>
      <p:sp>
        <p:nvSpPr>
          <p:cNvPr id="3" name="頁尾版面配置區 2">
            <a:extLst>
              <a:ext uri="{FF2B5EF4-FFF2-40B4-BE49-F238E27FC236}">
                <a16:creationId xmlns:a16="http://schemas.microsoft.com/office/drawing/2014/main" id="{2B012C1B-D6AC-4793-90E8-4E1B9F2211F4}"/>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24DC92F-51F1-43B8-A5E2-76FEC60C3DAA}"/>
              </a:ext>
            </a:extLst>
          </p:cNvPr>
          <p:cNvSpPr>
            <a:spLocks noGrp="1"/>
          </p:cNvSpPr>
          <p:nvPr>
            <p:ph type="sldNum" sz="quarter" idx="12"/>
          </p:nvPr>
        </p:nvSpPr>
        <p:spPr/>
        <p:txBody>
          <a:bodyPr/>
          <a:lstStyle/>
          <a:p>
            <a:fld id="{12DE3F29-1F68-43B4-BFC6-B027CAE8215F}" type="slidenum">
              <a:rPr lang="zh-TW" altLang="en-US" smtClean="0"/>
              <a:t>‹#›</a:t>
            </a:fld>
            <a:endParaRPr lang="zh-TW" altLang="en-US"/>
          </a:p>
        </p:txBody>
      </p:sp>
    </p:spTree>
    <p:extLst>
      <p:ext uri="{BB962C8B-B14F-4D97-AF65-F5344CB8AC3E}">
        <p14:creationId xmlns:p14="http://schemas.microsoft.com/office/powerpoint/2010/main" val="3813629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9EAB4-F403-4AAD-8A92-6C2B9CDD826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F5244BB7-A2CA-440B-BFF0-52A2C912E9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D8010F9-C9E1-4F2E-B2F7-3D4F612E65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A06A992-53EE-4BC6-A022-23C4FA8F1887}"/>
              </a:ext>
            </a:extLst>
          </p:cNvPr>
          <p:cNvSpPr>
            <a:spLocks noGrp="1"/>
          </p:cNvSpPr>
          <p:nvPr>
            <p:ph type="dt" sz="half" idx="10"/>
          </p:nvPr>
        </p:nvSpPr>
        <p:spPr/>
        <p:txBody>
          <a:bodyPr/>
          <a:lstStyle/>
          <a:p>
            <a:fld id="{2B300B1E-9572-4721-A0CE-D64925F72712}" type="datetime1">
              <a:rPr lang="zh-TW" altLang="en-US" smtClean="0"/>
              <a:t>2026/8/10</a:t>
            </a:fld>
            <a:endParaRPr lang="zh-TW" altLang="en-US"/>
          </a:p>
        </p:txBody>
      </p:sp>
      <p:sp>
        <p:nvSpPr>
          <p:cNvPr id="6" name="頁尾版面配置區 5">
            <a:extLst>
              <a:ext uri="{FF2B5EF4-FFF2-40B4-BE49-F238E27FC236}">
                <a16:creationId xmlns:a16="http://schemas.microsoft.com/office/drawing/2014/main" id="{DF15D9D7-6E44-41D5-9B52-178914A42F2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10DE89E-7037-46C4-AE10-2BC86C62A317}"/>
              </a:ext>
            </a:extLst>
          </p:cNvPr>
          <p:cNvSpPr>
            <a:spLocks noGrp="1"/>
          </p:cNvSpPr>
          <p:nvPr>
            <p:ph type="sldNum" sz="quarter" idx="12"/>
          </p:nvPr>
        </p:nvSpPr>
        <p:spPr/>
        <p:txBody>
          <a:bodyPr/>
          <a:lstStyle/>
          <a:p>
            <a:fld id="{12DE3F29-1F68-43B4-BFC6-B027CAE8215F}" type="slidenum">
              <a:rPr lang="zh-TW" altLang="en-US" smtClean="0"/>
              <a:t>‹#›</a:t>
            </a:fld>
            <a:endParaRPr lang="zh-TW" altLang="en-US"/>
          </a:p>
        </p:txBody>
      </p:sp>
    </p:spTree>
    <p:extLst>
      <p:ext uri="{BB962C8B-B14F-4D97-AF65-F5344CB8AC3E}">
        <p14:creationId xmlns:p14="http://schemas.microsoft.com/office/powerpoint/2010/main" val="3105153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9C0B6-5D9D-4AA2-8987-68E3D999A56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C05D0E94-505F-43A2-BC36-35D77CB268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714B603-5859-4B23-989F-E228ED8CB3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B0105A4D-F2B6-481E-8A7B-486E73120C92}"/>
              </a:ext>
            </a:extLst>
          </p:cNvPr>
          <p:cNvSpPr>
            <a:spLocks noGrp="1"/>
          </p:cNvSpPr>
          <p:nvPr>
            <p:ph type="dt" sz="half" idx="10"/>
          </p:nvPr>
        </p:nvSpPr>
        <p:spPr/>
        <p:txBody>
          <a:bodyPr/>
          <a:lstStyle/>
          <a:p>
            <a:fld id="{CDF3964D-8DE8-4AD8-B826-87D403601910}" type="datetime1">
              <a:rPr lang="zh-TW" altLang="en-US" smtClean="0"/>
              <a:t>2026/8/10</a:t>
            </a:fld>
            <a:endParaRPr lang="zh-TW" altLang="en-US"/>
          </a:p>
        </p:txBody>
      </p:sp>
      <p:sp>
        <p:nvSpPr>
          <p:cNvPr id="6" name="頁尾版面配置區 5">
            <a:extLst>
              <a:ext uri="{FF2B5EF4-FFF2-40B4-BE49-F238E27FC236}">
                <a16:creationId xmlns:a16="http://schemas.microsoft.com/office/drawing/2014/main" id="{7FAA6655-CB59-40B2-AEE5-0998EF3898E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CF93A33-39B9-483A-A406-BF08B67962C3}"/>
              </a:ext>
            </a:extLst>
          </p:cNvPr>
          <p:cNvSpPr>
            <a:spLocks noGrp="1"/>
          </p:cNvSpPr>
          <p:nvPr>
            <p:ph type="sldNum" sz="quarter" idx="12"/>
          </p:nvPr>
        </p:nvSpPr>
        <p:spPr/>
        <p:txBody>
          <a:bodyPr/>
          <a:lstStyle/>
          <a:p>
            <a:fld id="{12DE3F29-1F68-43B4-BFC6-B027CAE8215F}" type="slidenum">
              <a:rPr lang="zh-TW" altLang="en-US" smtClean="0"/>
              <a:t>‹#›</a:t>
            </a:fld>
            <a:endParaRPr lang="zh-TW" altLang="en-US"/>
          </a:p>
        </p:txBody>
      </p:sp>
    </p:spTree>
    <p:extLst>
      <p:ext uri="{BB962C8B-B14F-4D97-AF65-F5344CB8AC3E}">
        <p14:creationId xmlns:p14="http://schemas.microsoft.com/office/powerpoint/2010/main" val="2573253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8D6CF2-91DA-425C-9E3F-D244CB4404A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E4960EDD-05A8-413F-8108-CD7E4DD3AFF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3FDC1AA-7754-4F30-92A3-58680F93744F}"/>
              </a:ext>
            </a:extLst>
          </p:cNvPr>
          <p:cNvSpPr>
            <a:spLocks noGrp="1"/>
          </p:cNvSpPr>
          <p:nvPr>
            <p:ph type="dt" sz="half" idx="10"/>
          </p:nvPr>
        </p:nvSpPr>
        <p:spPr/>
        <p:txBody>
          <a:bodyPr/>
          <a:lstStyle/>
          <a:p>
            <a:fld id="{6A700E37-EB9D-43AA-ADD2-253E26CCFB64}" type="datetime1">
              <a:rPr lang="zh-TW" altLang="en-US" smtClean="0"/>
              <a:t>2026/8/10</a:t>
            </a:fld>
            <a:endParaRPr lang="zh-TW" altLang="en-US"/>
          </a:p>
        </p:txBody>
      </p:sp>
      <p:sp>
        <p:nvSpPr>
          <p:cNvPr id="5" name="頁尾版面配置區 4">
            <a:extLst>
              <a:ext uri="{FF2B5EF4-FFF2-40B4-BE49-F238E27FC236}">
                <a16:creationId xmlns:a16="http://schemas.microsoft.com/office/drawing/2014/main" id="{2B525D52-6F62-4739-AA42-5B9F3F3CB69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7C945B8-9941-4043-8B73-1032CAFC1029}"/>
              </a:ext>
            </a:extLst>
          </p:cNvPr>
          <p:cNvSpPr>
            <a:spLocks noGrp="1"/>
          </p:cNvSpPr>
          <p:nvPr>
            <p:ph type="sldNum" sz="quarter" idx="12"/>
          </p:nvPr>
        </p:nvSpPr>
        <p:spPr/>
        <p:txBody>
          <a:bodyPr/>
          <a:lstStyle/>
          <a:p>
            <a:fld id="{12DE3F29-1F68-43B4-BFC6-B027CAE8215F}" type="slidenum">
              <a:rPr lang="zh-TW" altLang="en-US" smtClean="0"/>
              <a:t>‹#›</a:t>
            </a:fld>
            <a:endParaRPr lang="zh-TW" altLang="en-US"/>
          </a:p>
        </p:txBody>
      </p:sp>
    </p:spTree>
    <p:extLst>
      <p:ext uri="{BB962C8B-B14F-4D97-AF65-F5344CB8AC3E}">
        <p14:creationId xmlns:p14="http://schemas.microsoft.com/office/powerpoint/2010/main" val="1331270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F275D8A2-DB80-4036-9491-A88C516811C1}"/>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7728CD0-FD77-4912-9423-8EEF72CB39DE}"/>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442B645-34EC-49E3-8C7E-0A7419801FA3}"/>
              </a:ext>
            </a:extLst>
          </p:cNvPr>
          <p:cNvSpPr>
            <a:spLocks noGrp="1"/>
          </p:cNvSpPr>
          <p:nvPr>
            <p:ph type="dt" sz="half" idx="10"/>
          </p:nvPr>
        </p:nvSpPr>
        <p:spPr/>
        <p:txBody>
          <a:bodyPr/>
          <a:lstStyle/>
          <a:p>
            <a:fld id="{C25B2824-597D-453A-83B2-334E86FAE991}" type="datetime1">
              <a:rPr lang="zh-TW" altLang="en-US" smtClean="0"/>
              <a:t>2026/8/10</a:t>
            </a:fld>
            <a:endParaRPr lang="zh-TW" altLang="en-US"/>
          </a:p>
        </p:txBody>
      </p:sp>
      <p:sp>
        <p:nvSpPr>
          <p:cNvPr id="5" name="頁尾版面配置區 4">
            <a:extLst>
              <a:ext uri="{FF2B5EF4-FFF2-40B4-BE49-F238E27FC236}">
                <a16:creationId xmlns:a16="http://schemas.microsoft.com/office/drawing/2014/main" id="{5D106991-E5E6-40AC-A54E-6DE4030BE3B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7B8667E-E252-4477-B0E7-877A47AA779A}"/>
              </a:ext>
            </a:extLst>
          </p:cNvPr>
          <p:cNvSpPr>
            <a:spLocks noGrp="1"/>
          </p:cNvSpPr>
          <p:nvPr>
            <p:ph type="sldNum" sz="quarter" idx="12"/>
          </p:nvPr>
        </p:nvSpPr>
        <p:spPr/>
        <p:txBody>
          <a:bodyPr/>
          <a:lstStyle/>
          <a:p>
            <a:fld id="{12DE3F29-1F68-43B4-BFC6-B027CAE8215F}" type="slidenum">
              <a:rPr lang="zh-TW" altLang="en-US" smtClean="0"/>
              <a:t>‹#›</a:t>
            </a:fld>
            <a:endParaRPr lang="zh-TW" altLang="en-US"/>
          </a:p>
        </p:txBody>
      </p:sp>
    </p:spTree>
    <p:extLst>
      <p:ext uri="{BB962C8B-B14F-4D97-AF65-F5344CB8AC3E}">
        <p14:creationId xmlns:p14="http://schemas.microsoft.com/office/powerpoint/2010/main" val="531594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E0CD657B-4A01-419C-8B46-30B7E18E8F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E4667A4-62AB-45B8-860D-341909F0EE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A2AFE89-05FE-4CD7-90DB-0059B942D5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1759F5-769A-4BFE-81CE-865069305E86}" type="datetime1">
              <a:rPr lang="zh-TW" altLang="en-US" smtClean="0"/>
              <a:t>2026/8/10</a:t>
            </a:fld>
            <a:endParaRPr lang="zh-TW" altLang="en-US"/>
          </a:p>
        </p:txBody>
      </p:sp>
      <p:sp>
        <p:nvSpPr>
          <p:cNvPr id="5" name="頁尾版面配置區 4">
            <a:extLst>
              <a:ext uri="{FF2B5EF4-FFF2-40B4-BE49-F238E27FC236}">
                <a16:creationId xmlns:a16="http://schemas.microsoft.com/office/drawing/2014/main" id="{19F56D6E-7DE5-4984-9C39-7A34A68B31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06A51A18-E2E7-4077-9304-EB3916D06C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DE3F29-1F68-43B4-BFC6-B027CAE8215F}" type="slidenum">
              <a:rPr lang="zh-TW" altLang="en-US" smtClean="0"/>
              <a:t>‹#›</a:t>
            </a:fld>
            <a:endParaRPr lang="zh-TW" altLang="en-US"/>
          </a:p>
        </p:txBody>
      </p:sp>
    </p:spTree>
    <p:extLst>
      <p:ext uri="{BB962C8B-B14F-4D97-AF65-F5344CB8AC3E}">
        <p14:creationId xmlns:p14="http://schemas.microsoft.com/office/powerpoint/2010/main" val="3586169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2.gif"/><Relationship Id="rId5" Type="http://schemas.openxmlformats.org/officeDocument/2006/relationships/image" Target="../media/image1.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4.png"/><Relationship Id="rId7"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250.png"/><Relationship Id="rId9"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10.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1.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jpeg"/><Relationship Id="rId5" Type="http://schemas.openxmlformats.org/officeDocument/2006/relationships/image" Target="../media/image48.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B27E1D-A5D7-4A9B-AE44-8DB6036F1342}"/>
              </a:ext>
            </a:extLst>
          </p:cNvPr>
          <p:cNvSpPr>
            <a:spLocks noGrp="1"/>
          </p:cNvSpPr>
          <p:nvPr>
            <p:ph type="ctrTitle"/>
          </p:nvPr>
        </p:nvSpPr>
        <p:spPr>
          <a:xfrm>
            <a:off x="1120588" y="1342278"/>
            <a:ext cx="9144000" cy="1161210"/>
          </a:xfrm>
        </p:spPr>
        <p:txBody>
          <a:bodyPr>
            <a:normAutofit/>
          </a:bodyPr>
          <a:lstStyle/>
          <a:p>
            <a:pPr algn="l"/>
            <a:r>
              <a:rPr lang="en-US" altLang="zh-TW" sz="3600" dirty="0"/>
              <a:t>Six Axis Industrial Manipulators Pose Compensation For Cable Assembly</a:t>
            </a:r>
            <a:endParaRPr lang="zh-TW" altLang="en-US" sz="3600" dirty="0"/>
          </a:p>
        </p:txBody>
      </p:sp>
      <p:sp>
        <p:nvSpPr>
          <p:cNvPr id="3" name="副標題 2">
            <a:extLst>
              <a:ext uri="{FF2B5EF4-FFF2-40B4-BE49-F238E27FC236}">
                <a16:creationId xmlns:a16="http://schemas.microsoft.com/office/drawing/2014/main" id="{11B4A9A3-0237-469E-96AD-2A3B382185B0}"/>
              </a:ext>
            </a:extLst>
          </p:cNvPr>
          <p:cNvSpPr>
            <a:spLocks noGrp="1"/>
          </p:cNvSpPr>
          <p:nvPr>
            <p:ph type="subTitle" idx="1"/>
          </p:nvPr>
        </p:nvSpPr>
        <p:spPr>
          <a:xfrm>
            <a:off x="1120588" y="2774157"/>
            <a:ext cx="8265459" cy="654844"/>
          </a:xfrm>
        </p:spPr>
        <p:txBody>
          <a:bodyPr>
            <a:normAutofit/>
          </a:bodyPr>
          <a:lstStyle/>
          <a:p>
            <a:pPr algn="l"/>
            <a:r>
              <a:rPr lang="zh-TW" altLang="en-US" sz="3600" dirty="0"/>
              <a:t>六軸工業機械手臂的線材組件姿態補償</a:t>
            </a:r>
          </a:p>
        </p:txBody>
      </p:sp>
      <p:sp>
        <p:nvSpPr>
          <p:cNvPr id="4" name="投影片編號版面配置區 3">
            <a:extLst>
              <a:ext uri="{FF2B5EF4-FFF2-40B4-BE49-F238E27FC236}">
                <a16:creationId xmlns:a16="http://schemas.microsoft.com/office/drawing/2014/main" id="{33276CA8-8B15-430B-8AB0-8B7C949CAD64}"/>
              </a:ext>
            </a:extLst>
          </p:cNvPr>
          <p:cNvSpPr>
            <a:spLocks noGrp="1"/>
          </p:cNvSpPr>
          <p:nvPr>
            <p:ph type="sldNum" sz="quarter" idx="12"/>
          </p:nvPr>
        </p:nvSpPr>
        <p:spPr/>
        <p:txBody>
          <a:bodyPr/>
          <a:lstStyle/>
          <a:p>
            <a:fld id="{12DE3F29-1F68-43B4-BFC6-B027CAE8215F}" type="slidenum">
              <a:rPr lang="zh-TW" altLang="en-US" smtClean="0"/>
              <a:t>1</a:t>
            </a:fld>
            <a:endParaRPr lang="zh-TW" altLang="en-US"/>
          </a:p>
        </p:txBody>
      </p:sp>
      <p:pic>
        <p:nvPicPr>
          <p:cNvPr id="6" name="圖片 5">
            <a:extLst>
              <a:ext uri="{FF2B5EF4-FFF2-40B4-BE49-F238E27FC236}">
                <a16:creationId xmlns:a16="http://schemas.microsoft.com/office/drawing/2014/main" id="{26907525-4767-403D-9E34-3AA0B3B265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
        <p:nvSpPr>
          <p:cNvPr id="7" name="副標題 2">
            <a:extLst>
              <a:ext uri="{FF2B5EF4-FFF2-40B4-BE49-F238E27FC236}">
                <a16:creationId xmlns:a16="http://schemas.microsoft.com/office/drawing/2014/main" id="{0D40C9B4-1573-4D6A-9A30-B18A1DFFF43C}"/>
              </a:ext>
            </a:extLst>
          </p:cNvPr>
          <p:cNvSpPr txBox="1">
            <a:spLocks/>
          </p:cNvSpPr>
          <p:nvPr/>
        </p:nvSpPr>
        <p:spPr>
          <a:xfrm>
            <a:off x="1120587" y="3883317"/>
            <a:ext cx="5773271" cy="9423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zh-TW" altLang="en-US" sz="2000" dirty="0"/>
              <a:t>國立臺灣科技大學 智慧製造科技研究所</a:t>
            </a:r>
            <a:endParaRPr lang="en-US" altLang="zh-TW" sz="2000" dirty="0"/>
          </a:p>
          <a:p>
            <a:pPr algn="l"/>
            <a:r>
              <a:rPr lang="zh-TW" altLang="en-US" sz="2000" dirty="0"/>
              <a:t>碩士學位論文口試</a:t>
            </a:r>
          </a:p>
        </p:txBody>
      </p:sp>
      <p:sp>
        <p:nvSpPr>
          <p:cNvPr id="8" name="副標題 2">
            <a:extLst>
              <a:ext uri="{FF2B5EF4-FFF2-40B4-BE49-F238E27FC236}">
                <a16:creationId xmlns:a16="http://schemas.microsoft.com/office/drawing/2014/main" id="{8BB945CD-E4F2-4258-8A33-7BE9042E424E}"/>
              </a:ext>
            </a:extLst>
          </p:cNvPr>
          <p:cNvSpPr txBox="1">
            <a:spLocks/>
          </p:cNvSpPr>
          <p:nvPr/>
        </p:nvSpPr>
        <p:spPr>
          <a:xfrm>
            <a:off x="1120587" y="5100919"/>
            <a:ext cx="5773271" cy="118406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zh-TW" altLang="en-US" sz="2000" dirty="0"/>
              <a:t>研究生</a:t>
            </a:r>
            <a:r>
              <a:rPr lang="en-US" altLang="zh-TW" sz="2000" dirty="0"/>
              <a:t>:</a:t>
            </a:r>
            <a:r>
              <a:rPr lang="zh-TW" altLang="en-US" sz="2000" dirty="0"/>
              <a:t> 黃柏舜</a:t>
            </a:r>
            <a:endParaRPr lang="en-US" altLang="zh-TW" sz="2000" dirty="0"/>
          </a:p>
          <a:p>
            <a:pPr algn="l"/>
            <a:r>
              <a:rPr lang="zh-TW" altLang="en-US" sz="2000" dirty="0"/>
              <a:t>指導教授</a:t>
            </a:r>
            <a:r>
              <a:rPr lang="en-US" altLang="zh-TW" sz="2000" dirty="0"/>
              <a:t>:</a:t>
            </a:r>
            <a:r>
              <a:rPr lang="zh-TW" altLang="en-US" sz="2000" dirty="0"/>
              <a:t> 梁書豪 博士</a:t>
            </a:r>
            <a:endParaRPr lang="en-US" altLang="zh-TW" sz="2000" dirty="0"/>
          </a:p>
          <a:p>
            <a:pPr algn="l"/>
            <a:r>
              <a:rPr lang="zh-TW" altLang="en-US" sz="2000" dirty="0"/>
              <a:t>口試日期</a:t>
            </a:r>
            <a:r>
              <a:rPr lang="en-US" altLang="zh-TW" sz="2000" dirty="0"/>
              <a:t>:</a:t>
            </a:r>
            <a:r>
              <a:rPr lang="zh-TW" altLang="en-US" sz="2000" dirty="0"/>
              <a:t> </a:t>
            </a:r>
            <a:r>
              <a:rPr lang="en-US" altLang="zh-TW" sz="2000" dirty="0"/>
              <a:t>2026/07/23</a:t>
            </a:r>
            <a:r>
              <a:rPr lang="zh-TW" altLang="en-US" sz="2000" dirty="0"/>
              <a:t> </a:t>
            </a:r>
            <a:r>
              <a:rPr lang="en-US" altLang="zh-TW" sz="2000" dirty="0"/>
              <a:t>14:00</a:t>
            </a:r>
            <a:r>
              <a:rPr lang="zh-TW" altLang="en-US" sz="2000" dirty="0"/>
              <a:t> </a:t>
            </a:r>
            <a:r>
              <a:rPr lang="en-US" altLang="zh-TW" sz="2000" dirty="0"/>
              <a:t>–</a:t>
            </a:r>
            <a:r>
              <a:rPr lang="zh-TW" altLang="en-US" sz="2000" dirty="0"/>
              <a:t> </a:t>
            </a:r>
            <a:r>
              <a:rPr lang="en-US" altLang="zh-TW" sz="2000" dirty="0"/>
              <a:t>15:00</a:t>
            </a:r>
            <a:endParaRPr lang="zh-TW" altLang="en-US" sz="2000" dirty="0"/>
          </a:p>
        </p:txBody>
      </p:sp>
    </p:spTree>
    <p:extLst>
      <p:ext uri="{BB962C8B-B14F-4D97-AF65-F5344CB8AC3E}">
        <p14:creationId xmlns:p14="http://schemas.microsoft.com/office/powerpoint/2010/main" val="1216104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FA5E6B-1C85-446F-AC45-B7065CC4E937}"/>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94C163B1-1820-4AF9-AC6F-06E33C6C1BDB}"/>
              </a:ext>
            </a:extLst>
          </p:cNvPr>
          <p:cNvSpPr>
            <a:spLocks noGrp="1"/>
          </p:cNvSpPr>
          <p:nvPr>
            <p:ph idx="1"/>
          </p:nvPr>
        </p:nvSpPr>
        <p:spPr>
          <a:xfrm>
            <a:off x="838200" y="1825624"/>
            <a:ext cx="10515600" cy="4613275"/>
          </a:xfrm>
        </p:spPr>
        <p:txBody>
          <a:bodyPr numCol="2">
            <a:normAutofit/>
          </a:bodyPr>
          <a:lstStyle/>
          <a:p>
            <a:r>
              <a:rPr lang="zh-TW" altLang="en-US" b="1" dirty="0"/>
              <a:t>動機</a:t>
            </a:r>
            <a:endParaRPr lang="en-US" altLang="zh-TW" dirty="0"/>
          </a:p>
          <a:p>
            <a:r>
              <a:rPr lang="zh-TW" altLang="en-US" b="1" dirty="0"/>
              <a:t>方法論</a:t>
            </a:r>
            <a:endParaRPr lang="en-US" altLang="zh-TW" b="1" dirty="0"/>
          </a:p>
          <a:p>
            <a:r>
              <a:rPr lang="zh-TW" altLang="en-US" b="1" dirty="0"/>
              <a:t>流程圖</a:t>
            </a:r>
            <a:endParaRPr lang="en-US" altLang="zh-TW" b="1" dirty="0"/>
          </a:p>
          <a:p>
            <a:pPr lvl="1"/>
            <a:r>
              <a:rPr lang="zh-TW" altLang="en-US" dirty="0"/>
              <a:t>手動插件</a:t>
            </a:r>
            <a:endParaRPr lang="en-US" altLang="zh-TW" dirty="0"/>
          </a:p>
          <a:p>
            <a:pPr lvl="1"/>
            <a:r>
              <a:rPr lang="zh-TW" altLang="en-US" dirty="0"/>
              <a:t>運動學</a:t>
            </a:r>
            <a:r>
              <a:rPr lang="en-US" altLang="zh-TW" dirty="0"/>
              <a:t>-MDH</a:t>
            </a:r>
            <a:r>
              <a:rPr lang="zh-TW" altLang="en-US" dirty="0"/>
              <a:t>方法</a:t>
            </a:r>
            <a:endParaRPr lang="en-US" altLang="zh-TW" dirty="0"/>
          </a:p>
          <a:p>
            <a:pPr lvl="1"/>
            <a:r>
              <a:rPr lang="zh-TW" altLang="en-US" dirty="0"/>
              <a:t>手臂建模</a:t>
            </a:r>
            <a:endParaRPr lang="en-US" altLang="zh-TW" dirty="0"/>
          </a:p>
          <a:p>
            <a:pPr lvl="1"/>
            <a:r>
              <a:rPr lang="en-US" altLang="zh-TW" dirty="0"/>
              <a:t>TCP</a:t>
            </a:r>
            <a:r>
              <a:rPr lang="zh-TW" altLang="en-US" dirty="0"/>
              <a:t>補償</a:t>
            </a:r>
            <a:endParaRPr lang="en-US" altLang="zh-TW" dirty="0"/>
          </a:p>
          <a:p>
            <a:pPr lvl="1"/>
            <a:r>
              <a:rPr lang="en-US" altLang="zh-TW" dirty="0"/>
              <a:t>2D</a:t>
            </a:r>
            <a:r>
              <a:rPr lang="zh-TW" altLang="en-US" dirty="0"/>
              <a:t>分析</a:t>
            </a:r>
            <a:endParaRPr lang="en-US" altLang="zh-TW" dirty="0"/>
          </a:p>
          <a:p>
            <a:pPr lvl="1"/>
            <a:r>
              <a:rPr lang="en-US" altLang="zh-TW" dirty="0"/>
              <a:t>3D</a:t>
            </a:r>
            <a:r>
              <a:rPr lang="zh-TW" altLang="en-US" dirty="0"/>
              <a:t>分析</a:t>
            </a:r>
            <a:endParaRPr lang="en-US" altLang="zh-TW" dirty="0"/>
          </a:p>
          <a:p>
            <a:pPr lvl="1"/>
            <a:endParaRPr lang="en-US" altLang="zh-TW" dirty="0"/>
          </a:p>
          <a:p>
            <a:r>
              <a:rPr lang="zh-TW" altLang="en-US" b="1" dirty="0"/>
              <a:t>實驗與驗證</a:t>
            </a:r>
            <a:endParaRPr lang="en-US" altLang="zh-TW" b="1" dirty="0"/>
          </a:p>
          <a:p>
            <a:pPr lvl="1"/>
            <a:r>
              <a:rPr lang="zh-TW" altLang="en-US" dirty="0"/>
              <a:t>結果檢視</a:t>
            </a:r>
            <a:endParaRPr lang="en-US" altLang="zh-TW" dirty="0"/>
          </a:p>
          <a:p>
            <a:pPr lvl="1"/>
            <a:r>
              <a:rPr lang="zh-TW" altLang="en-US" dirty="0"/>
              <a:t>極端範例展示</a:t>
            </a:r>
            <a:endParaRPr lang="en-US" altLang="zh-TW" dirty="0"/>
          </a:p>
          <a:p>
            <a:r>
              <a:rPr lang="zh-TW" altLang="en-US" b="1" dirty="0"/>
              <a:t>未來展望</a:t>
            </a:r>
          </a:p>
        </p:txBody>
      </p:sp>
      <p:sp>
        <p:nvSpPr>
          <p:cNvPr id="4" name="投影片編號版面配置區 3">
            <a:extLst>
              <a:ext uri="{FF2B5EF4-FFF2-40B4-BE49-F238E27FC236}">
                <a16:creationId xmlns:a16="http://schemas.microsoft.com/office/drawing/2014/main" id="{0EB6ED75-B004-4894-8BE1-07DDDD33CD42}"/>
              </a:ext>
            </a:extLst>
          </p:cNvPr>
          <p:cNvSpPr>
            <a:spLocks noGrp="1"/>
          </p:cNvSpPr>
          <p:nvPr>
            <p:ph type="sldNum" sz="quarter" idx="12"/>
          </p:nvPr>
        </p:nvSpPr>
        <p:spPr/>
        <p:txBody>
          <a:bodyPr/>
          <a:lstStyle/>
          <a:p>
            <a:fld id="{12DE3F29-1F68-43B4-BFC6-B027CAE8215F}" type="slidenum">
              <a:rPr lang="zh-TW" altLang="en-US" smtClean="0"/>
              <a:t>2</a:t>
            </a:fld>
            <a:endParaRPr lang="zh-TW" altLang="en-US"/>
          </a:p>
        </p:txBody>
      </p:sp>
      <p:pic>
        <p:nvPicPr>
          <p:cNvPr id="5" name="圖片 4">
            <a:extLst>
              <a:ext uri="{FF2B5EF4-FFF2-40B4-BE49-F238E27FC236}">
                <a16:creationId xmlns:a16="http://schemas.microsoft.com/office/drawing/2014/main" id="{D5C802F3-AF3F-4BE8-B6FA-111053012E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2065777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B9571B-03A5-49C3-9184-085F4DAEEABC}"/>
              </a:ext>
            </a:extLst>
          </p:cNvPr>
          <p:cNvSpPr>
            <a:spLocks noGrp="1"/>
          </p:cNvSpPr>
          <p:nvPr>
            <p:ph type="title"/>
          </p:nvPr>
        </p:nvSpPr>
        <p:spPr/>
        <p:txBody>
          <a:bodyPr/>
          <a:lstStyle/>
          <a:p>
            <a:r>
              <a:rPr lang="zh-TW" altLang="en-US" dirty="0"/>
              <a:t>動機</a:t>
            </a:r>
          </a:p>
        </p:txBody>
      </p:sp>
      <p:sp>
        <p:nvSpPr>
          <p:cNvPr id="3" name="內容版面配置區 2">
            <a:extLst>
              <a:ext uri="{FF2B5EF4-FFF2-40B4-BE49-F238E27FC236}">
                <a16:creationId xmlns:a16="http://schemas.microsoft.com/office/drawing/2014/main" id="{A1B991BD-2AEF-4229-916F-76E2146148F4}"/>
              </a:ext>
            </a:extLst>
          </p:cNvPr>
          <p:cNvSpPr>
            <a:spLocks noGrp="1"/>
          </p:cNvSpPr>
          <p:nvPr>
            <p:ph idx="1"/>
          </p:nvPr>
        </p:nvSpPr>
        <p:spPr>
          <a:xfrm>
            <a:off x="330868" y="1551907"/>
            <a:ext cx="11530264" cy="1063374"/>
          </a:xfrm>
        </p:spPr>
        <p:txBody>
          <a:bodyPr>
            <a:normAutofit/>
          </a:bodyPr>
          <a:lstStyle/>
          <a:p>
            <a:pPr marL="0" indent="0">
              <a:buNone/>
            </a:pPr>
            <a:r>
              <a:rPr lang="zh-TW" altLang="en-US" sz="2000" dirty="0">
                <a:latin typeface="+mn-ea"/>
              </a:rPr>
              <a:t>隨著電子產品與車用零件趨於小型化與精密化，連接器組裝任務之難度日益增加。目前產線上仍大量依賴人工進行線束端子之插拔，然而長時間的高精度作業不僅導致作業員疲勞、降低良率，更面臨全球性勞動力短缺之挑戰。</a:t>
            </a:r>
            <a:endParaRPr lang="en-US" altLang="zh-TW" sz="2000" dirty="0">
              <a:latin typeface="+mn-ea"/>
            </a:endParaRPr>
          </a:p>
        </p:txBody>
      </p:sp>
      <p:sp>
        <p:nvSpPr>
          <p:cNvPr id="4" name="內容版面配置區 2">
            <a:extLst>
              <a:ext uri="{FF2B5EF4-FFF2-40B4-BE49-F238E27FC236}">
                <a16:creationId xmlns:a16="http://schemas.microsoft.com/office/drawing/2014/main" id="{34A5FAC7-43DA-4350-916F-AE3D9B2839DF}"/>
              </a:ext>
            </a:extLst>
          </p:cNvPr>
          <p:cNvSpPr txBox="1">
            <a:spLocks/>
          </p:cNvSpPr>
          <p:nvPr/>
        </p:nvSpPr>
        <p:spPr>
          <a:xfrm>
            <a:off x="4163426" y="3418297"/>
            <a:ext cx="3475121" cy="2164599"/>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sz="1800" dirty="0">
                <a:latin typeface="+mn-ea"/>
                <a:sym typeface="Wingdings" panose="05000000000000000000" pitchFamily="2" charset="2"/>
              </a:rPr>
              <a:t>與剛性物件不同，柔性線性物件具備低剛性與易變形的物理特性，在受重力影響下產生的物理下垂與形狀不確定性，使得傳統基於「位置控制」的策略難以直接套用，必須轉而依賴更為精密的多感測器融合與誤差補償機制。</a:t>
            </a:r>
            <a:endParaRPr lang="en-US" altLang="zh-TW" sz="1800" dirty="0">
              <a:latin typeface="+mn-ea"/>
            </a:endParaRPr>
          </a:p>
        </p:txBody>
      </p:sp>
      <p:sp>
        <p:nvSpPr>
          <p:cNvPr id="5" name="內容版面配置區 2">
            <a:extLst>
              <a:ext uri="{FF2B5EF4-FFF2-40B4-BE49-F238E27FC236}">
                <a16:creationId xmlns:a16="http://schemas.microsoft.com/office/drawing/2014/main" id="{A7A79617-E4BD-4086-9C61-C703862CCC4D}"/>
              </a:ext>
            </a:extLst>
          </p:cNvPr>
          <p:cNvSpPr txBox="1">
            <a:spLocks/>
          </p:cNvSpPr>
          <p:nvPr/>
        </p:nvSpPr>
        <p:spPr>
          <a:xfrm>
            <a:off x="212551" y="3416471"/>
            <a:ext cx="3475121" cy="2151484"/>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sz="1800" dirty="0">
                <a:latin typeface="+mn-ea"/>
                <a:sym typeface="Wingdings" panose="05000000000000000000" pitchFamily="2" charset="2"/>
              </a:rPr>
              <a:t>由於開發者無法獲取內部的運動學演算法與補償邏輯，當每次機械手臂夾起的物件工具座標都不相同時，難以精準確定治具在機械手臂末軸法蘭面的距離與位置。這限制了機器手臂在面對複雜組裝任務時的參數自訂化能力。</a:t>
            </a:r>
            <a:endParaRPr lang="en-US" altLang="zh-TW" sz="1800" dirty="0">
              <a:latin typeface="+mn-ea"/>
            </a:endParaRPr>
          </a:p>
        </p:txBody>
      </p:sp>
      <p:sp>
        <p:nvSpPr>
          <p:cNvPr id="7" name="內容版面配置區 2">
            <a:extLst>
              <a:ext uri="{FF2B5EF4-FFF2-40B4-BE49-F238E27FC236}">
                <a16:creationId xmlns:a16="http://schemas.microsoft.com/office/drawing/2014/main" id="{DC8714BF-BEC5-4867-99B1-64E2828D746A}"/>
              </a:ext>
            </a:extLst>
          </p:cNvPr>
          <p:cNvSpPr txBox="1">
            <a:spLocks/>
          </p:cNvSpPr>
          <p:nvPr/>
        </p:nvSpPr>
        <p:spPr>
          <a:xfrm>
            <a:off x="8121315" y="3416472"/>
            <a:ext cx="3753853" cy="2164600"/>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sz="1800" dirty="0">
                <a:latin typeface="+mn-ea"/>
                <a:sym typeface="Wingdings" panose="05000000000000000000" pitchFamily="2" charset="2"/>
              </a:rPr>
              <a:t>本研究開發一個通用的模型，即使不同的商用手臂、不同的柔性線性物件，只需要依照本研究的開發流程就都能套用姿態補償模型。</a:t>
            </a:r>
            <a:endParaRPr lang="en-US" altLang="zh-TW" sz="1800" dirty="0">
              <a:latin typeface="+mn-ea"/>
              <a:sym typeface="Wingdings" panose="05000000000000000000" pitchFamily="2" charset="2"/>
            </a:endParaRPr>
          </a:p>
        </p:txBody>
      </p:sp>
      <p:sp>
        <p:nvSpPr>
          <p:cNvPr id="8" name="文字方塊 7">
            <a:extLst>
              <a:ext uri="{FF2B5EF4-FFF2-40B4-BE49-F238E27FC236}">
                <a16:creationId xmlns:a16="http://schemas.microsoft.com/office/drawing/2014/main" id="{5B066374-D4D7-4326-8141-3A57FC5E8F4F}"/>
              </a:ext>
            </a:extLst>
          </p:cNvPr>
          <p:cNvSpPr txBox="1"/>
          <p:nvPr/>
        </p:nvSpPr>
        <p:spPr>
          <a:xfrm>
            <a:off x="205536" y="2781178"/>
            <a:ext cx="3475120" cy="400110"/>
          </a:xfrm>
          <a:prstGeom prst="rect">
            <a:avLst/>
          </a:prstGeom>
          <a:solidFill>
            <a:srgbClr val="FFFF00"/>
          </a:solidFill>
        </p:spPr>
        <p:txBody>
          <a:bodyPr wrap="square" rtlCol="0">
            <a:spAutoFit/>
          </a:bodyPr>
          <a:lstStyle/>
          <a:p>
            <a:pPr algn="ctr"/>
            <a:r>
              <a:rPr lang="zh-TW" altLang="en-US" sz="2000" dirty="0"/>
              <a:t>針對商用手臂</a:t>
            </a:r>
          </a:p>
        </p:txBody>
      </p:sp>
      <p:sp>
        <p:nvSpPr>
          <p:cNvPr id="9" name="文字方塊 8">
            <a:extLst>
              <a:ext uri="{FF2B5EF4-FFF2-40B4-BE49-F238E27FC236}">
                <a16:creationId xmlns:a16="http://schemas.microsoft.com/office/drawing/2014/main" id="{729F24B2-553A-46B9-962A-1F50488C86C9}"/>
              </a:ext>
            </a:extLst>
          </p:cNvPr>
          <p:cNvSpPr txBox="1"/>
          <p:nvPr/>
        </p:nvSpPr>
        <p:spPr>
          <a:xfrm>
            <a:off x="4163426" y="2781178"/>
            <a:ext cx="3475121" cy="400110"/>
          </a:xfrm>
          <a:prstGeom prst="rect">
            <a:avLst/>
          </a:prstGeom>
          <a:solidFill>
            <a:schemeClr val="accent2"/>
          </a:solidFill>
        </p:spPr>
        <p:txBody>
          <a:bodyPr wrap="square" rtlCol="0">
            <a:spAutoFit/>
          </a:bodyPr>
          <a:lstStyle/>
          <a:p>
            <a:pPr algn="ctr"/>
            <a:r>
              <a:rPr lang="zh-TW" altLang="en-US" sz="2000" dirty="0"/>
              <a:t>針對產品</a:t>
            </a:r>
          </a:p>
        </p:txBody>
      </p:sp>
      <p:sp>
        <p:nvSpPr>
          <p:cNvPr id="10" name="文字方塊 9">
            <a:extLst>
              <a:ext uri="{FF2B5EF4-FFF2-40B4-BE49-F238E27FC236}">
                <a16:creationId xmlns:a16="http://schemas.microsoft.com/office/drawing/2014/main" id="{D049D7EA-B631-418A-A4F3-3D1189D1B3DE}"/>
              </a:ext>
            </a:extLst>
          </p:cNvPr>
          <p:cNvSpPr txBox="1"/>
          <p:nvPr/>
        </p:nvSpPr>
        <p:spPr>
          <a:xfrm>
            <a:off x="8121316" y="2781178"/>
            <a:ext cx="3753853" cy="400110"/>
          </a:xfrm>
          <a:prstGeom prst="rect">
            <a:avLst/>
          </a:prstGeom>
          <a:solidFill>
            <a:srgbClr val="92D050"/>
          </a:solidFill>
        </p:spPr>
        <p:txBody>
          <a:bodyPr wrap="square" rtlCol="0">
            <a:spAutoFit/>
          </a:bodyPr>
          <a:lstStyle/>
          <a:p>
            <a:pPr algn="ctr"/>
            <a:r>
              <a:rPr lang="zh-TW" altLang="en-US" sz="2000" dirty="0"/>
              <a:t>針對實作方法</a:t>
            </a:r>
          </a:p>
        </p:txBody>
      </p:sp>
      <p:sp>
        <p:nvSpPr>
          <p:cNvPr id="11" name="投影片編號版面配置區 10">
            <a:extLst>
              <a:ext uri="{FF2B5EF4-FFF2-40B4-BE49-F238E27FC236}">
                <a16:creationId xmlns:a16="http://schemas.microsoft.com/office/drawing/2014/main" id="{3CB7A409-7759-44FF-8018-8CFFE5424F58}"/>
              </a:ext>
            </a:extLst>
          </p:cNvPr>
          <p:cNvSpPr>
            <a:spLocks noGrp="1"/>
          </p:cNvSpPr>
          <p:nvPr>
            <p:ph type="sldNum" sz="quarter" idx="12"/>
          </p:nvPr>
        </p:nvSpPr>
        <p:spPr>
          <a:xfrm>
            <a:off x="8610600" y="6362366"/>
            <a:ext cx="2743200" cy="365125"/>
          </a:xfrm>
        </p:spPr>
        <p:txBody>
          <a:bodyPr/>
          <a:lstStyle/>
          <a:p>
            <a:fld id="{C121FBEC-A672-404A-B7ED-9CCBCC88B7B4}" type="slidenum">
              <a:rPr lang="zh-TW" altLang="en-US" smtClean="0"/>
              <a:t>3</a:t>
            </a:fld>
            <a:endParaRPr lang="zh-TW" altLang="en-US" dirty="0"/>
          </a:p>
        </p:txBody>
      </p:sp>
      <p:pic>
        <p:nvPicPr>
          <p:cNvPr id="12" name="圖片 11">
            <a:extLst>
              <a:ext uri="{FF2B5EF4-FFF2-40B4-BE49-F238E27FC236}">
                <a16:creationId xmlns:a16="http://schemas.microsoft.com/office/drawing/2014/main" id="{21EF52D1-122A-4CAF-8585-3A6F85D8B4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334097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73EC13-1046-4827-A33D-B6ABCACEED99}"/>
              </a:ext>
            </a:extLst>
          </p:cNvPr>
          <p:cNvSpPr>
            <a:spLocks noGrp="1"/>
          </p:cNvSpPr>
          <p:nvPr>
            <p:ph type="title"/>
          </p:nvPr>
        </p:nvSpPr>
        <p:spPr/>
        <p:txBody>
          <a:bodyPr/>
          <a:lstStyle/>
          <a:p>
            <a:r>
              <a:rPr lang="zh-TW" altLang="en-US" dirty="0"/>
              <a:t>方法論</a:t>
            </a:r>
          </a:p>
        </p:txBody>
      </p:sp>
      <p:sp>
        <p:nvSpPr>
          <p:cNvPr id="3" name="內容版面配置區 2">
            <a:extLst>
              <a:ext uri="{FF2B5EF4-FFF2-40B4-BE49-F238E27FC236}">
                <a16:creationId xmlns:a16="http://schemas.microsoft.com/office/drawing/2014/main" id="{2DB25060-B6AA-4822-B79C-AE7448A6FF18}"/>
              </a:ext>
            </a:extLst>
          </p:cNvPr>
          <p:cNvSpPr>
            <a:spLocks noGrp="1"/>
          </p:cNvSpPr>
          <p:nvPr>
            <p:ph idx="1"/>
          </p:nvPr>
        </p:nvSpPr>
        <p:spPr>
          <a:xfrm>
            <a:off x="838200" y="2708249"/>
            <a:ext cx="10206789" cy="3065212"/>
          </a:xfrm>
          <a:ln>
            <a:solidFill>
              <a:schemeClr val="accent1"/>
            </a:solidFill>
          </a:ln>
        </p:spPr>
        <p:txBody>
          <a:bodyPr>
            <a:normAutofit/>
          </a:bodyPr>
          <a:lstStyle/>
          <a:p>
            <a:r>
              <a:rPr lang="zh-TW" altLang="zh-TW" sz="2000" kern="1200" dirty="0">
                <a:solidFill>
                  <a:schemeClr val="tx1"/>
                </a:solidFill>
                <a:effectLst/>
                <a:latin typeface="+mn-ea"/>
                <a:cs typeface="+mn-cs"/>
              </a:rPr>
              <a:t>利用</a:t>
            </a:r>
            <a:r>
              <a:rPr lang="zh-TW" altLang="en-US" sz="2000" kern="1200" dirty="0">
                <a:solidFill>
                  <a:schemeClr val="tx1"/>
                </a:solidFill>
                <a:effectLst/>
                <a:latin typeface="+mn-ea"/>
                <a:cs typeface="+mn-cs"/>
              </a:rPr>
              <a:t>運動學的</a:t>
            </a:r>
            <a:r>
              <a:rPr lang="en-US" altLang="zh-TW" sz="2000" kern="1200" dirty="0">
                <a:solidFill>
                  <a:schemeClr val="tx1"/>
                </a:solidFill>
                <a:effectLst/>
                <a:latin typeface="+mn-ea"/>
                <a:cs typeface="+mn-cs"/>
              </a:rPr>
              <a:t>MDH</a:t>
            </a:r>
            <a:r>
              <a:rPr lang="zh-TW" altLang="zh-TW" sz="2000" kern="1200" dirty="0">
                <a:solidFill>
                  <a:schemeClr val="tx1"/>
                </a:solidFill>
                <a:effectLst/>
                <a:latin typeface="+mn-ea"/>
                <a:cs typeface="+mn-cs"/>
              </a:rPr>
              <a:t>參數法針對</a:t>
            </a:r>
            <a:r>
              <a:rPr lang="zh-TW" altLang="en-US" sz="2000" kern="1200" dirty="0">
                <a:solidFill>
                  <a:schemeClr val="tx1"/>
                </a:solidFill>
                <a:effectLst/>
                <a:latin typeface="+mn-ea"/>
                <a:cs typeface="+mn-cs"/>
              </a:rPr>
              <a:t>機械</a:t>
            </a:r>
            <a:r>
              <a:rPr lang="zh-TW" altLang="zh-TW" sz="2000" kern="1200" dirty="0">
                <a:solidFill>
                  <a:schemeClr val="tx1"/>
                </a:solidFill>
                <a:effectLst/>
                <a:latin typeface="+mn-ea"/>
                <a:cs typeface="+mn-cs"/>
              </a:rPr>
              <a:t>手臂進行幾何結構的建模。</a:t>
            </a:r>
            <a:endParaRPr lang="en-US" altLang="zh-TW" sz="2000" kern="1200" dirty="0">
              <a:solidFill>
                <a:schemeClr val="tx1"/>
              </a:solidFill>
              <a:effectLst/>
              <a:latin typeface="+mn-ea"/>
              <a:cs typeface="+mn-cs"/>
            </a:endParaRPr>
          </a:p>
          <a:p>
            <a:pPr marL="457200" lvl="1" indent="0">
              <a:buNone/>
            </a:pPr>
            <a:r>
              <a:rPr lang="en-US" altLang="zh-TW" sz="1600" dirty="0">
                <a:latin typeface="+mn-ea"/>
                <a:sym typeface="Wingdings" panose="05000000000000000000" pitchFamily="2" charset="2"/>
              </a:rPr>
              <a:t></a:t>
            </a:r>
            <a:r>
              <a:rPr lang="zh-TW" altLang="zh-TW" sz="1600" dirty="0">
                <a:latin typeface="+mn-ea"/>
              </a:rPr>
              <a:t>能繞過</a:t>
            </a:r>
            <a:r>
              <a:rPr lang="zh-TW" altLang="en-US" sz="1600" dirty="0">
                <a:latin typeface="+mn-ea"/>
              </a:rPr>
              <a:t>商用</a:t>
            </a:r>
            <a:r>
              <a:rPr lang="zh-TW" altLang="zh-TW" sz="1600" dirty="0">
                <a:latin typeface="+mn-ea"/>
              </a:rPr>
              <a:t>封閉式演算法的限制，建立一套具備通用性的</a:t>
            </a:r>
            <a:r>
              <a:rPr lang="zh-TW" altLang="en-US" sz="1600" dirty="0">
                <a:latin typeface="+mn-ea"/>
              </a:rPr>
              <a:t>手臂模型</a:t>
            </a:r>
            <a:r>
              <a:rPr lang="zh-TW" altLang="zh-TW" sz="1600" dirty="0">
                <a:latin typeface="+mn-ea"/>
              </a:rPr>
              <a:t>基準。</a:t>
            </a:r>
            <a:endParaRPr lang="en-US" altLang="zh-TW" sz="1600" dirty="0">
              <a:latin typeface="+mn-ea"/>
            </a:endParaRPr>
          </a:p>
          <a:p>
            <a:endParaRPr lang="en-US" altLang="zh-TW" sz="2000" kern="1200" dirty="0">
              <a:solidFill>
                <a:schemeClr val="tx1"/>
              </a:solidFill>
              <a:effectLst/>
              <a:latin typeface="+mn-ea"/>
              <a:cs typeface="+mn-cs"/>
            </a:endParaRPr>
          </a:p>
          <a:p>
            <a:r>
              <a:rPr lang="zh-TW" altLang="zh-TW" sz="2000" kern="1200" dirty="0">
                <a:solidFill>
                  <a:schemeClr val="tx1"/>
                </a:solidFill>
                <a:effectLst/>
                <a:latin typeface="+mn-ea"/>
                <a:cs typeface="+mn-cs"/>
              </a:rPr>
              <a:t>以</a:t>
            </a:r>
            <a:r>
              <a:rPr lang="en-US" altLang="zh-TW" sz="2000" kern="1200" dirty="0" err="1">
                <a:solidFill>
                  <a:schemeClr val="tx1"/>
                </a:solidFill>
                <a:effectLst/>
                <a:latin typeface="+mn-ea"/>
                <a:cs typeface="+mn-cs"/>
              </a:rPr>
              <a:t>Geogebra</a:t>
            </a:r>
            <a:r>
              <a:rPr lang="en-US" altLang="zh-TW" sz="2000" kern="1200" dirty="0">
                <a:solidFill>
                  <a:schemeClr val="tx1"/>
                </a:solidFill>
                <a:effectLst/>
                <a:latin typeface="+mn-ea"/>
                <a:cs typeface="+mn-cs"/>
              </a:rPr>
              <a:t> 3D</a:t>
            </a:r>
            <a:r>
              <a:rPr lang="zh-TW" altLang="zh-TW" sz="2000" kern="1200" dirty="0">
                <a:solidFill>
                  <a:schemeClr val="tx1"/>
                </a:solidFill>
                <a:effectLst/>
                <a:latin typeface="+mn-ea"/>
                <a:cs typeface="+mn-cs"/>
              </a:rPr>
              <a:t>計算機作為輔助，搭配</a:t>
            </a:r>
            <a:r>
              <a:rPr lang="en-US" altLang="zh-TW" sz="2000" kern="1200" dirty="0">
                <a:solidFill>
                  <a:schemeClr val="tx1"/>
                </a:solidFill>
                <a:effectLst/>
                <a:latin typeface="+mn-ea"/>
                <a:cs typeface="+mn-cs"/>
              </a:rPr>
              <a:t>MATLAB</a:t>
            </a:r>
            <a:r>
              <a:rPr lang="zh-TW" altLang="zh-TW" sz="2000" kern="1200" dirty="0">
                <a:solidFill>
                  <a:schemeClr val="tx1"/>
                </a:solidFill>
                <a:effectLst/>
                <a:latin typeface="+mn-ea"/>
                <a:cs typeface="+mn-cs"/>
              </a:rPr>
              <a:t>進行模擬，</a:t>
            </a:r>
            <a:r>
              <a:rPr lang="zh-TW" altLang="en-US" sz="2000" kern="1200" dirty="0">
                <a:solidFill>
                  <a:schemeClr val="tx1"/>
                </a:solidFill>
                <a:effectLst/>
                <a:latin typeface="+mn-ea"/>
                <a:cs typeface="+mn-cs"/>
              </a:rPr>
              <a:t>建立物件的幾何狀態，並</a:t>
            </a:r>
            <a:r>
              <a:rPr lang="zh-TW" altLang="zh-TW" sz="2000" kern="1200" dirty="0">
                <a:solidFill>
                  <a:schemeClr val="tx1"/>
                </a:solidFill>
                <a:effectLst/>
                <a:latin typeface="+mn-ea"/>
                <a:cs typeface="+mn-cs"/>
              </a:rPr>
              <a:t>探討如何在不改變實際工具點位狀況下修正線材的面向</a:t>
            </a:r>
            <a:r>
              <a:rPr lang="zh-TW" altLang="en-US" sz="2000" kern="1200" dirty="0">
                <a:solidFill>
                  <a:schemeClr val="tx1"/>
                </a:solidFill>
                <a:effectLst/>
                <a:latin typeface="+mn-ea"/>
                <a:cs typeface="+mn-cs"/>
              </a:rPr>
              <a:t>。</a:t>
            </a:r>
            <a:endParaRPr lang="en-US" altLang="zh-TW" sz="2000" kern="1200" dirty="0">
              <a:solidFill>
                <a:schemeClr val="tx1"/>
              </a:solidFill>
              <a:effectLst/>
              <a:latin typeface="+mn-ea"/>
              <a:cs typeface="+mn-cs"/>
            </a:endParaRPr>
          </a:p>
          <a:p>
            <a:pPr marL="457200" lvl="1" indent="0">
              <a:buNone/>
            </a:pPr>
            <a:r>
              <a:rPr lang="en-US" altLang="zh-TW" sz="1600" dirty="0">
                <a:latin typeface="+mn-ea"/>
                <a:sym typeface="Wingdings" panose="05000000000000000000" pitchFamily="2" charset="2"/>
              </a:rPr>
              <a:t></a:t>
            </a:r>
            <a:r>
              <a:rPr lang="zh-TW" altLang="zh-TW" sz="1600" dirty="0">
                <a:latin typeface="+mn-ea"/>
              </a:rPr>
              <a:t>達成端子與</a:t>
            </a:r>
            <a:r>
              <a:rPr lang="zh-TW" altLang="en-US" sz="1600" dirty="0">
                <a:latin typeface="+mn-ea"/>
              </a:rPr>
              <a:t>插件</a:t>
            </a:r>
            <a:r>
              <a:rPr lang="zh-TW" altLang="zh-TW" sz="1600" dirty="0">
                <a:latin typeface="+mn-ea"/>
              </a:rPr>
              <a:t>孔位方向對齊，顯著提高精密插線任務的成功率。</a:t>
            </a:r>
          </a:p>
          <a:p>
            <a:pPr marL="0" indent="0">
              <a:buNone/>
            </a:pPr>
            <a:endParaRPr lang="en-US" altLang="zh-TW" sz="2000" kern="1200" dirty="0">
              <a:solidFill>
                <a:schemeClr val="tx1"/>
              </a:solidFill>
              <a:effectLst/>
              <a:latin typeface="+mn-ea"/>
              <a:cs typeface="+mn-cs"/>
            </a:endParaRPr>
          </a:p>
        </p:txBody>
      </p:sp>
      <p:sp>
        <p:nvSpPr>
          <p:cNvPr id="12" name="文字方塊 11">
            <a:extLst>
              <a:ext uri="{FF2B5EF4-FFF2-40B4-BE49-F238E27FC236}">
                <a16:creationId xmlns:a16="http://schemas.microsoft.com/office/drawing/2014/main" id="{D6189323-0D0A-434A-A0E8-834D26474E89}"/>
              </a:ext>
            </a:extLst>
          </p:cNvPr>
          <p:cNvSpPr txBox="1"/>
          <p:nvPr/>
        </p:nvSpPr>
        <p:spPr>
          <a:xfrm>
            <a:off x="838200" y="1998691"/>
            <a:ext cx="10206789" cy="461665"/>
          </a:xfrm>
          <a:prstGeom prst="rect">
            <a:avLst/>
          </a:prstGeom>
          <a:solidFill>
            <a:srgbClr val="FFC000"/>
          </a:solidFill>
        </p:spPr>
        <p:txBody>
          <a:bodyPr wrap="square">
            <a:spAutoFit/>
          </a:bodyPr>
          <a:lstStyle/>
          <a:p>
            <a:pPr algn="ctr"/>
            <a:r>
              <a:rPr lang="zh-TW" altLang="en-US" sz="2400" kern="1200" dirty="0">
                <a:solidFill>
                  <a:schemeClr val="tx1"/>
                </a:solidFill>
                <a:effectLst/>
                <a:latin typeface="+mn-ea"/>
              </a:rPr>
              <a:t>姿態補償模型</a:t>
            </a:r>
            <a:endParaRPr lang="zh-TW" altLang="en-US" sz="2400" dirty="0"/>
          </a:p>
        </p:txBody>
      </p:sp>
      <p:sp>
        <p:nvSpPr>
          <p:cNvPr id="16" name="投影片編號版面配置區 15">
            <a:extLst>
              <a:ext uri="{FF2B5EF4-FFF2-40B4-BE49-F238E27FC236}">
                <a16:creationId xmlns:a16="http://schemas.microsoft.com/office/drawing/2014/main" id="{B5FF42EA-0000-4CC2-A969-5585A84AEC3C}"/>
              </a:ext>
            </a:extLst>
          </p:cNvPr>
          <p:cNvSpPr>
            <a:spLocks noGrp="1"/>
          </p:cNvSpPr>
          <p:nvPr>
            <p:ph type="sldNum" sz="quarter" idx="12"/>
          </p:nvPr>
        </p:nvSpPr>
        <p:spPr/>
        <p:txBody>
          <a:bodyPr/>
          <a:lstStyle/>
          <a:p>
            <a:fld id="{12DE3F29-1F68-43B4-BFC6-B027CAE8215F}" type="slidenum">
              <a:rPr lang="zh-TW" altLang="en-US" smtClean="0"/>
              <a:t>4</a:t>
            </a:fld>
            <a:endParaRPr lang="zh-TW" altLang="en-US"/>
          </a:p>
        </p:txBody>
      </p:sp>
      <p:pic>
        <p:nvPicPr>
          <p:cNvPr id="17" name="圖片 16">
            <a:extLst>
              <a:ext uri="{FF2B5EF4-FFF2-40B4-BE49-F238E27FC236}">
                <a16:creationId xmlns:a16="http://schemas.microsoft.com/office/drawing/2014/main" id="{82071BB8-7346-4525-8637-287D7088CF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1213004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04B262-31D3-4B8E-9261-05ADDDDA895D}"/>
              </a:ext>
            </a:extLst>
          </p:cNvPr>
          <p:cNvSpPr>
            <a:spLocks noGrp="1"/>
          </p:cNvSpPr>
          <p:nvPr>
            <p:ph type="title"/>
          </p:nvPr>
        </p:nvSpPr>
        <p:spPr/>
        <p:txBody>
          <a:bodyPr/>
          <a:lstStyle/>
          <a:p>
            <a:r>
              <a:rPr lang="zh-TW" altLang="en-US" dirty="0"/>
              <a:t>流程圖</a:t>
            </a:r>
          </a:p>
        </p:txBody>
      </p:sp>
      <p:pic>
        <p:nvPicPr>
          <p:cNvPr id="6" name="內容版面配置區 8">
            <a:extLst>
              <a:ext uri="{FF2B5EF4-FFF2-40B4-BE49-F238E27FC236}">
                <a16:creationId xmlns:a16="http://schemas.microsoft.com/office/drawing/2014/main" id="{B24A1E9B-7B28-45BE-B437-B196BC338CF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2215322"/>
            <a:ext cx="10515600" cy="3596008"/>
          </a:xfrm>
        </p:spPr>
      </p:pic>
      <p:sp>
        <p:nvSpPr>
          <p:cNvPr id="7" name="投影片編號版面配置區 6">
            <a:extLst>
              <a:ext uri="{FF2B5EF4-FFF2-40B4-BE49-F238E27FC236}">
                <a16:creationId xmlns:a16="http://schemas.microsoft.com/office/drawing/2014/main" id="{D8D879D7-D083-46CF-9EE9-2AD32CF8F50E}"/>
              </a:ext>
            </a:extLst>
          </p:cNvPr>
          <p:cNvSpPr>
            <a:spLocks noGrp="1"/>
          </p:cNvSpPr>
          <p:nvPr>
            <p:ph type="sldNum" sz="quarter" idx="12"/>
          </p:nvPr>
        </p:nvSpPr>
        <p:spPr/>
        <p:txBody>
          <a:bodyPr/>
          <a:lstStyle/>
          <a:p>
            <a:fld id="{12DE3F29-1F68-43B4-BFC6-B027CAE8215F}" type="slidenum">
              <a:rPr lang="zh-TW" altLang="en-US" smtClean="0"/>
              <a:t>5</a:t>
            </a:fld>
            <a:endParaRPr lang="zh-TW" altLang="en-US"/>
          </a:p>
        </p:txBody>
      </p:sp>
      <p:pic>
        <p:nvPicPr>
          <p:cNvPr id="9" name="圖片 8">
            <a:extLst>
              <a:ext uri="{FF2B5EF4-FFF2-40B4-BE49-F238E27FC236}">
                <a16:creationId xmlns:a16="http://schemas.microsoft.com/office/drawing/2014/main" id="{C5BCC8F2-1A4E-4E62-930F-C14D84512A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2694704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L="0" marR="0" indent="0" algn="l" defTabSz="914400" rtl="0" eaLnBrk="1" fontAlgn="auto" latinLnBrk="0" hangingPunct="1">
              <a:lnSpc>
                <a:spcPct val="90000"/>
              </a:lnSpc>
              <a:spcBef>
                <a:spcPct val="0"/>
              </a:spcBef>
              <a:spcAft>
                <a:spcPts val="0"/>
              </a:spcAft>
              <a:buClrTx/>
              <a:buSzTx/>
              <a:buFontTx/>
              <a:buNone/>
              <a:tabLst/>
              <a:defRPr/>
            </a:pPr>
            <a:r>
              <a:rPr lang="zh-TW" altLang="en-US" sz="4400" kern="1200" dirty="0">
                <a:solidFill>
                  <a:schemeClr val="tx1"/>
                </a:solidFill>
                <a:effectLst/>
                <a:latin typeface="+mj-lt"/>
                <a:ea typeface="+mj-ea"/>
                <a:cs typeface="+mj-cs"/>
              </a:rPr>
              <a:t>手動插件</a:t>
            </a:r>
            <a:endParaRPr lang="zh-TW" altLang="en-US" dirty="0"/>
          </a:p>
        </p:txBody>
      </p:sp>
      <p:sp>
        <p:nvSpPr>
          <p:cNvPr id="8" name="文字版面配置區 7">
            <a:extLst>
              <a:ext uri="{FF2B5EF4-FFF2-40B4-BE49-F238E27FC236}">
                <a16:creationId xmlns:a16="http://schemas.microsoft.com/office/drawing/2014/main" id="{267AB20F-634A-4F03-BAD8-96C99DFC59D2}"/>
              </a:ext>
            </a:extLst>
          </p:cNvPr>
          <p:cNvSpPr>
            <a:spLocks noGrp="1"/>
          </p:cNvSpPr>
          <p:nvPr>
            <p:ph type="body" idx="4294967295"/>
          </p:nvPr>
        </p:nvSpPr>
        <p:spPr>
          <a:xfrm>
            <a:off x="342900" y="2309330"/>
            <a:ext cx="4219268" cy="3640286"/>
          </a:xfrm>
        </p:spPr>
        <p:txBody>
          <a:bodyPr>
            <a:normAutofit/>
          </a:bodyPr>
          <a:lstStyle/>
          <a:p>
            <a:pPr marL="0" indent="0">
              <a:buNone/>
            </a:pPr>
            <a:r>
              <a:rPr lang="zh-TW" altLang="en-US" dirty="0"/>
              <a:t>首先，先以手動示教方式進行插件，確認插件動作可以執行、治具、夾爪設計無問題，手臂工作範圍正常，無奇異點問題。</a:t>
            </a:r>
            <a:endParaRPr lang="en-US" altLang="zh-TW" dirty="0"/>
          </a:p>
          <a:p>
            <a:pPr marL="0" indent="0">
              <a:buNone/>
            </a:pPr>
            <a:r>
              <a:rPr lang="zh-TW" altLang="en-US" dirty="0"/>
              <a:t>並在此階段</a:t>
            </a:r>
            <a:r>
              <a:rPr lang="zh-TW" altLang="en-US" dirty="0">
                <a:solidFill>
                  <a:srgbClr val="FF0000"/>
                </a:solidFill>
              </a:rPr>
              <a:t>紀錄實際工具點位與插件孔面座標作為後續模型的輸入。</a:t>
            </a:r>
          </a:p>
        </p:txBody>
      </p:sp>
      <p:pic>
        <p:nvPicPr>
          <p:cNvPr id="10" name="圖片 9">
            <a:extLst>
              <a:ext uri="{FF2B5EF4-FFF2-40B4-BE49-F238E27FC236}">
                <a16:creationId xmlns:a16="http://schemas.microsoft.com/office/drawing/2014/main" id="{8D9BB6F6-6056-4347-9231-85CB1920940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64453" y="2480390"/>
            <a:ext cx="7104792" cy="2454232"/>
          </a:xfrm>
          <a:prstGeom prst="rect">
            <a:avLst/>
          </a:prstGeom>
          <a:ln>
            <a:solidFill>
              <a:schemeClr val="tx1"/>
            </a:solidFill>
          </a:ln>
          <a:effectLst>
            <a:outerShdw blurRad="50800" dist="38100" dir="5400000" algn="t" rotWithShape="0">
              <a:prstClr val="black">
                <a:alpha val="40000"/>
              </a:prstClr>
            </a:outerShdw>
          </a:effectLst>
        </p:spPr>
      </p:pic>
      <p:pic>
        <p:nvPicPr>
          <p:cNvPr id="14" name="圖片 13">
            <a:extLst>
              <a:ext uri="{FF2B5EF4-FFF2-40B4-BE49-F238E27FC236}">
                <a16:creationId xmlns:a16="http://schemas.microsoft.com/office/drawing/2014/main" id="{AE23BC1B-EDB2-405F-AD01-53A7E44B3B1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000452" y="523881"/>
            <a:ext cx="4784034" cy="943733"/>
          </a:xfrm>
          <a:prstGeom prst="rect">
            <a:avLst/>
          </a:prstGeom>
          <a:ln>
            <a:noFill/>
          </a:ln>
        </p:spPr>
      </p:pic>
      <p:sp>
        <p:nvSpPr>
          <p:cNvPr id="3" name="文字方塊 2">
            <a:extLst>
              <a:ext uri="{FF2B5EF4-FFF2-40B4-BE49-F238E27FC236}">
                <a16:creationId xmlns:a16="http://schemas.microsoft.com/office/drawing/2014/main" id="{883296E1-E8B8-4C08-A007-5F71794E13FB}"/>
              </a:ext>
            </a:extLst>
          </p:cNvPr>
          <p:cNvSpPr txBox="1"/>
          <p:nvPr/>
        </p:nvSpPr>
        <p:spPr>
          <a:xfrm>
            <a:off x="7182570" y="5042451"/>
            <a:ext cx="1868557" cy="369332"/>
          </a:xfrm>
          <a:prstGeom prst="rect">
            <a:avLst/>
          </a:prstGeom>
          <a:noFill/>
        </p:spPr>
        <p:txBody>
          <a:bodyPr wrap="square" rtlCol="0">
            <a:spAutoFit/>
          </a:bodyPr>
          <a:lstStyle/>
          <a:p>
            <a:r>
              <a:rPr lang="zh-TW" altLang="en-US" dirty="0"/>
              <a:t>線材插件的步驟</a:t>
            </a:r>
          </a:p>
        </p:txBody>
      </p:sp>
      <p:sp>
        <p:nvSpPr>
          <p:cNvPr id="7" name="文字方塊 6">
            <a:extLst>
              <a:ext uri="{FF2B5EF4-FFF2-40B4-BE49-F238E27FC236}">
                <a16:creationId xmlns:a16="http://schemas.microsoft.com/office/drawing/2014/main" id="{7B595462-8CB3-4981-8BDE-CA4421619FB9}"/>
              </a:ext>
            </a:extLst>
          </p:cNvPr>
          <p:cNvSpPr txBox="1"/>
          <p:nvPr/>
        </p:nvSpPr>
        <p:spPr>
          <a:xfrm>
            <a:off x="8435052" y="1467614"/>
            <a:ext cx="1914834" cy="369332"/>
          </a:xfrm>
          <a:prstGeom prst="rect">
            <a:avLst/>
          </a:prstGeom>
          <a:noFill/>
        </p:spPr>
        <p:txBody>
          <a:bodyPr wrap="square" rtlCol="0">
            <a:spAutoFit/>
          </a:bodyPr>
          <a:lstStyle/>
          <a:p>
            <a:r>
              <a:rPr lang="zh-TW" altLang="en-US" dirty="0"/>
              <a:t>步驟</a:t>
            </a:r>
            <a:r>
              <a:rPr lang="en-US" altLang="zh-TW" dirty="0"/>
              <a:t>1.</a:t>
            </a:r>
            <a:r>
              <a:rPr lang="zh-TW" altLang="en-US" dirty="0"/>
              <a:t> 手動插入</a:t>
            </a:r>
            <a:endParaRPr lang="en-US" altLang="zh-TW" dirty="0"/>
          </a:p>
        </p:txBody>
      </p:sp>
      <p:sp>
        <p:nvSpPr>
          <p:cNvPr id="5" name="投影片編號版面配置區 4">
            <a:extLst>
              <a:ext uri="{FF2B5EF4-FFF2-40B4-BE49-F238E27FC236}">
                <a16:creationId xmlns:a16="http://schemas.microsoft.com/office/drawing/2014/main" id="{C3F2FEAD-6439-47F0-A1C3-CC478B5EFF58}"/>
              </a:ext>
            </a:extLst>
          </p:cNvPr>
          <p:cNvSpPr>
            <a:spLocks noGrp="1"/>
          </p:cNvSpPr>
          <p:nvPr>
            <p:ph type="sldNum" sz="quarter" idx="12"/>
          </p:nvPr>
        </p:nvSpPr>
        <p:spPr/>
        <p:txBody>
          <a:bodyPr/>
          <a:lstStyle/>
          <a:p>
            <a:fld id="{12DE3F29-1F68-43B4-BFC6-B027CAE8215F}" type="slidenum">
              <a:rPr lang="zh-TW" altLang="en-US" smtClean="0"/>
              <a:t>6</a:t>
            </a:fld>
            <a:endParaRPr lang="zh-TW" altLang="en-US"/>
          </a:p>
        </p:txBody>
      </p:sp>
      <p:pic>
        <p:nvPicPr>
          <p:cNvPr id="11" name="圖片 10">
            <a:extLst>
              <a:ext uri="{FF2B5EF4-FFF2-40B4-BE49-F238E27FC236}">
                <a16:creationId xmlns:a16="http://schemas.microsoft.com/office/drawing/2014/main" id="{6BF7F8EF-9C0D-4F24-9AF5-5280523707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2773164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運動學</a:t>
            </a:r>
            <a:r>
              <a:rPr lang="en-US" altLang="zh-TW" dirty="0"/>
              <a:t>-MDH</a:t>
            </a:r>
            <a:r>
              <a:rPr lang="zh-TW" altLang="en-US" dirty="0"/>
              <a:t> 方法</a:t>
            </a:r>
          </a:p>
        </p:txBody>
      </p:sp>
      <p:sp>
        <p:nvSpPr>
          <p:cNvPr id="9" name="內容版面配置區 8">
            <a:extLst>
              <a:ext uri="{FF2B5EF4-FFF2-40B4-BE49-F238E27FC236}">
                <a16:creationId xmlns:a16="http://schemas.microsoft.com/office/drawing/2014/main" id="{F89BCEEE-634C-4908-813C-E1DC1F51917A}"/>
              </a:ext>
            </a:extLst>
          </p:cNvPr>
          <p:cNvSpPr>
            <a:spLocks noGrp="1"/>
          </p:cNvSpPr>
          <p:nvPr>
            <p:ph idx="1"/>
          </p:nvPr>
        </p:nvSpPr>
        <p:spPr>
          <a:xfrm>
            <a:off x="506732" y="4565457"/>
            <a:ext cx="4378089" cy="1378144"/>
          </a:xfrm>
        </p:spPr>
        <p:txBody>
          <a:bodyPr>
            <a:normAutofit/>
          </a:bodyPr>
          <a:lstStyle/>
          <a:p>
            <a:pPr marL="0" indent="0">
              <a:buNone/>
            </a:pPr>
            <a:r>
              <a:rPr lang="zh-TW" altLang="en-US" sz="2000" dirty="0"/>
              <a:t>從手臂的產品手冊可以找到各軸的長度，根據</a:t>
            </a:r>
            <a:r>
              <a:rPr lang="en-US" altLang="zh-TW" sz="2000" dirty="0"/>
              <a:t>MDH</a:t>
            </a:r>
            <a:r>
              <a:rPr lang="zh-TW" altLang="en-US" sz="2000" dirty="0"/>
              <a:t>建模的原則，參考手臂各軸的旋轉方向與面向，依序列出各軸的框架與四大參數的各項數值。</a:t>
            </a:r>
            <a:endParaRPr lang="en-US" altLang="zh-TW" sz="2000" dirty="0"/>
          </a:p>
        </p:txBody>
      </p:sp>
      <p:pic>
        <p:nvPicPr>
          <p:cNvPr id="18" name="圖片 17">
            <a:extLst>
              <a:ext uri="{FF2B5EF4-FFF2-40B4-BE49-F238E27FC236}">
                <a16:creationId xmlns:a16="http://schemas.microsoft.com/office/drawing/2014/main" id="{B4C99908-56C5-4EA0-A245-E783EA39BD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586332" y="1718813"/>
            <a:ext cx="5141842" cy="719232"/>
          </a:xfrm>
          <a:prstGeom prst="rect">
            <a:avLst/>
          </a:prstGeom>
          <a:ln>
            <a:noFill/>
          </a:ln>
          <a:effectLst>
            <a:outerShdw blurRad="50800" dist="38100" dir="2700000" algn="tl" rotWithShape="0">
              <a:prstClr val="black">
                <a:alpha val="40000"/>
              </a:prstClr>
            </a:outerShdw>
          </a:effectLst>
        </p:spPr>
      </p:pic>
      <p:pic>
        <p:nvPicPr>
          <p:cNvPr id="4" name="圖片 3">
            <a:extLst>
              <a:ext uri="{FF2B5EF4-FFF2-40B4-BE49-F238E27FC236}">
                <a16:creationId xmlns:a16="http://schemas.microsoft.com/office/drawing/2014/main" id="{EBD97304-3AB1-430B-B125-AB7D997A3D0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319963" y="3036491"/>
            <a:ext cx="6418860" cy="2161754"/>
          </a:xfrm>
          <a:prstGeom prst="rect">
            <a:avLst/>
          </a:prstGeom>
          <a:ln>
            <a:solidFill>
              <a:schemeClr val="tx1"/>
            </a:solidFill>
          </a:ln>
          <a:effectLst>
            <a:outerShdw blurRad="50800" dist="38100" dir="2700000" algn="tl" rotWithShape="0">
              <a:prstClr val="black">
                <a:alpha val="40000"/>
              </a:prstClr>
            </a:outerShdw>
          </a:effectLst>
        </p:spPr>
      </p:pic>
      <p:sp>
        <p:nvSpPr>
          <p:cNvPr id="3" name="文字方塊 2">
            <a:extLst>
              <a:ext uri="{FF2B5EF4-FFF2-40B4-BE49-F238E27FC236}">
                <a16:creationId xmlns:a16="http://schemas.microsoft.com/office/drawing/2014/main" id="{FB5C7C76-5F08-429E-8D3C-5A40878CEC4B}"/>
              </a:ext>
            </a:extLst>
          </p:cNvPr>
          <p:cNvSpPr txBox="1"/>
          <p:nvPr/>
        </p:nvSpPr>
        <p:spPr>
          <a:xfrm>
            <a:off x="7861814" y="5198245"/>
            <a:ext cx="1335157" cy="369332"/>
          </a:xfrm>
          <a:prstGeom prst="rect">
            <a:avLst/>
          </a:prstGeom>
          <a:noFill/>
        </p:spPr>
        <p:txBody>
          <a:bodyPr wrap="square" rtlCol="0">
            <a:spAutoFit/>
          </a:bodyPr>
          <a:lstStyle/>
          <a:p>
            <a:r>
              <a:rPr lang="zh-TW" altLang="en-US" dirty="0"/>
              <a:t>座標系定義</a:t>
            </a:r>
          </a:p>
        </p:txBody>
      </p:sp>
      <p:sp>
        <p:nvSpPr>
          <p:cNvPr id="7" name="文字方塊 6">
            <a:extLst>
              <a:ext uri="{FF2B5EF4-FFF2-40B4-BE49-F238E27FC236}">
                <a16:creationId xmlns:a16="http://schemas.microsoft.com/office/drawing/2014/main" id="{03E07A3E-1C0D-4562-BF34-0E424210AE54}"/>
              </a:ext>
            </a:extLst>
          </p:cNvPr>
          <p:cNvSpPr txBox="1"/>
          <p:nvPr/>
        </p:nvSpPr>
        <p:spPr>
          <a:xfrm>
            <a:off x="8193103" y="2507539"/>
            <a:ext cx="1818968" cy="369332"/>
          </a:xfrm>
          <a:prstGeom prst="rect">
            <a:avLst/>
          </a:prstGeom>
          <a:noFill/>
        </p:spPr>
        <p:txBody>
          <a:bodyPr wrap="square" rtlCol="0">
            <a:spAutoFit/>
          </a:bodyPr>
          <a:lstStyle/>
          <a:p>
            <a:r>
              <a:rPr lang="zh-TW" altLang="en-US" dirty="0"/>
              <a:t>步驟</a:t>
            </a:r>
            <a:r>
              <a:rPr lang="en-US" altLang="zh-TW" dirty="0"/>
              <a:t>2.</a:t>
            </a:r>
            <a:r>
              <a:rPr lang="zh-TW" altLang="en-US" dirty="0"/>
              <a:t> 手臂建模</a:t>
            </a:r>
          </a:p>
        </p:txBody>
      </p:sp>
      <p:sp>
        <p:nvSpPr>
          <p:cNvPr id="5" name="文字方塊 4">
            <a:extLst>
              <a:ext uri="{FF2B5EF4-FFF2-40B4-BE49-F238E27FC236}">
                <a16:creationId xmlns:a16="http://schemas.microsoft.com/office/drawing/2014/main" id="{CD8C5248-4DAA-4348-95EA-76BC016AEAB7}"/>
              </a:ext>
            </a:extLst>
          </p:cNvPr>
          <p:cNvSpPr txBox="1"/>
          <p:nvPr/>
        </p:nvSpPr>
        <p:spPr>
          <a:xfrm>
            <a:off x="506732" y="1890717"/>
            <a:ext cx="4378089" cy="400110"/>
          </a:xfrm>
          <a:prstGeom prst="rect">
            <a:avLst/>
          </a:prstGeom>
          <a:solidFill>
            <a:srgbClr val="FFC000"/>
          </a:solidFill>
        </p:spPr>
        <p:txBody>
          <a:bodyPr wrap="square" rtlCol="0">
            <a:spAutoFit/>
          </a:bodyPr>
          <a:lstStyle/>
          <a:p>
            <a:pPr algn="ctr"/>
            <a:r>
              <a:rPr lang="zh-TW" altLang="en-US" sz="2000" dirty="0"/>
              <a:t>目的</a:t>
            </a:r>
            <a:endParaRPr lang="zh-TW" altLang="en-US" sz="2400" dirty="0"/>
          </a:p>
        </p:txBody>
      </p:sp>
      <p:sp>
        <p:nvSpPr>
          <p:cNvPr id="10" name="文字方塊 9">
            <a:extLst>
              <a:ext uri="{FF2B5EF4-FFF2-40B4-BE49-F238E27FC236}">
                <a16:creationId xmlns:a16="http://schemas.microsoft.com/office/drawing/2014/main" id="{547421E0-CABE-49BC-9CA9-4CF65DDE796C}"/>
              </a:ext>
            </a:extLst>
          </p:cNvPr>
          <p:cNvSpPr txBox="1"/>
          <p:nvPr/>
        </p:nvSpPr>
        <p:spPr>
          <a:xfrm>
            <a:off x="506732" y="3932702"/>
            <a:ext cx="4378089" cy="400110"/>
          </a:xfrm>
          <a:prstGeom prst="rect">
            <a:avLst/>
          </a:prstGeom>
          <a:solidFill>
            <a:srgbClr val="FFFF00"/>
          </a:solidFill>
        </p:spPr>
        <p:txBody>
          <a:bodyPr wrap="square" rtlCol="0">
            <a:spAutoFit/>
          </a:bodyPr>
          <a:lstStyle/>
          <a:p>
            <a:pPr algn="ctr"/>
            <a:r>
              <a:rPr lang="zh-TW" altLang="en-US" sz="2000" dirty="0"/>
              <a:t>方法</a:t>
            </a:r>
            <a:endParaRPr lang="zh-TW" altLang="en-US" sz="2400" dirty="0"/>
          </a:p>
        </p:txBody>
      </p:sp>
      <p:sp>
        <p:nvSpPr>
          <p:cNvPr id="11" name="文字方塊 10">
            <a:extLst>
              <a:ext uri="{FF2B5EF4-FFF2-40B4-BE49-F238E27FC236}">
                <a16:creationId xmlns:a16="http://schemas.microsoft.com/office/drawing/2014/main" id="{2992655B-A1B5-41CD-9A39-37F472E465D9}"/>
              </a:ext>
            </a:extLst>
          </p:cNvPr>
          <p:cNvSpPr txBox="1"/>
          <p:nvPr/>
        </p:nvSpPr>
        <p:spPr>
          <a:xfrm>
            <a:off x="506732" y="2420825"/>
            <a:ext cx="4378089" cy="1200329"/>
          </a:xfrm>
          <a:prstGeom prst="rect">
            <a:avLst/>
          </a:prstGeom>
          <a:noFill/>
        </p:spPr>
        <p:txBody>
          <a:bodyPr wrap="square">
            <a:spAutoFit/>
          </a:bodyPr>
          <a:lstStyle/>
          <a:p>
            <a:pPr marL="0" indent="0">
              <a:buNone/>
            </a:pPr>
            <a:r>
              <a:rPr lang="zh-TW" altLang="en-US" sz="1800" dirty="0">
                <a:solidFill>
                  <a:srgbClr val="FF0000"/>
                </a:solidFill>
              </a:rPr>
              <a:t>商用手臂對不同軸向定義不盡相同，而底層的運動學模型通常是無法存取的，為了後續的插件系統的模擬，將手臂完整建模是必須的。</a:t>
            </a:r>
            <a:endParaRPr lang="en-US" altLang="zh-TW" sz="1800" dirty="0">
              <a:solidFill>
                <a:srgbClr val="FF0000"/>
              </a:solidFill>
            </a:endParaRPr>
          </a:p>
        </p:txBody>
      </p:sp>
      <p:sp>
        <p:nvSpPr>
          <p:cNvPr id="12" name="投影片編號版面配置區 11">
            <a:extLst>
              <a:ext uri="{FF2B5EF4-FFF2-40B4-BE49-F238E27FC236}">
                <a16:creationId xmlns:a16="http://schemas.microsoft.com/office/drawing/2014/main" id="{B9BC0702-E8E6-4B6F-A6E8-7052D50065BE}"/>
              </a:ext>
            </a:extLst>
          </p:cNvPr>
          <p:cNvSpPr>
            <a:spLocks noGrp="1"/>
          </p:cNvSpPr>
          <p:nvPr>
            <p:ph type="sldNum" sz="quarter" idx="12"/>
          </p:nvPr>
        </p:nvSpPr>
        <p:spPr/>
        <p:txBody>
          <a:bodyPr/>
          <a:lstStyle/>
          <a:p>
            <a:fld id="{12DE3F29-1F68-43B4-BFC6-B027CAE8215F}" type="slidenum">
              <a:rPr lang="zh-TW" altLang="en-US" smtClean="0"/>
              <a:t>7</a:t>
            </a:fld>
            <a:endParaRPr lang="zh-TW" altLang="en-US"/>
          </a:p>
        </p:txBody>
      </p:sp>
      <p:pic>
        <p:nvPicPr>
          <p:cNvPr id="14" name="圖片 13">
            <a:extLst>
              <a:ext uri="{FF2B5EF4-FFF2-40B4-BE49-F238E27FC236}">
                <a16:creationId xmlns:a16="http://schemas.microsoft.com/office/drawing/2014/main" id="{9747A31E-12E6-4117-A83E-52AD435E70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2145829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5" grpId="0" animBg="1"/>
      <p:bldP spid="10" grpId="0" animBg="1"/>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8367E4-6F27-41A4-A11D-3CAFF952FB89}"/>
              </a:ext>
            </a:extLst>
          </p:cNvPr>
          <p:cNvSpPr>
            <a:spLocks noGrp="1"/>
          </p:cNvSpPr>
          <p:nvPr>
            <p:ph type="title"/>
          </p:nvPr>
        </p:nvSpPr>
        <p:spPr/>
        <p:txBody>
          <a:bodyPr/>
          <a:lstStyle/>
          <a:p>
            <a:r>
              <a:rPr lang="zh-TW" altLang="en-US" dirty="0"/>
              <a:t>手臂建模</a:t>
            </a:r>
          </a:p>
        </p:txBody>
      </p:sp>
      <p:sp>
        <p:nvSpPr>
          <p:cNvPr id="3" name="內容版面配置區 2">
            <a:extLst>
              <a:ext uri="{FF2B5EF4-FFF2-40B4-BE49-F238E27FC236}">
                <a16:creationId xmlns:a16="http://schemas.microsoft.com/office/drawing/2014/main" id="{C5993EE0-30F7-43ED-B7F7-58CD0EC730E9}"/>
              </a:ext>
            </a:extLst>
          </p:cNvPr>
          <p:cNvSpPr>
            <a:spLocks noGrp="1"/>
          </p:cNvSpPr>
          <p:nvPr>
            <p:ph idx="1"/>
          </p:nvPr>
        </p:nvSpPr>
        <p:spPr>
          <a:xfrm>
            <a:off x="555458" y="2763930"/>
            <a:ext cx="4545931" cy="2002945"/>
          </a:xfrm>
        </p:spPr>
        <p:txBody>
          <a:bodyPr/>
          <a:lstStyle/>
          <a:p>
            <a:pPr marL="0" indent="0">
              <a:buNone/>
            </a:pPr>
            <a:r>
              <a:rPr lang="zh-TW" altLang="en-US" sz="2400" dirty="0"/>
              <a:t>建立一套不依賴原廠底層權限的六軸機械手臂模擬模型。</a:t>
            </a:r>
            <a:endParaRPr lang="en-US" altLang="zh-TW" sz="2400" dirty="0"/>
          </a:p>
          <a:p>
            <a:pPr marL="0" indent="0">
              <a:buNone/>
            </a:pPr>
            <a:r>
              <a:rPr lang="zh-TW" altLang="en-US" sz="2400" dirty="0"/>
              <a:t>模型可以模擬實體手臂的動作，並依照給予的各軸角度做變化，也可以在模擬空間中移動。</a:t>
            </a:r>
          </a:p>
        </p:txBody>
      </p:sp>
      <p:pic>
        <p:nvPicPr>
          <p:cNvPr id="5" name="圖片 4">
            <a:extLst>
              <a:ext uri="{FF2B5EF4-FFF2-40B4-BE49-F238E27FC236}">
                <a16:creationId xmlns:a16="http://schemas.microsoft.com/office/drawing/2014/main" id="{EBCE7FF0-3F06-41A2-B31E-27A805786B75}"/>
              </a:ext>
            </a:extLst>
          </p:cNvPr>
          <p:cNvPicPr>
            <a:picLocks noChangeAspect="1"/>
          </p:cNvPicPr>
          <p:nvPr/>
        </p:nvPicPr>
        <p:blipFill>
          <a:blip r:embed="rId3"/>
          <a:stretch>
            <a:fillRect/>
          </a:stretch>
        </p:blipFill>
        <p:spPr>
          <a:xfrm>
            <a:off x="5397910" y="2190060"/>
            <a:ext cx="6515197" cy="2872898"/>
          </a:xfrm>
          <a:prstGeom prst="rect">
            <a:avLst/>
          </a:prstGeom>
          <a:ln>
            <a:solidFill>
              <a:schemeClr val="tx1"/>
            </a:solidFill>
          </a:ln>
          <a:effectLst>
            <a:outerShdw blurRad="50800" dist="38100" dir="2700000" algn="tl" rotWithShape="0">
              <a:prstClr val="black">
                <a:alpha val="40000"/>
              </a:prstClr>
            </a:outerShdw>
          </a:effectLst>
        </p:spPr>
      </p:pic>
      <p:sp>
        <p:nvSpPr>
          <p:cNvPr id="4" name="文字方塊 3">
            <a:extLst>
              <a:ext uri="{FF2B5EF4-FFF2-40B4-BE49-F238E27FC236}">
                <a16:creationId xmlns:a16="http://schemas.microsoft.com/office/drawing/2014/main" id="{55016F0E-7166-48DB-84A6-088D72FC8D05}"/>
              </a:ext>
            </a:extLst>
          </p:cNvPr>
          <p:cNvSpPr txBox="1"/>
          <p:nvPr/>
        </p:nvSpPr>
        <p:spPr>
          <a:xfrm>
            <a:off x="6670995" y="5192998"/>
            <a:ext cx="3969026" cy="369332"/>
          </a:xfrm>
          <a:prstGeom prst="rect">
            <a:avLst/>
          </a:prstGeom>
          <a:noFill/>
        </p:spPr>
        <p:txBody>
          <a:bodyPr wrap="square" rtlCol="0">
            <a:spAutoFit/>
          </a:bodyPr>
          <a:lstStyle/>
          <a:p>
            <a:r>
              <a:rPr lang="zh-TW" altLang="en-US" dirty="0"/>
              <a:t>模擬環境建模與實體手臂操作畫面</a:t>
            </a:r>
          </a:p>
        </p:txBody>
      </p:sp>
      <p:sp>
        <p:nvSpPr>
          <p:cNvPr id="6" name="文字方塊 5">
            <a:extLst>
              <a:ext uri="{FF2B5EF4-FFF2-40B4-BE49-F238E27FC236}">
                <a16:creationId xmlns:a16="http://schemas.microsoft.com/office/drawing/2014/main" id="{713C562F-8CBD-4F3B-A998-92F83CBCFFD1}"/>
              </a:ext>
            </a:extLst>
          </p:cNvPr>
          <p:cNvSpPr txBox="1"/>
          <p:nvPr/>
        </p:nvSpPr>
        <p:spPr>
          <a:xfrm>
            <a:off x="555460" y="2190060"/>
            <a:ext cx="4545929" cy="400110"/>
          </a:xfrm>
          <a:prstGeom prst="rect">
            <a:avLst/>
          </a:prstGeom>
          <a:solidFill>
            <a:srgbClr val="92D050"/>
          </a:solidFill>
        </p:spPr>
        <p:txBody>
          <a:bodyPr wrap="square" rtlCol="0">
            <a:spAutoFit/>
          </a:bodyPr>
          <a:lstStyle/>
          <a:p>
            <a:pPr algn="ctr"/>
            <a:r>
              <a:rPr lang="zh-TW" altLang="en-US" sz="2000" dirty="0"/>
              <a:t>結果</a:t>
            </a:r>
            <a:endParaRPr lang="zh-TW" altLang="en-US" sz="1600" dirty="0"/>
          </a:p>
        </p:txBody>
      </p:sp>
      <p:sp>
        <p:nvSpPr>
          <p:cNvPr id="8" name="投影片編號版面配置區 7">
            <a:extLst>
              <a:ext uri="{FF2B5EF4-FFF2-40B4-BE49-F238E27FC236}">
                <a16:creationId xmlns:a16="http://schemas.microsoft.com/office/drawing/2014/main" id="{0018B99A-7C12-4270-95AE-C2F0D3E6654F}"/>
              </a:ext>
            </a:extLst>
          </p:cNvPr>
          <p:cNvSpPr>
            <a:spLocks noGrp="1"/>
          </p:cNvSpPr>
          <p:nvPr>
            <p:ph type="sldNum" sz="quarter" idx="12"/>
          </p:nvPr>
        </p:nvSpPr>
        <p:spPr/>
        <p:txBody>
          <a:bodyPr/>
          <a:lstStyle/>
          <a:p>
            <a:fld id="{12DE3F29-1F68-43B4-BFC6-B027CAE8215F}" type="slidenum">
              <a:rPr lang="zh-TW" altLang="en-US" smtClean="0"/>
              <a:t>8</a:t>
            </a:fld>
            <a:endParaRPr lang="zh-TW" altLang="en-US"/>
          </a:p>
        </p:txBody>
      </p:sp>
      <p:pic>
        <p:nvPicPr>
          <p:cNvPr id="9" name="圖片 8">
            <a:extLst>
              <a:ext uri="{FF2B5EF4-FFF2-40B4-BE49-F238E27FC236}">
                <a16:creationId xmlns:a16="http://schemas.microsoft.com/office/drawing/2014/main" id="{5293620B-C0DF-4EE1-9FFF-A1E116AB0D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1735436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TCP</a:t>
            </a:r>
            <a:r>
              <a:rPr lang="zh-TW" altLang="en-US" dirty="0"/>
              <a:t> 補償</a:t>
            </a:r>
          </a:p>
        </p:txBody>
      </p:sp>
      <p:sp>
        <p:nvSpPr>
          <p:cNvPr id="5" name="內容版面配置區 4">
            <a:extLst>
              <a:ext uri="{FF2B5EF4-FFF2-40B4-BE49-F238E27FC236}">
                <a16:creationId xmlns:a16="http://schemas.microsoft.com/office/drawing/2014/main" id="{EC245D60-B534-4078-8EE7-0971AF648C56}"/>
              </a:ext>
            </a:extLst>
          </p:cNvPr>
          <p:cNvSpPr>
            <a:spLocks noGrp="1"/>
          </p:cNvSpPr>
          <p:nvPr>
            <p:ph idx="1"/>
          </p:nvPr>
        </p:nvSpPr>
        <p:spPr>
          <a:xfrm>
            <a:off x="483267" y="2491572"/>
            <a:ext cx="4148890" cy="1087308"/>
          </a:xfrm>
        </p:spPr>
        <p:txBody>
          <a:bodyPr>
            <a:normAutofit/>
          </a:bodyPr>
          <a:lstStyle/>
          <a:p>
            <a:pPr marL="0" indent="0">
              <a:buNone/>
            </a:pPr>
            <a:r>
              <a:rPr lang="zh-TW" altLang="en-US" sz="2000" dirty="0"/>
              <a:t>從數學的角度修正實際</a:t>
            </a:r>
            <a:r>
              <a:rPr lang="en-US" altLang="zh-TW" sz="2000" dirty="0"/>
              <a:t>TCP</a:t>
            </a:r>
            <a:r>
              <a:rPr lang="zh-TW" altLang="en-US" sz="2000" dirty="0"/>
              <a:t>相較於理想</a:t>
            </a:r>
            <a:r>
              <a:rPr lang="en-US" altLang="zh-TW" sz="2000" dirty="0"/>
              <a:t>TCP</a:t>
            </a:r>
            <a:r>
              <a:rPr lang="zh-TW" altLang="en-US" sz="2000" dirty="0"/>
              <a:t>歪斜時插件成功率明顯大幅下降的問題。</a:t>
            </a:r>
            <a:endParaRPr lang="en-US" altLang="zh-TW" sz="2000" dirty="0"/>
          </a:p>
        </p:txBody>
      </p:sp>
      <p:pic>
        <p:nvPicPr>
          <p:cNvPr id="8" name="圖片 7">
            <a:extLst>
              <a:ext uri="{FF2B5EF4-FFF2-40B4-BE49-F238E27FC236}">
                <a16:creationId xmlns:a16="http://schemas.microsoft.com/office/drawing/2014/main" id="{2B84FF76-F18B-4287-9ECC-692CDD16C5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78244" y="958944"/>
            <a:ext cx="6515198" cy="968677"/>
          </a:xfrm>
          <a:prstGeom prst="rect">
            <a:avLst/>
          </a:prstGeom>
        </p:spPr>
      </p:pic>
      <p:pic>
        <p:nvPicPr>
          <p:cNvPr id="4" name="圖片 3">
            <a:extLst>
              <a:ext uri="{FF2B5EF4-FFF2-40B4-BE49-F238E27FC236}">
                <a16:creationId xmlns:a16="http://schemas.microsoft.com/office/drawing/2014/main" id="{BAF53DC2-CE88-4407-8313-7BA71AA2437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421737" y="2224375"/>
            <a:ext cx="4428210" cy="4146415"/>
          </a:xfrm>
          <a:prstGeom prst="rect">
            <a:avLst/>
          </a:prstGeom>
          <a:effectLst>
            <a:outerShdw blurRad="50800" dist="38100" dir="2700000" algn="tl" rotWithShape="0">
              <a:prstClr val="black">
                <a:alpha val="40000"/>
              </a:prstClr>
            </a:outerShdw>
          </a:effectLst>
        </p:spPr>
      </p:pic>
      <p:sp>
        <p:nvSpPr>
          <p:cNvPr id="6" name="文字方塊 5">
            <a:extLst>
              <a:ext uri="{FF2B5EF4-FFF2-40B4-BE49-F238E27FC236}">
                <a16:creationId xmlns:a16="http://schemas.microsoft.com/office/drawing/2014/main" id="{F25B0803-D926-45EC-A756-0D35539D26F0}"/>
              </a:ext>
            </a:extLst>
          </p:cNvPr>
          <p:cNvSpPr txBox="1"/>
          <p:nvPr/>
        </p:nvSpPr>
        <p:spPr>
          <a:xfrm>
            <a:off x="7535911" y="6370790"/>
            <a:ext cx="2199861" cy="369332"/>
          </a:xfrm>
          <a:prstGeom prst="rect">
            <a:avLst/>
          </a:prstGeom>
          <a:noFill/>
        </p:spPr>
        <p:txBody>
          <a:bodyPr wrap="square" rtlCol="0">
            <a:spAutoFit/>
          </a:bodyPr>
          <a:lstStyle/>
          <a:p>
            <a:r>
              <a:rPr lang="zh-TW" altLang="en-US" dirty="0"/>
              <a:t>軟性材料幾何位置</a:t>
            </a:r>
          </a:p>
        </p:txBody>
      </p:sp>
      <p:sp>
        <p:nvSpPr>
          <p:cNvPr id="9" name="文字方塊 8">
            <a:extLst>
              <a:ext uri="{FF2B5EF4-FFF2-40B4-BE49-F238E27FC236}">
                <a16:creationId xmlns:a16="http://schemas.microsoft.com/office/drawing/2014/main" id="{9103DAFC-32DE-472D-910C-6766511E0106}"/>
              </a:ext>
            </a:extLst>
          </p:cNvPr>
          <p:cNvSpPr txBox="1"/>
          <p:nvPr/>
        </p:nvSpPr>
        <p:spPr>
          <a:xfrm>
            <a:off x="7455972" y="1887850"/>
            <a:ext cx="2359742" cy="369332"/>
          </a:xfrm>
          <a:prstGeom prst="rect">
            <a:avLst/>
          </a:prstGeom>
          <a:noFill/>
        </p:spPr>
        <p:txBody>
          <a:bodyPr wrap="square" rtlCol="0">
            <a:spAutoFit/>
          </a:bodyPr>
          <a:lstStyle/>
          <a:p>
            <a:r>
              <a:rPr lang="zh-TW" altLang="en-US" dirty="0"/>
              <a:t>步驟</a:t>
            </a:r>
            <a:r>
              <a:rPr lang="en-US" altLang="zh-TW" dirty="0"/>
              <a:t>3. </a:t>
            </a:r>
            <a:r>
              <a:rPr lang="zh-TW" altLang="en-US" dirty="0"/>
              <a:t>計算</a:t>
            </a:r>
            <a:r>
              <a:rPr lang="en-US" altLang="zh-TW" dirty="0"/>
              <a:t>TCP</a:t>
            </a:r>
            <a:r>
              <a:rPr lang="zh-TW" altLang="en-US" dirty="0"/>
              <a:t>位移</a:t>
            </a:r>
          </a:p>
        </p:txBody>
      </p:sp>
      <p:sp>
        <p:nvSpPr>
          <p:cNvPr id="10" name="文字方塊 9">
            <a:extLst>
              <a:ext uri="{FF2B5EF4-FFF2-40B4-BE49-F238E27FC236}">
                <a16:creationId xmlns:a16="http://schemas.microsoft.com/office/drawing/2014/main" id="{068D31C7-F57E-4902-932C-13B6EA69C216}"/>
              </a:ext>
            </a:extLst>
          </p:cNvPr>
          <p:cNvSpPr txBox="1"/>
          <p:nvPr/>
        </p:nvSpPr>
        <p:spPr>
          <a:xfrm>
            <a:off x="483267" y="1927621"/>
            <a:ext cx="4148890" cy="400110"/>
          </a:xfrm>
          <a:prstGeom prst="rect">
            <a:avLst/>
          </a:prstGeom>
          <a:solidFill>
            <a:srgbClr val="FFC000"/>
          </a:solidFill>
        </p:spPr>
        <p:txBody>
          <a:bodyPr wrap="square" rtlCol="0">
            <a:spAutoFit/>
          </a:bodyPr>
          <a:lstStyle/>
          <a:p>
            <a:pPr algn="ctr"/>
            <a:r>
              <a:rPr lang="zh-TW" altLang="en-US" sz="2000" dirty="0"/>
              <a:t>目的</a:t>
            </a:r>
            <a:endParaRPr lang="zh-TW" altLang="en-US" dirty="0"/>
          </a:p>
        </p:txBody>
      </p:sp>
      <p:sp>
        <p:nvSpPr>
          <p:cNvPr id="11" name="文字方塊 10">
            <a:extLst>
              <a:ext uri="{FF2B5EF4-FFF2-40B4-BE49-F238E27FC236}">
                <a16:creationId xmlns:a16="http://schemas.microsoft.com/office/drawing/2014/main" id="{753C28E9-A0F0-44CC-937A-E600227769E2}"/>
              </a:ext>
            </a:extLst>
          </p:cNvPr>
          <p:cNvSpPr txBox="1"/>
          <p:nvPr/>
        </p:nvSpPr>
        <p:spPr>
          <a:xfrm>
            <a:off x="483267" y="4237424"/>
            <a:ext cx="4103770" cy="1631216"/>
          </a:xfrm>
          <a:prstGeom prst="rect">
            <a:avLst/>
          </a:prstGeom>
          <a:noFill/>
        </p:spPr>
        <p:txBody>
          <a:bodyPr wrap="square">
            <a:spAutoFit/>
          </a:bodyPr>
          <a:lstStyle/>
          <a:p>
            <a:r>
              <a:rPr lang="zh-TW" altLang="en-US" sz="2000" dirty="0"/>
              <a:t>在實體手臂不更改理想</a:t>
            </a:r>
            <a:r>
              <a:rPr lang="en-US" altLang="zh-TW" sz="2000" dirty="0"/>
              <a:t>TCP</a:t>
            </a:r>
            <a:r>
              <a:rPr lang="zh-TW" altLang="en-US" sz="2000" dirty="0"/>
              <a:t>的狀態下，僅透過模型根據實際</a:t>
            </a:r>
            <a:r>
              <a:rPr lang="en-US" altLang="zh-TW" sz="2000" dirty="0"/>
              <a:t>TCP</a:t>
            </a:r>
            <a:r>
              <a:rPr lang="zh-TW" altLang="en-US" sz="2000" dirty="0"/>
              <a:t>歪斜角度與位置計算假想</a:t>
            </a:r>
            <a:r>
              <a:rPr lang="en-US" altLang="zh-TW" sz="2000" dirty="0"/>
              <a:t>TCP</a:t>
            </a:r>
            <a:r>
              <a:rPr lang="zh-TW" altLang="en-US" sz="2000" dirty="0"/>
              <a:t>後用逆運動學</a:t>
            </a:r>
            <a:r>
              <a:rPr lang="en-US" altLang="zh-TW" sz="2000" dirty="0"/>
              <a:t>(IK)</a:t>
            </a:r>
            <a:r>
              <a:rPr lang="zh-TW" altLang="en-US" sz="2000" dirty="0"/>
              <a:t>推算各軸角度，將角度代回實體手臂依然可以正確執行任務。</a:t>
            </a:r>
            <a:endParaRPr lang="en-US" altLang="zh-TW" sz="2000" dirty="0"/>
          </a:p>
        </p:txBody>
      </p:sp>
      <p:sp>
        <p:nvSpPr>
          <p:cNvPr id="13" name="文字方塊 12">
            <a:extLst>
              <a:ext uri="{FF2B5EF4-FFF2-40B4-BE49-F238E27FC236}">
                <a16:creationId xmlns:a16="http://schemas.microsoft.com/office/drawing/2014/main" id="{BFD5A5F6-32AF-4530-A737-6BEBD6787471}"/>
              </a:ext>
            </a:extLst>
          </p:cNvPr>
          <p:cNvSpPr txBox="1"/>
          <p:nvPr/>
        </p:nvSpPr>
        <p:spPr>
          <a:xfrm>
            <a:off x="483267" y="3668965"/>
            <a:ext cx="4148890" cy="400110"/>
          </a:xfrm>
          <a:prstGeom prst="rect">
            <a:avLst/>
          </a:prstGeom>
          <a:solidFill>
            <a:srgbClr val="FFFF00"/>
          </a:solidFill>
        </p:spPr>
        <p:txBody>
          <a:bodyPr wrap="square" rtlCol="0">
            <a:spAutoFit/>
          </a:bodyPr>
          <a:lstStyle/>
          <a:p>
            <a:pPr algn="ctr"/>
            <a:r>
              <a:rPr lang="zh-TW" altLang="en-US" sz="2000" dirty="0"/>
              <a:t>方法</a:t>
            </a:r>
            <a:endParaRPr lang="zh-TW" altLang="en-US" dirty="0"/>
          </a:p>
        </p:txBody>
      </p:sp>
      <p:sp>
        <p:nvSpPr>
          <p:cNvPr id="14" name="投影片編號版面配置區 13">
            <a:extLst>
              <a:ext uri="{FF2B5EF4-FFF2-40B4-BE49-F238E27FC236}">
                <a16:creationId xmlns:a16="http://schemas.microsoft.com/office/drawing/2014/main" id="{08228311-036F-440C-A30C-D5F26BAC9279}"/>
              </a:ext>
            </a:extLst>
          </p:cNvPr>
          <p:cNvSpPr>
            <a:spLocks noGrp="1"/>
          </p:cNvSpPr>
          <p:nvPr>
            <p:ph type="sldNum" sz="quarter" idx="12"/>
          </p:nvPr>
        </p:nvSpPr>
        <p:spPr/>
        <p:txBody>
          <a:bodyPr/>
          <a:lstStyle/>
          <a:p>
            <a:fld id="{12DE3F29-1F68-43B4-BFC6-B027CAE8215F}" type="slidenum">
              <a:rPr lang="zh-TW" altLang="en-US" smtClean="0"/>
              <a:t>9</a:t>
            </a:fld>
            <a:endParaRPr lang="zh-TW" altLang="en-US"/>
          </a:p>
        </p:txBody>
      </p:sp>
      <p:pic>
        <p:nvPicPr>
          <p:cNvPr id="15" name="圖片 14">
            <a:extLst>
              <a:ext uri="{FF2B5EF4-FFF2-40B4-BE49-F238E27FC236}">
                <a16:creationId xmlns:a16="http://schemas.microsoft.com/office/drawing/2014/main" id="{0488F211-9B68-48E8-8F59-1F9B6B9566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2898821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0" grpId="0" animBg="1"/>
      <p:bldP spid="11" grpId="0"/>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47400B-157D-41BB-849E-A5F35F305B52}"/>
              </a:ext>
            </a:extLst>
          </p:cNvPr>
          <p:cNvSpPr>
            <a:spLocks noGrp="1"/>
          </p:cNvSpPr>
          <p:nvPr>
            <p:ph type="title"/>
          </p:nvPr>
        </p:nvSpPr>
        <p:spPr/>
        <p:txBody>
          <a:bodyPr/>
          <a:lstStyle/>
          <a:p>
            <a:r>
              <a:rPr lang="en-US" altLang="zh-TW" dirty="0"/>
              <a:t>2D</a:t>
            </a:r>
            <a:r>
              <a:rPr lang="zh-TW" altLang="en-US" dirty="0"/>
              <a:t> 分析</a:t>
            </a: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11A34727-06BF-4880-9041-D5C777DB6C98}"/>
                  </a:ext>
                </a:extLst>
              </p:cNvPr>
              <p:cNvSpPr txBox="1"/>
              <p:nvPr/>
            </p:nvSpPr>
            <p:spPr>
              <a:xfrm>
                <a:off x="352167" y="2273859"/>
                <a:ext cx="4820468" cy="3210238"/>
              </a:xfrm>
              <a:prstGeom prst="rect">
                <a:avLst/>
              </a:prstGeom>
              <a:noFill/>
            </p:spPr>
            <p:txBody>
              <a:bodyPr wrap="square" rtlCol="0">
                <a:spAutoFit/>
              </a:bodyPr>
              <a:lstStyle/>
              <a:p>
                <a:r>
                  <a:rPr lang="zh-TW" altLang="en-US" dirty="0"/>
                  <a:t>補償空間中線材尖端與手臂末端第六軸的夾角</a:t>
                </a:r>
                <a:endParaRPr lang="en-US" altLang="zh-TW" dirty="0"/>
              </a:p>
              <a:p>
                <a:r>
                  <a:rPr lang="zh-TW" altLang="en-US" dirty="0"/>
                  <a:t>讓原本的</a:t>
                </a:r>
                <a:r>
                  <a:rPr lang="en-US" altLang="zh-TW" dirty="0"/>
                  <a:t>J6</a:t>
                </a:r>
                <a:r>
                  <a:rPr lang="zh-TW" altLang="en-US" dirty="0"/>
                  <a:t>到實際</a:t>
                </a:r>
                <a:r>
                  <a:rPr lang="en-US" altLang="zh-TW" dirty="0"/>
                  <a:t>TCP</a:t>
                </a:r>
                <a:r>
                  <a:rPr lang="zh-TW" altLang="en-US" dirty="0"/>
                  <a:t>的向量</a:t>
                </a:r>
                <a:r>
                  <a:rPr lang="en-US" altLang="zh-TW" dirty="0"/>
                  <a:t>(</a:t>
                </a:r>
                <a14:m>
                  <m:oMath xmlns:m="http://schemas.openxmlformats.org/officeDocument/2006/math">
                    <m:acc>
                      <m:accPr>
                        <m:chr m:val="⃑"/>
                        <m:ctrlPr>
                          <a:rPr lang="zh-TW" altLang="en-US" i="1" smtClean="0">
                            <a:latin typeface="Cambria Math" panose="02040503050406030204" pitchFamily="18" charset="0"/>
                          </a:rPr>
                        </m:ctrlPr>
                      </m:accPr>
                      <m:e>
                        <m:r>
                          <m:rPr>
                            <m:sty m:val="p"/>
                          </m:rPr>
                          <a:rPr lang="en-US" altLang="zh-TW" b="0" i="0" smtClean="0">
                            <a:latin typeface="Cambria Math" panose="02040503050406030204" pitchFamily="18" charset="0"/>
                          </a:rPr>
                          <m:t>A</m:t>
                        </m:r>
                        <m:r>
                          <m:rPr>
                            <m:sty m:val="p"/>
                          </m:rPr>
                          <a:rPr lang="en-US" altLang="zh-TW" i="1">
                            <a:latin typeface="Cambria Math" panose="02040503050406030204" pitchFamily="18" charset="0"/>
                          </a:rPr>
                          <m:t>C</m:t>
                        </m:r>
                      </m:e>
                    </m:acc>
                  </m:oMath>
                </a14:m>
                <a:r>
                  <a:rPr lang="en-US" altLang="zh-TW" dirty="0"/>
                  <a:t>)</a:t>
                </a:r>
              </a:p>
              <a:p>
                <a:r>
                  <a:rPr lang="zh-TW" altLang="en-US" dirty="0"/>
                  <a:t>能與插件孔面法向量</a:t>
                </a:r>
                <a:endParaRPr lang="en-US" altLang="zh-TW" dirty="0"/>
              </a:p>
              <a:p>
                <a:r>
                  <a:rPr lang="zh-TW" altLang="en-US" dirty="0"/>
                  <a:t>兩者單位向量對齊</a:t>
                </a:r>
                <a:r>
                  <a:rPr lang="en-US" altLang="zh-TW" dirty="0"/>
                  <a:t>(</a:t>
                </a:r>
                <a:r>
                  <a:rPr lang="zh-TW" altLang="en-US" dirty="0"/>
                  <a:t>同方向且大小相同</a:t>
                </a:r>
                <a:r>
                  <a:rPr lang="en-US" altLang="zh-TW" dirty="0"/>
                  <a:t>)</a:t>
                </a:r>
              </a:p>
              <a:p>
                <a:r>
                  <a:rPr lang="zh-TW" altLang="en-US" dirty="0">
                    <a:solidFill>
                      <a:srgbClr val="FF0000"/>
                    </a:solidFill>
                  </a:rPr>
                  <a:t>但並不代表</a:t>
                </a:r>
                <a14:m>
                  <m:oMath xmlns:m="http://schemas.openxmlformats.org/officeDocument/2006/math">
                    <m:acc>
                      <m:accPr>
                        <m:chr m:val="⃑"/>
                        <m:ctrlPr>
                          <a:rPr lang="zh-TW" altLang="en-US" i="1" smtClean="0">
                            <a:solidFill>
                              <a:srgbClr val="FF0000"/>
                            </a:solidFill>
                            <a:latin typeface="Cambria Math" panose="02040503050406030204" pitchFamily="18" charset="0"/>
                          </a:rPr>
                        </m:ctrlPr>
                      </m:accPr>
                      <m:e>
                        <m:r>
                          <m:rPr>
                            <m:sty m:val="p"/>
                          </m:rPr>
                          <a:rPr lang="en-US" altLang="zh-TW" b="0" i="0" smtClean="0">
                            <a:solidFill>
                              <a:srgbClr val="FF0000"/>
                            </a:solidFill>
                            <a:latin typeface="Cambria Math" panose="02040503050406030204" pitchFamily="18" charset="0"/>
                          </a:rPr>
                          <m:t>B</m:t>
                        </m:r>
                        <m:r>
                          <a:rPr lang="en-US" altLang="zh-TW" b="0" i="0" smtClean="0">
                            <a:solidFill>
                              <a:srgbClr val="FF0000"/>
                            </a:solidFill>
                            <a:latin typeface="Cambria Math" panose="02040503050406030204" pitchFamily="18" charset="0"/>
                          </a:rPr>
                          <m:t>′′</m:t>
                        </m:r>
                        <m:r>
                          <m:rPr>
                            <m:sty m:val="p"/>
                          </m:rPr>
                          <a:rPr lang="en-US" altLang="zh-TW" b="0" i="0" smtClean="0">
                            <a:solidFill>
                              <a:srgbClr val="FF0000"/>
                            </a:solidFill>
                            <a:latin typeface="Cambria Math" panose="02040503050406030204" pitchFamily="18" charset="0"/>
                          </a:rPr>
                          <m:t>C</m:t>
                        </m:r>
                        <m:r>
                          <a:rPr lang="en-US" altLang="zh-TW" b="0" i="1" smtClean="0">
                            <a:solidFill>
                              <a:srgbClr val="FF0000"/>
                            </a:solidFill>
                            <a:latin typeface="Cambria Math" panose="02040503050406030204" pitchFamily="18" charset="0"/>
                          </a:rPr>
                          <m:t>′′</m:t>
                        </m:r>
                      </m:e>
                    </m:acc>
                  </m:oMath>
                </a14:m>
                <a:r>
                  <a:rPr lang="zh-TW" altLang="en-US" dirty="0">
                    <a:solidFill>
                      <a:srgbClr val="FF0000"/>
                    </a:solidFill>
                  </a:rPr>
                  <a:t>一定在插件孔面前</a:t>
                </a:r>
                <a:endParaRPr lang="en-US" altLang="zh-TW" dirty="0">
                  <a:solidFill>
                    <a:srgbClr val="FF0000"/>
                  </a:solidFill>
                </a:endParaRPr>
              </a:p>
              <a:p>
                <a:r>
                  <a:rPr lang="zh-TW" altLang="en-US" dirty="0"/>
                  <a:t>只有限定方向正確</a:t>
                </a:r>
                <a:endParaRPr lang="en-US" altLang="zh-TW" dirty="0"/>
              </a:p>
              <a:p>
                <a:r>
                  <a:rPr lang="zh-TW" altLang="en-US" dirty="0"/>
                  <a:t>確定假想</a:t>
                </a:r>
                <a:r>
                  <a:rPr lang="en-US" altLang="zh-TW" dirty="0"/>
                  <a:t>TCP</a:t>
                </a:r>
                <a:r>
                  <a:rPr lang="zh-TW" altLang="en-US" dirty="0"/>
                  <a:t>位置後</a:t>
                </a:r>
                <a:endParaRPr lang="en-US" altLang="zh-TW" dirty="0"/>
              </a:p>
              <a:p>
                <a:r>
                  <a:rPr lang="zh-TW" altLang="en-US" dirty="0"/>
                  <a:t>才針對假想</a:t>
                </a:r>
                <a:r>
                  <a:rPr lang="en-US" altLang="zh-TW" dirty="0"/>
                  <a:t>TCP</a:t>
                </a:r>
                <a:r>
                  <a:rPr lang="zh-TW" altLang="en-US" dirty="0"/>
                  <a:t>位置到插件孔面回推各軸角度</a:t>
                </a:r>
              </a:p>
              <a:p>
                <a:endParaRPr lang="en-US" altLang="zh-TW" dirty="0"/>
              </a:p>
              <a:p>
                <a:r>
                  <a:rPr lang="en-US" altLang="zh-TW" dirty="0"/>
                  <a:t>3D</a:t>
                </a:r>
                <a:r>
                  <a:rPr lang="zh-TW" altLang="en-US" dirty="0"/>
                  <a:t>分析中以</a:t>
                </a:r>
                <a:r>
                  <a:rPr lang="en-US" altLang="zh-TW" dirty="0"/>
                  <a:t>J6</a:t>
                </a:r>
                <a:r>
                  <a:rPr lang="zh-TW" altLang="en-US" dirty="0"/>
                  <a:t>代表</a:t>
                </a:r>
                <a:r>
                  <a:rPr lang="en-US" altLang="zh-TW" dirty="0"/>
                  <a:t>A</a:t>
                </a:r>
                <a:r>
                  <a:rPr lang="zh-TW" altLang="en-US" dirty="0"/>
                  <a:t>點</a:t>
                </a:r>
                <a:endParaRPr lang="en-US" altLang="zh-TW" dirty="0"/>
              </a:p>
              <a:p>
                <a:r>
                  <a:rPr lang="en-US" altLang="zh-TW" dirty="0"/>
                  <a:t>J7</a:t>
                </a:r>
                <a:r>
                  <a:rPr lang="zh-TW" altLang="en-US" dirty="0"/>
                  <a:t>代表</a:t>
                </a:r>
                <a:r>
                  <a:rPr lang="en-US" altLang="zh-TW" dirty="0"/>
                  <a:t>B</a:t>
                </a:r>
                <a:r>
                  <a:rPr lang="zh-TW" altLang="en-US" dirty="0"/>
                  <a:t>點，</a:t>
                </a:r>
                <a:r>
                  <a:rPr lang="en-US" altLang="zh-TW" dirty="0"/>
                  <a:t>J8</a:t>
                </a:r>
                <a:r>
                  <a:rPr lang="zh-TW" altLang="en-US" dirty="0"/>
                  <a:t>代表</a:t>
                </a:r>
                <a:r>
                  <a:rPr lang="en-US" altLang="zh-TW" dirty="0"/>
                  <a:t>C</a:t>
                </a:r>
                <a:r>
                  <a:rPr lang="zh-TW" altLang="en-US" dirty="0"/>
                  <a:t>點</a:t>
                </a:r>
                <a:endParaRPr lang="en-US" altLang="zh-TW" dirty="0"/>
              </a:p>
            </p:txBody>
          </p:sp>
        </mc:Choice>
        <mc:Fallback xmlns="">
          <p:sp>
            <p:nvSpPr>
              <p:cNvPr id="5" name="文字方塊 4">
                <a:extLst>
                  <a:ext uri="{FF2B5EF4-FFF2-40B4-BE49-F238E27FC236}">
                    <a16:creationId xmlns:a16="http://schemas.microsoft.com/office/drawing/2014/main" id="{11A34727-06BF-4880-9041-D5C777DB6C98}"/>
                  </a:ext>
                </a:extLst>
              </p:cNvPr>
              <p:cNvSpPr txBox="1">
                <a:spLocks noRot="1" noChangeAspect="1" noMove="1" noResize="1" noEditPoints="1" noAdjustHandles="1" noChangeArrowheads="1" noChangeShapeType="1" noTextEdit="1"/>
              </p:cNvSpPr>
              <p:nvPr/>
            </p:nvSpPr>
            <p:spPr>
              <a:xfrm>
                <a:off x="352167" y="2273859"/>
                <a:ext cx="4820468" cy="3210238"/>
              </a:xfrm>
              <a:prstGeom prst="rect">
                <a:avLst/>
              </a:prstGeom>
              <a:blipFill>
                <a:blip r:embed="rId3"/>
                <a:stretch>
                  <a:fillRect l="-1138" t="-949" b="-2657"/>
                </a:stretch>
              </a:blipFill>
            </p:spPr>
            <p:txBody>
              <a:bodyPr/>
              <a:lstStyle/>
              <a:p>
                <a:r>
                  <a:rPr lang="zh-TW" altLang="en-US">
                    <a:noFill/>
                  </a:rPr>
                  <a:t> </a:t>
                </a:r>
              </a:p>
            </p:txBody>
          </p:sp>
        </mc:Fallback>
      </mc:AlternateContent>
      <p:sp>
        <p:nvSpPr>
          <p:cNvPr id="3" name="文字方塊 2">
            <a:extLst>
              <a:ext uri="{FF2B5EF4-FFF2-40B4-BE49-F238E27FC236}">
                <a16:creationId xmlns:a16="http://schemas.microsoft.com/office/drawing/2014/main" id="{CD77419F-A399-4CF2-AA64-271B51A2EBE4}"/>
              </a:ext>
            </a:extLst>
          </p:cNvPr>
          <p:cNvSpPr txBox="1"/>
          <p:nvPr/>
        </p:nvSpPr>
        <p:spPr>
          <a:xfrm>
            <a:off x="7645717" y="6067268"/>
            <a:ext cx="2183732" cy="369332"/>
          </a:xfrm>
          <a:prstGeom prst="rect">
            <a:avLst/>
          </a:prstGeom>
          <a:noFill/>
        </p:spPr>
        <p:txBody>
          <a:bodyPr wrap="square" rtlCol="0">
            <a:spAutoFit/>
          </a:bodyPr>
          <a:lstStyle/>
          <a:p>
            <a:r>
              <a:rPr lang="zh-TW" altLang="en-US" dirty="0"/>
              <a:t>向量對齊示意圖</a:t>
            </a:r>
          </a:p>
        </p:txBody>
      </p:sp>
      <p:sp>
        <p:nvSpPr>
          <p:cNvPr id="6" name="文字方塊 5">
            <a:extLst>
              <a:ext uri="{FF2B5EF4-FFF2-40B4-BE49-F238E27FC236}">
                <a16:creationId xmlns:a16="http://schemas.microsoft.com/office/drawing/2014/main" id="{E09E8B97-0FFC-493B-9985-2B50B8CD9813}"/>
              </a:ext>
            </a:extLst>
          </p:cNvPr>
          <p:cNvSpPr txBox="1"/>
          <p:nvPr/>
        </p:nvSpPr>
        <p:spPr>
          <a:xfrm>
            <a:off x="352167" y="1686020"/>
            <a:ext cx="4820468" cy="400110"/>
          </a:xfrm>
          <a:prstGeom prst="rect">
            <a:avLst/>
          </a:prstGeom>
          <a:solidFill>
            <a:srgbClr val="00B0F0"/>
          </a:solidFill>
        </p:spPr>
        <p:txBody>
          <a:bodyPr wrap="square" rtlCol="0">
            <a:spAutoFit/>
          </a:bodyPr>
          <a:lstStyle/>
          <a:p>
            <a:pPr algn="ctr"/>
            <a:r>
              <a:rPr lang="zh-TW" altLang="en-US" sz="2000" dirty="0"/>
              <a:t>分析</a:t>
            </a:r>
            <a:endParaRPr lang="zh-TW" altLang="en-US" sz="2400" dirty="0"/>
          </a:p>
        </p:txBody>
      </p:sp>
      <p:sp>
        <p:nvSpPr>
          <p:cNvPr id="8" name="投影片編號版面配置區 7">
            <a:extLst>
              <a:ext uri="{FF2B5EF4-FFF2-40B4-BE49-F238E27FC236}">
                <a16:creationId xmlns:a16="http://schemas.microsoft.com/office/drawing/2014/main" id="{27AE896D-A243-4737-847A-C03DD82A42CF}"/>
              </a:ext>
            </a:extLst>
          </p:cNvPr>
          <p:cNvSpPr>
            <a:spLocks noGrp="1"/>
          </p:cNvSpPr>
          <p:nvPr>
            <p:ph type="sldNum" sz="quarter" idx="12"/>
          </p:nvPr>
        </p:nvSpPr>
        <p:spPr/>
        <p:txBody>
          <a:bodyPr/>
          <a:lstStyle/>
          <a:p>
            <a:fld id="{12DE3F29-1F68-43B4-BFC6-B027CAE8215F}" type="slidenum">
              <a:rPr lang="zh-TW" altLang="en-US" smtClean="0"/>
              <a:t>10</a:t>
            </a:fld>
            <a:endParaRPr lang="zh-TW" altLang="en-US"/>
          </a:p>
        </p:txBody>
      </p:sp>
      <p:pic>
        <p:nvPicPr>
          <p:cNvPr id="9" name="圖片 8">
            <a:extLst>
              <a:ext uri="{FF2B5EF4-FFF2-40B4-BE49-F238E27FC236}">
                <a16:creationId xmlns:a16="http://schemas.microsoft.com/office/drawing/2014/main" id="{20FAA3D8-6BCA-4FEA-B52E-5024607536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pic>
        <p:nvPicPr>
          <p:cNvPr id="12" name="內容版面配置區 11">
            <a:extLst>
              <a:ext uri="{FF2B5EF4-FFF2-40B4-BE49-F238E27FC236}">
                <a16:creationId xmlns:a16="http://schemas.microsoft.com/office/drawing/2014/main" id="{0AFE5D5A-09BC-4B88-88B0-FE77AD7F8A82}"/>
              </a:ext>
            </a:extLst>
          </p:cNvPr>
          <p:cNvPicPr>
            <a:picLocks noGrp="1" noChangeAspect="1"/>
          </p:cNvPicPr>
          <p:nvPr>
            <p:ph idx="1"/>
          </p:nvPr>
        </p:nvPicPr>
        <p:blipFill>
          <a:blip r:embed="rId5">
            <a:extLst>
              <a:ext uri="{28A0092B-C50C-407E-A947-70E740481C1C}">
                <a14:useLocalDpi xmlns:a14="http://schemas.microsoft.com/office/drawing/2010/main" val="0"/>
              </a:ext>
            </a:extLst>
          </a:blip>
          <a:srcRect/>
          <a:stretch/>
        </p:blipFill>
        <p:spPr>
          <a:xfrm>
            <a:off x="5205890" y="412799"/>
            <a:ext cx="6857547" cy="5654468"/>
          </a:xfrm>
        </p:spPr>
      </p:pic>
    </p:spTree>
    <p:extLst>
      <p:ext uri="{BB962C8B-B14F-4D97-AF65-F5344CB8AC3E}">
        <p14:creationId xmlns:p14="http://schemas.microsoft.com/office/powerpoint/2010/main" val="1837260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a:extLst>
              <a:ext uri="{FF2B5EF4-FFF2-40B4-BE49-F238E27FC236}">
                <a16:creationId xmlns:a16="http://schemas.microsoft.com/office/drawing/2014/main" id="{8463991D-25CD-48E1-A98F-EFAA2152E4B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726965" y="3602872"/>
            <a:ext cx="4081626" cy="2948072"/>
          </a:xfrm>
          <a:prstGeom prst="rect">
            <a:avLst/>
          </a:prstGeom>
          <a:ln>
            <a:solidFill>
              <a:schemeClr val="tx1"/>
            </a:solidFill>
          </a:ln>
          <a:effectLst>
            <a:outerShdw blurRad="50800" dist="38100" dir="2700000" algn="tl" rotWithShape="0">
              <a:prstClr val="black">
                <a:alpha val="40000"/>
              </a:prstClr>
            </a:outerShdw>
          </a:effectLst>
        </p:spPr>
      </p:pic>
      <p:sp>
        <p:nvSpPr>
          <p:cNvPr id="2" name="標題 1">
            <a:extLst>
              <a:ext uri="{FF2B5EF4-FFF2-40B4-BE49-F238E27FC236}">
                <a16:creationId xmlns:a16="http://schemas.microsoft.com/office/drawing/2014/main" id="{48C719A9-7068-437A-86EF-B34E59CB68F5}"/>
              </a:ext>
            </a:extLst>
          </p:cNvPr>
          <p:cNvSpPr>
            <a:spLocks noGrp="1"/>
          </p:cNvSpPr>
          <p:nvPr>
            <p:ph type="title"/>
          </p:nvPr>
        </p:nvSpPr>
        <p:spPr/>
        <p:txBody>
          <a:bodyPr/>
          <a:lstStyle/>
          <a:p>
            <a:r>
              <a:rPr lang="en-US" altLang="zh-TW" dirty="0"/>
              <a:t>3D </a:t>
            </a:r>
            <a:r>
              <a:rPr lang="zh-TW" altLang="en-US" dirty="0"/>
              <a:t>分析</a:t>
            </a:r>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495B47A4-7771-46C8-8F66-5AD6517F825B}"/>
                  </a:ext>
                </a:extLst>
              </p:cNvPr>
              <p:cNvSpPr txBox="1"/>
              <p:nvPr/>
            </p:nvSpPr>
            <p:spPr>
              <a:xfrm>
                <a:off x="16555" y="2926499"/>
                <a:ext cx="6441279" cy="3242875"/>
              </a:xfrm>
              <a:prstGeom prst="rect">
                <a:avLst/>
              </a:prstGeom>
              <a:noFill/>
            </p:spPr>
            <p:txBody>
              <a:bodyPr wrap="square" rtlCol="0">
                <a:spAutoFit/>
              </a:bodyPr>
              <a:lstStyle/>
              <a:p>
                <a:r>
                  <a:rPr lang="zh-TW" altLang="en-US" dirty="0"/>
                  <a:t>當完成實體</a:t>
                </a:r>
                <a:r>
                  <a:rPr lang="en-US" altLang="zh-TW" dirty="0"/>
                  <a:t>TCP</a:t>
                </a:r>
                <a:r>
                  <a:rPr lang="zh-TW" altLang="en-US" dirty="0"/>
                  <a:t>點位校正與手臂模型建立後</a:t>
                </a:r>
                <a:endParaRPr lang="en-US" altLang="zh-TW" dirty="0"/>
              </a:p>
              <a:p>
                <a:r>
                  <a:rPr lang="zh-TW" altLang="en-US" dirty="0"/>
                  <a:t>假設當手臂夾起線材後空間有</a:t>
                </a:r>
                <a:r>
                  <a:rPr lang="en-US" altLang="zh-TW" dirty="0"/>
                  <a:t>3</a:t>
                </a:r>
                <a:r>
                  <a:rPr lang="zh-TW" altLang="en-US" dirty="0"/>
                  <a:t>點</a:t>
                </a:r>
                <a:r>
                  <a:rPr lang="en-US" altLang="zh-TW" dirty="0"/>
                  <a:t>:</a:t>
                </a:r>
              </a:p>
              <a:p>
                <a:r>
                  <a:rPr lang="zh-TW" altLang="en-US" dirty="0"/>
                  <a:t>點</a:t>
                </a:r>
                <a:r>
                  <a:rPr lang="en-US" altLang="zh-TW" dirty="0"/>
                  <a:t>A</a:t>
                </a:r>
                <a:r>
                  <a:rPr lang="zh-TW" altLang="en-US" dirty="0"/>
                  <a:t>→相當於</a:t>
                </a:r>
                <a:r>
                  <a:rPr lang="en-US" altLang="zh-TW" dirty="0"/>
                  <a:t>J6</a:t>
                </a:r>
                <a:r>
                  <a:rPr lang="zh-TW" altLang="en-US" dirty="0"/>
                  <a:t>法蘭面中心</a:t>
                </a:r>
                <a:endParaRPr lang="en-US" altLang="zh-TW" dirty="0"/>
              </a:p>
              <a:p>
                <a:r>
                  <a:rPr lang="zh-TW" altLang="en-US" dirty="0"/>
                  <a:t>點</a:t>
                </a:r>
                <a:r>
                  <a:rPr lang="en-US" altLang="zh-TW" dirty="0"/>
                  <a:t>B</a:t>
                </a:r>
                <a:r>
                  <a:rPr lang="zh-TW" altLang="en-US" dirty="0"/>
                  <a:t>→相當於夾爪手指中心點</a:t>
                </a:r>
                <a:endParaRPr lang="en-US" altLang="zh-TW" dirty="0"/>
              </a:p>
              <a:p>
                <a:r>
                  <a:rPr lang="zh-TW" altLang="en-US" dirty="0"/>
                  <a:t>點</a:t>
                </a:r>
                <a:r>
                  <a:rPr lang="en-US" altLang="zh-TW" dirty="0"/>
                  <a:t>C</a:t>
                </a:r>
                <a:r>
                  <a:rPr lang="zh-TW" altLang="en-US" dirty="0"/>
                  <a:t>→線材前端因彎折導致尖端位置偏移</a:t>
                </a:r>
                <a:endParaRPr lang="en-US" altLang="zh-TW" dirty="0"/>
              </a:p>
              <a:p>
                <a:r>
                  <a:rPr lang="zh-TW" altLang="en-US" dirty="0"/>
                  <a:t>可變變因</a:t>
                </a:r>
                <a:r>
                  <a:rPr lang="en-US" altLang="zh-TW" dirty="0"/>
                  <a:t>:</a:t>
                </a:r>
                <a:r>
                  <a:rPr lang="zh-TW" altLang="en-US" dirty="0"/>
                  <a:t>根據夾爪設計可產生點</a:t>
                </a:r>
                <a:r>
                  <a:rPr lang="en-US" altLang="zh-TW" dirty="0"/>
                  <a:t>A</a:t>
                </a:r>
                <a:r>
                  <a:rPr lang="zh-TW" altLang="en-US" dirty="0"/>
                  <a:t>與點</a:t>
                </a:r>
                <a:r>
                  <a:rPr lang="en-US" altLang="zh-TW" dirty="0"/>
                  <a:t>D</a:t>
                </a:r>
                <a:r>
                  <a:rPr lang="zh-TW" altLang="en-US" dirty="0"/>
                  <a:t>位置偏移與範例不同</a:t>
                </a:r>
                <a:endParaRPr lang="en-US" altLang="zh-TW" dirty="0"/>
              </a:p>
              <a:p>
                <a14:m>
                  <m:oMath xmlns:m="http://schemas.openxmlformats.org/officeDocument/2006/math">
                    <m:bar>
                      <m:barPr>
                        <m:pos m:val="top"/>
                        <m:ctrlPr>
                          <a:rPr lang="en-US" altLang="zh-TW" i="1" smtClean="0">
                            <a:latin typeface="Cambria Math" panose="02040503050406030204" pitchFamily="18" charset="0"/>
                          </a:rPr>
                        </m:ctrlPr>
                      </m:barPr>
                      <m:e>
                        <m:r>
                          <m:rPr>
                            <m:sty m:val="p"/>
                          </m:rPr>
                          <a:rPr lang="en-US" altLang="zh-TW" i="1" smtClean="0">
                            <a:latin typeface="Cambria Math" panose="02040503050406030204" pitchFamily="18" charset="0"/>
                          </a:rPr>
                          <m:t>A</m:t>
                        </m:r>
                        <m:r>
                          <m:rPr>
                            <m:sty m:val="p"/>
                          </m:rPr>
                          <a:rPr lang="en-US" altLang="zh-TW" b="0" i="0" smtClean="0">
                            <a:latin typeface="Cambria Math" panose="02040503050406030204" pitchFamily="18" charset="0"/>
                          </a:rPr>
                          <m:t>B</m:t>
                        </m:r>
                      </m:e>
                    </m:bar>
                  </m:oMath>
                </a14:m>
                <a:r>
                  <a:rPr lang="en-US" altLang="zh-TW" dirty="0"/>
                  <a:t>, </a:t>
                </a:r>
                <a14:m>
                  <m:oMath xmlns:m="http://schemas.openxmlformats.org/officeDocument/2006/math">
                    <m:bar>
                      <m:barPr>
                        <m:pos m:val="top"/>
                        <m:ctrlPr>
                          <a:rPr lang="en-US" altLang="zh-TW" i="1">
                            <a:latin typeface="Cambria Math" panose="02040503050406030204" pitchFamily="18" charset="0"/>
                          </a:rPr>
                        </m:ctrlPr>
                      </m:barPr>
                      <m:e>
                        <m:r>
                          <m:rPr>
                            <m:sty m:val="p"/>
                          </m:rPr>
                          <a:rPr lang="en-US" altLang="zh-TW" b="0" i="0" smtClean="0">
                            <a:latin typeface="Cambria Math" panose="02040503050406030204" pitchFamily="18" charset="0"/>
                          </a:rPr>
                          <m:t>BC</m:t>
                        </m:r>
                      </m:e>
                    </m:bar>
                  </m:oMath>
                </a14:m>
                <a:r>
                  <a:rPr lang="zh-TW" altLang="en-US" dirty="0"/>
                  <a:t>可調整長度、點</a:t>
                </a:r>
                <a:r>
                  <a:rPr lang="en-US" altLang="zh-TW" dirty="0"/>
                  <a:t>C</a:t>
                </a:r>
                <a:r>
                  <a:rPr lang="zh-TW" altLang="en-US" dirty="0"/>
                  <a:t>可調整位置</a:t>
                </a:r>
                <a:endParaRPr lang="en-US" altLang="zh-TW" dirty="0"/>
              </a:p>
              <a:p>
                <a:r>
                  <a:rPr lang="zh-TW" altLang="en-US" dirty="0"/>
                  <a:t>空間</a:t>
                </a:r>
                <a:r>
                  <a:rPr lang="en-US" altLang="zh-TW" dirty="0"/>
                  <a:t>3</a:t>
                </a:r>
                <a:r>
                  <a:rPr lang="zh-TW" altLang="en-US" dirty="0"/>
                  <a:t>點可得</a:t>
                </a:r>
                <a:endParaRPr lang="en-US" altLang="zh-TW" dirty="0"/>
              </a:p>
              <a:p>
                <a:pPr/>
                <a14:m>
                  <m:oMathPara xmlns:m="http://schemas.openxmlformats.org/officeDocument/2006/math">
                    <m:oMathParaPr>
                      <m:jc m:val="centerGroup"/>
                    </m:oMathParaPr>
                    <m:oMath xmlns:m="http://schemas.openxmlformats.org/officeDocument/2006/math">
                      <m:bar>
                        <m:barPr>
                          <m:pos m:val="top"/>
                          <m:ctrlPr>
                            <a:rPr lang="en-US" altLang="zh-TW" i="1" smtClean="0">
                              <a:latin typeface="Cambria Math" panose="02040503050406030204" pitchFamily="18" charset="0"/>
                            </a:rPr>
                          </m:ctrlPr>
                        </m:barPr>
                        <m:e>
                          <m:r>
                            <m:rPr>
                              <m:sty m:val="p"/>
                            </m:rPr>
                            <a:rPr lang="en-US" altLang="zh-TW" b="0" i="0" smtClean="0">
                              <a:latin typeface="Cambria Math" panose="02040503050406030204" pitchFamily="18" charset="0"/>
                            </a:rPr>
                            <m:t>AB</m:t>
                          </m:r>
                        </m:e>
                      </m:bar>
                      <m:r>
                        <a:rPr lang="zh-TW" altLang="en-US" i="0">
                          <a:latin typeface="Cambria Math" panose="02040503050406030204" pitchFamily="18" charset="0"/>
                        </a:rPr>
                        <m:t>、</m:t>
                      </m:r>
                      <m:bar>
                        <m:barPr>
                          <m:pos m:val="top"/>
                          <m:ctrlPr>
                            <a:rPr lang="en-US" altLang="zh-TW" i="1" smtClean="0">
                              <a:latin typeface="Cambria Math" panose="02040503050406030204" pitchFamily="18" charset="0"/>
                            </a:rPr>
                          </m:ctrlPr>
                        </m:barPr>
                        <m:e>
                          <m:r>
                            <m:rPr>
                              <m:sty m:val="p"/>
                            </m:rPr>
                            <a:rPr lang="en-US" altLang="zh-TW" b="0" i="0" smtClean="0">
                              <a:latin typeface="Cambria Math" panose="02040503050406030204" pitchFamily="18" charset="0"/>
                            </a:rPr>
                            <m:t>BC</m:t>
                          </m:r>
                        </m:e>
                      </m:bar>
                      <m:r>
                        <a:rPr lang="zh-TW" altLang="en-US" i="0" smtClean="0">
                          <a:latin typeface="Cambria Math" panose="02040503050406030204" pitchFamily="18" charset="0"/>
                        </a:rPr>
                        <m:t>、</m:t>
                      </m:r>
                      <m:bar>
                        <m:barPr>
                          <m:pos m:val="top"/>
                          <m:ctrlPr>
                            <a:rPr lang="en-US" altLang="zh-TW" i="1" smtClean="0">
                              <a:latin typeface="Cambria Math" panose="02040503050406030204" pitchFamily="18" charset="0"/>
                            </a:rPr>
                          </m:ctrlPr>
                        </m:barPr>
                        <m:e>
                          <m:r>
                            <m:rPr>
                              <m:sty m:val="p"/>
                            </m:rPr>
                            <a:rPr lang="en-US" altLang="zh-TW" b="0" i="0" smtClean="0">
                              <a:latin typeface="Cambria Math" panose="02040503050406030204" pitchFamily="18" charset="0"/>
                            </a:rPr>
                            <m:t>CD</m:t>
                          </m:r>
                        </m:e>
                      </m:bar>
                      <m:r>
                        <a:rPr lang="zh-TW" altLang="en-US" i="0" smtClean="0">
                          <a:latin typeface="Cambria Math" panose="02040503050406030204" pitchFamily="18" charset="0"/>
                        </a:rPr>
                        <m:t>、</m:t>
                      </m:r>
                      <m:acc>
                        <m:accPr>
                          <m:chr m:val="⃑"/>
                          <m:ctrlPr>
                            <a:rPr lang="zh-TW" altLang="en-US" i="1" smtClean="0">
                              <a:latin typeface="Cambria Math" panose="02040503050406030204" pitchFamily="18" charset="0"/>
                            </a:rPr>
                          </m:ctrlPr>
                        </m:accPr>
                        <m:e>
                          <m:r>
                            <m:rPr>
                              <m:sty m:val="p"/>
                            </m:rPr>
                            <a:rPr lang="en-US" altLang="zh-TW" b="0" i="0" smtClean="0">
                              <a:latin typeface="Cambria Math" panose="02040503050406030204" pitchFamily="18" charset="0"/>
                            </a:rPr>
                            <m:t>AB</m:t>
                          </m:r>
                        </m:e>
                      </m:acc>
                      <m:r>
                        <a:rPr lang="zh-TW" altLang="en-US" i="0" smtClean="0">
                          <a:latin typeface="Cambria Math" panose="02040503050406030204" pitchFamily="18" charset="0"/>
                        </a:rPr>
                        <m:t>、</m:t>
                      </m:r>
                      <m:acc>
                        <m:accPr>
                          <m:chr m:val="⃑"/>
                          <m:ctrlPr>
                            <a:rPr lang="zh-TW" altLang="en-US" i="1" smtClean="0">
                              <a:latin typeface="Cambria Math" panose="02040503050406030204" pitchFamily="18" charset="0"/>
                            </a:rPr>
                          </m:ctrlPr>
                        </m:accPr>
                        <m:e>
                          <m:r>
                            <m:rPr>
                              <m:sty m:val="p"/>
                            </m:rPr>
                            <a:rPr lang="en-US" altLang="zh-TW" b="0" i="0" smtClean="0">
                              <a:latin typeface="Cambria Math" panose="02040503050406030204" pitchFamily="18" charset="0"/>
                            </a:rPr>
                            <m:t>BC</m:t>
                          </m:r>
                        </m:e>
                      </m:acc>
                      <m:r>
                        <a:rPr lang="zh-TW" altLang="en-US" i="0" smtClean="0">
                          <a:latin typeface="Cambria Math" panose="02040503050406030204" pitchFamily="18" charset="0"/>
                        </a:rPr>
                        <m:t>、</m:t>
                      </m:r>
                      <m:acc>
                        <m:accPr>
                          <m:chr m:val="⃑"/>
                          <m:ctrlPr>
                            <a:rPr lang="zh-TW" altLang="en-US" i="1" smtClean="0">
                              <a:latin typeface="Cambria Math" panose="02040503050406030204" pitchFamily="18" charset="0"/>
                            </a:rPr>
                          </m:ctrlPr>
                        </m:accPr>
                        <m:e>
                          <m:r>
                            <m:rPr>
                              <m:sty m:val="p"/>
                            </m:rPr>
                            <a:rPr lang="en-US" altLang="zh-TW" b="0" i="0" smtClean="0">
                              <a:latin typeface="Cambria Math" panose="02040503050406030204" pitchFamily="18" charset="0"/>
                            </a:rPr>
                            <m:t>CD</m:t>
                          </m:r>
                        </m:e>
                      </m:acc>
                    </m:oMath>
                  </m:oMathPara>
                </a14:m>
                <a:endParaRPr lang="en-US" altLang="zh-TW" dirty="0"/>
              </a:p>
              <a:p>
                <a:endParaRPr lang="en-US" altLang="zh-TW" dirty="0"/>
              </a:p>
              <a:p>
                <a:r>
                  <a:rPr lang="zh-TW" altLang="en-US" dirty="0"/>
                  <a:t>做法</a:t>
                </a:r>
                <a:r>
                  <a:rPr lang="en-US" altLang="zh-TW" dirty="0"/>
                  <a:t>:</a:t>
                </a:r>
                <a:r>
                  <a:rPr lang="zh-TW" altLang="en-US" dirty="0"/>
                  <a:t> 旋轉</a:t>
                </a:r>
                <a14:m>
                  <m:oMath xmlns:m="http://schemas.openxmlformats.org/officeDocument/2006/math">
                    <m:acc>
                      <m:accPr>
                        <m:chr m:val="⃑"/>
                        <m:ctrlPr>
                          <a:rPr lang="zh-TW" altLang="en-US" i="1" smtClean="0">
                            <a:latin typeface="Cambria Math" panose="02040503050406030204" pitchFamily="18" charset="0"/>
                          </a:rPr>
                        </m:ctrlPr>
                      </m:accPr>
                      <m:e>
                        <m:r>
                          <m:rPr>
                            <m:sty m:val="p"/>
                          </m:rPr>
                          <a:rPr lang="en-US" altLang="zh-TW" b="0" i="0" smtClean="0">
                            <a:latin typeface="Cambria Math" panose="02040503050406030204" pitchFamily="18" charset="0"/>
                          </a:rPr>
                          <m:t>AC</m:t>
                        </m:r>
                      </m:e>
                    </m:acc>
                    <m:r>
                      <a:rPr lang="zh-TW" altLang="en-US" i="0">
                        <a:latin typeface="Cambria Math" panose="02040503050406030204" pitchFamily="18" charset="0"/>
                      </a:rPr>
                      <m:t>成</m:t>
                    </m:r>
                    <m:acc>
                      <m:accPr>
                        <m:chr m:val="⃑"/>
                        <m:ctrlPr>
                          <a:rPr lang="zh-TW" altLang="en-US" i="1">
                            <a:latin typeface="Cambria Math" panose="02040503050406030204" pitchFamily="18" charset="0"/>
                          </a:rPr>
                        </m:ctrlPr>
                      </m:accPr>
                      <m:e>
                        <m:sSup>
                          <m:sSupPr>
                            <m:ctrlPr>
                              <a:rPr lang="en-US" altLang="zh-TW" b="0" i="1" smtClean="0">
                                <a:latin typeface="Cambria Math" panose="02040503050406030204" pitchFamily="18" charset="0"/>
                              </a:rPr>
                            </m:ctrlPr>
                          </m:sSupPr>
                          <m:e>
                            <m:r>
                              <m:rPr>
                                <m:sty m:val="p"/>
                              </m:rPr>
                              <a:rPr lang="en-US" altLang="zh-TW" b="0" i="0" smtClean="0">
                                <a:latin typeface="Cambria Math" panose="02040503050406030204" pitchFamily="18" charset="0"/>
                              </a:rPr>
                              <m:t>B</m:t>
                            </m:r>
                          </m:e>
                          <m:sup>
                            <m:r>
                              <a:rPr lang="en-US" altLang="zh-TW" b="0" i="0" smtClean="0">
                                <a:latin typeface="Cambria Math" panose="02040503050406030204" pitchFamily="18" charset="0"/>
                              </a:rPr>
                              <m:t>′′</m:t>
                            </m:r>
                          </m:sup>
                        </m:sSup>
                        <m:r>
                          <m:rPr>
                            <m:sty m:val="p"/>
                          </m:rPr>
                          <a:rPr lang="en-US" altLang="zh-TW" b="0" i="0" smtClean="0">
                            <a:latin typeface="Cambria Math" panose="02040503050406030204" pitchFamily="18" charset="0"/>
                          </a:rPr>
                          <m:t>C</m:t>
                        </m:r>
                        <m:r>
                          <a:rPr lang="en-US" altLang="zh-TW" b="0" i="0" smtClean="0">
                            <a:latin typeface="Cambria Math" panose="02040503050406030204" pitchFamily="18" charset="0"/>
                          </a:rPr>
                          <m:t>′′</m:t>
                        </m:r>
                      </m:e>
                    </m:acc>
                  </m:oMath>
                </a14:m>
                <a:r>
                  <a:rPr lang="zh-TW" altLang="en-US" dirty="0"/>
                  <a:t>與</a:t>
                </a:r>
                <a:r>
                  <a:rPr lang="en-US" altLang="zh-TW" dirty="0"/>
                  <a:t>x</a:t>
                </a:r>
                <a:r>
                  <a:rPr lang="zh-TW" altLang="en-US" dirty="0"/>
                  <a:t>軸對齊</a:t>
                </a:r>
                <a:endParaRPr lang="en-US" altLang="zh-TW" dirty="0"/>
              </a:p>
            </p:txBody>
          </p:sp>
        </mc:Choice>
        <mc:Fallback xmlns="">
          <p:sp>
            <p:nvSpPr>
              <p:cNvPr id="6" name="文字方塊 5">
                <a:extLst>
                  <a:ext uri="{FF2B5EF4-FFF2-40B4-BE49-F238E27FC236}">
                    <a16:creationId xmlns:a16="http://schemas.microsoft.com/office/drawing/2014/main" id="{495B47A4-7771-46C8-8F66-5AD6517F825B}"/>
                  </a:ext>
                </a:extLst>
              </p:cNvPr>
              <p:cNvSpPr txBox="1">
                <a:spLocks noRot="1" noChangeAspect="1" noMove="1" noResize="1" noEditPoints="1" noAdjustHandles="1" noChangeArrowheads="1" noChangeShapeType="1" noTextEdit="1"/>
              </p:cNvSpPr>
              <p:nvPr/>
            </p:nvSpPr>
            <p:spPr>
              <a:xfrm>
                <a:off x="16555" y="2926499"/>
                <a:ext cx="6441279" cy="3242875"/>
              </a:xfrm>
              <a:prstGeom prst="rect">
                <a:avLst/>
              </a:prstGeom>
              <a:blipFill>
                <a:blip r:embed="rId4"/>
                <a:stretch>
                  <a:fillRect l="-852" t="-940" b="-2820"/>
                </a:stretch>
              </a:blipFill>
            </p:spPr>
            <p:txBody>
              <a:bodyPr/>
              <a:lstStyle/>
              <a:p>
                <a:r>
                  <a:rPr lang="zh-TW" altLang="en-US">
                    <a:noFill/>
                  </a:rPr>
                  <a:t> </a:t>
                </a:r>
              </a:p>
            </p:txBody>
          </p:sp>
        </mc:Fallback>
      </mc:AlternateContent>
      <p:pic>
        <p:nvPicPr>
          <p:cNvPr id="8" name="內容版面配置區 7">
            <a:extLst>
              <a:ext uri="{FF2B5EF4-FFF2-40B4-BE49-F238E27FC236}">
                <a16:creationId xmlns:a16="http://schemas.microsoft.com/office/drawing/2014/main" id="{CB2AF34C-B15F-4B4E-93FE-2D3B8091CD5A}"/>
              </a:ext>
            </a:extLst>
          </p:cNvPr>
          <p:cNvPicPr>
            <a:picLocks noGrp="1" noChangeAspect="1"/>
          </p:cNvPicPr>
          <p:nvPr>
            <p:ph idx="1"/>
          </p:nvPr>
        </p:nvPicPr>
        <p:blipFill rotWithShape="1">
          <a:blip r:embed="rId5">
            <a:extLst>
              <a:ext uri="{28A0092B-C50C-407E-A947-70E740481C1C}">
                <a14:useLocalDpi xmlns:a14="http://schemas.microsoft.com/office/drawing/2010/main" val="0"/>
              </a:ext>
            </a:extLst>
          </a:blip>
          <a:srcRect b="49420"/>
          <a:stretch/>
        </p:blipFill>
        <p:spPr>
          <a:xfrm>
            <a:off x="6726965" y="70719"/>
            <a:ext cx="4944826" cy="3370313"/>
          </a:xfrm>
          <a:ln>
            <a:solidFill>
              <a:schemeClr val="tx1"/>
            </a:solidFill>
          </a:ln>
          <a:effectLst>
            <a:outerShdw blurRad="50800" dist="38100" dir="2700000" algn="tl" rotWithShape="0">
              <a:prstClr val="black">
                <a:alpha val="40000"/>
              </a:prstClr>
            </a:outerShdw>
          </a:effectLst>
        </p:spPr>
      </p:pic>
      <p:sp>
        <p:nvSpPr>
          <p:cNvPr id="7" name="文字方塊 6">
            <a:extLst>
              <a:ext uri="{FF2B5EF4-FFF2-40B4-BE49-F238E27FC236}">
                <a16:creationId xmlns:a16="http://schemas.microsoft.com/office/drawing/2014/main" id="{2167A3F5-3349-41A3-941B-E7811AB59898}"/>
              </a:ext>
            </a:extLst>
          </p:cNvPr>
          <p:cNvSpPr txBox="1"/>
          <p:nvPr/>
        </p:nvSpPr>
        <p:spPr>
          <a:xfrm>
            <a:off x="6702257" y="3042073"/>
            <a:ext cx="2377574" cy="369332"/>
          </a:xfrm>
          <a:prstGeom prst="rect">
            <a:avLst/>
          </a:prstGeom>
          <a:noFill/>
        </p:spPr>
        <p:txBody>
          <a:bodyPr wrap="none" rtlCol="0">
            <a:spAutoFit/>
          </a:bodyPr>
          <a:lstStyle/>
          <a:p>
            <a:r>
              <a:rPr lang="en-US" altLang="zh-TW" dirty="0"/>
              <a:t>(a) </a:t>
            </a:r>
            <a:r>
              <a:rPr lang="zh-TW" altLang="en-US" dirty="0"/>
              <a:t>圓面法向量示意圖</a:t>
            </a:r>
          </a:p>
        </p:txBody>
      </p:sp>
      <p:sp>
        <p:nvSpPr>
          <p:cNvPr id="9" name="文字方塊 8">
            <a:extLst>
              <a:ext uri="{FF2B5EF4-FFF2-40B4-BE49-F238E27FC236}">
                <a16:creationId xmlns:a16="http://schemas.microsoft.com/office/drawing/2014/main" id="{3C22785A-BA8B-4D22-94BF-A783993B0CB2}"/>
              </a:ext>
            </a:extLst>
          </p:cNvPr>
          <p:cNvSpPr txBox="1"/>
          <p:nvPr/>
        </p:nvSpPr>
        <p:spPr>
          <a:xfrm>
            <a:off x="6726965" y="6151576"/>
            <a:ext cx="2146742" cy="369332"/>
          </a:xfrm>
          <a:prstGeom prst="rect">
            <a:avLst/>
          </a:prstGeom>
          <a:noFill/>
        </p:spPr>
        <p:txBody>
          <a:bodyPr wrap="none" rtlCol="0">
            <a:spAutoFit/>
          </a:bodyPr>
          <a:lstStyle/>
          <a:p>
            <a:r>
              <a:rPr lang="en-US" altLang="zh-TW" dirty="0"/>
              <a:t>(b) </a:t>
            </a:r>
            <a:r>
              <a:rPr lang="zh-TW" altLang="en-US" dirty="0"/>
              <a:t>向量對齊示意圖</a:t>
            </a:r>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BAFEB842-4C43-42C0-91E5-56C46BA03191}"/>
                  </a:ext>
                </a:extLst>
              </p:cNvPr>
              <p:cNvSpPr txBox="1"/>
              <p:nvPr/>
            </p:nvSpPr>
            <p:spPr>
              <a:xfrm>
                <a:off x="-17928" y="1916556"/>
                <a:ext cx="6113928" cy="425822"/>
              </a:xfrm>
              <a:prstGeom prst="rect">
                <a:avLst/>
              </a:prstGeom>
              <a:noFill/>
            </p:spPr>
            <p:txBody>
              <a:bodyPr wrap="square">
                <a:spAutoFit/>
              </a:bodyPr>
              <a:lstStyle/>
              <a:p>
                <a:r>
                  <a:rPr lang="zh-TW" altLang="en-US" dirty="0"/>
                  <a:t>使線材尖端與插件孔面的法向量</a:t>
                </a:r>
                <a:r>
                  <a:rPr lang="en-US" altLang="zh-TW" dirty="0"/>
                  <a:t>(</a:t>
                </a:r>
                <a14:m>
                  <m:oMath xmlns:m="http://schemas.openxmlformats.org/officeDocument/2006/math">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oMath>
                </a14:m>
                <a:r>
                  <a:rPr lang="en-US" altLang="zh-TW" dirty="0"/>
                  <a:t>)</a:t>
                </a:r>
                <a:r>
                  <a:rPr lang="zh-TW" altLang="en-US" dirty="0"/>
                  <a:t>對齊</a:t>
                </a:r>
                <a:endParaRPr lang="en-US" altLang="zh-TW" dirty="0"/>
              </a:p>
            </p:txBody>
          </p:sp>
        </mc:Choice>
        <mc:Fallback xmlns="">
          <p:sp>
            <p:nvSpPr>
              <p:cNvPr id="12" name="文字方塊 11">
                <a:extLst>
                  <a:ext uri="{FF2B5EF4-FFF2-40B4-BE49-F238E27FC236}">
                    <a16:creationId xmlns:a16="http://schemas.microsoft.com/office/drawing/2014/main" id="{BAFEB842-4C43-42C0-91E5-56C46BA03191}"/>
                  </a:ext>
                </a:extLst>
              </p:cNvPr>
              <p:cNvSpPr txBox="1">
                <a:spLocks noRot="1" noChangeAspect="1" noMove="1" noResize="1" noEditPoints="1" noAdjustHandles="1" noChangeArrowheads="1" noChangeShapeType="1" noTextEdit="1"/>
              </p:cNvSpPr>
              <p:nvPr/>
            </p:nvSpPr>
            <p:spPr>
              <a:xfrm>
                <a:off x="-17928" y="1916556"/>
                <a:ext cx="6113928" cy="425822"/>
              </a:xfrm>
              <a:prstGeom prst="rect">
                <a:avLst/>
              </a:prstGeom>
              <a:blipFill>
                <a:blip r:embed="rId6"/>
                <a:stretch>
                  <a:fillRect l="-798" b="-22857"/>
                </a:stretch>
              </a:blipFill>
            </p:spPr>
            <p:txBody>
              <a:bodyPr/>
              <a:lstStyle/>
              <a:p>
                <a:r>
                  <a:rPr lang="zh-TW" altLang="en-US">
                    <a:noFill/>
                  </a:rPr>
                  <a:t> </a:t>
                </a:r>
              </a:p>
            </p:txBody>
          </p:sp>
        </mc:Fallback>
      </mc:AlternateContent>
      <p:sp>
        <p:nvSpPr>
          <p:cNvPr id="13" name="文字方塊 12">
            <a:extLst>
              <a:ext uri="{FF2B5EF4-FFF2-40B4-BE49-F238E27FC236}">
                <a16:creationId xmlns:a16="http://schemas.microsoft.com/office/drawing/2014/main" id="{0834B522-B83E-4853-BD70-EE0D4B223198}"/>
              </a:ext>
            </a:extLst>
          </p:cNvPr>
          <p:cNvSpPr txBox="1"/>
          <p:nvPr/>
        </p:nvSpPr>
        <p:spPr>
          <a:xfrm>
            <a:off x="77471" y="2393090"/>
            <a:ext cx="5958986" cy="400110"/>
          </a:xfrm>
          <a:prstGeom prst="rect">
            <a:avLst/>
          </a:prstGeom>
          <a:solidFill>
            <a:srgbClr val="00B0F0"/>
          </a:solidFill>
        </p:spPr>
        <p:txBody>
          <a:bodyPr wrap="square" rtlCol="0">
            <a:spAutoFit/>
          </a:bodyPr>
          <a:lstStyle/>
          <a:p>
            <a:pPr algn="ctr"/>
            <a:r>
              <a:rPr lang="zh-TW" altLang="en-US" sz="2000" dirty="0"/>
              <a:t>分析</a:t>
            </a:r>
          </a:p>
        </p:txBody>
      </p:sp>
      <p:sp>
        <p:nvSpPr>
          <p:cNvPr id="14" name="文字方塊 13">
            <a:extLst>
              <a:ext uri="{FF2B5EF4-FFF2-40B4-BE49-F238E27FC236}">
                <a16:creationId xmlns:a16="http://schemas.microsoft.com/office/drawing/2014/main" id="{F64B6FAE-2398-467B-BA92-C9E139CE0D83}"/>
              </a:ext>
            </a:extLst>
          </p:cNvPr>
          <p:cNvSpPr txBox="1"/>
          <p:nvPr/>
        </p:nvSpPr>
        <p:spPr>
          <a:xfrm>
            <a:off x="77471" y="1476396"/>
            <a:ext cx="5958986" cy="400110"/>
          </a:xfrm>
          <a:prstGeom prst="rect">
            <a:avLst/>
          </a:prstGeom>
          <a:solidFill>
            <a:srgbClr val="FFC000"/>
          </a:solidFill>
        </p:spPr>
        <p:txBody>
          <a:bodyPr wrap="square" rtlCol="0">
            <a:spAutoFit/>
          </a:bodyPr>
          <a:lstStyle/>
          <a:p>
            <a:pPr algn="ctr"/>
            <a:r>
              <a:rPr lang="zh-TW" altLang="en-US" sz="2000" dirty="0"/>
              <a:t>目的</a:t>
            </a:r>
            <a:endParaRPr lang="zh-TW" altLang="en-US" sz="2400" dirty="0"/>
          </a:p>
        </p:txBody>
      </p:sp>
      <p:sp>
        <p:nvSpPr>
          <p:cNvPr id="5" name="投影片編號版面配置區 4">
            <a:extLst>
              <a:ext uri="{FF2B5EF4-FFF2-40B4-BE49-F238E27FC236}">
                <a16:creationId xmlns:a16="http://schemas.microsoft.com/office/drawing/2014/main" id="{4448A845-EA29-43AB-837C-B93A0B29F543}"/>
              </a:ext>
            </a:extLst>
          </p:cNvPr>
          <p:cNvSpPr>
            <a:spLocks noGrp="1"/>
          </p:cNvSpPr>
          <p:nvPr>
            <p:ph type="sldNum" sz="quarter" idx="12"/>
          </p:nvPr>
        </p:nvSpPr>
        <p:spPr/>
        <p:txBody>
          <a:bodyPr/>
          <a:lstStyle/>
          <a:p>
            <a:fld id="{12DE3F29-1F68-43B4-BFC6-B027CAE8215F}" type="slidenum">
              <a:rPr lang="zh-TW" altLang="en-US" smtClean="0"/>
              <a:t>11</a:t>
            </a:fld>
            <a:endParaRPr lang="zh-TW" altLang="en-US"/>
          </a:p>
        </p:txBody>
      </p:sp>
      <p:pic>
        <p:nvPicPr>
          <p:cNvPr id="16" name="圖片 15">
            <a:extLst>
              <a:ext uri="{FF2B5EF4-FFF2-40B4-BE49-F238E27FC236}">
                <a16:creationId xmlns:a16="http://schemas.microsoft.com/office/drawing/2014/main" id="{C307D819-160F-46AC-8227-190D7C37E3C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4250157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CEACC7-33BE-4DBC-AF6C-53971E47F6B7}"/>
              </a:ext>
            </a:extLst>
          </p:cNvPr>
          <p:cNvSpPr>
            <a:spLocks noGrp="1"/>
          </p:cNvSpPr>
          <p:nvPr>
            <p:ph type="title"/>
          </p:nvPr>
        </p:nvSpPr>
        <p:spPr/>
        <p:txBody>
          <a:bodyPr/>
          <a:lstStyle/>
          <a:p>
            <a:r>
              <a:rPr lang="en-US" altLang="zh-TW" dirty="0"/>
              <a:t>3D</a:t>
            </a:r>
            <a:r>
              <a:rPr lang="zh-TW" altLang="en-US" dirty="0"/>
              <a:t> 分析</a:t>
            </a: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D5610BED-0968-4508-B860-09E58D6F3B11}"/>
                  </a:ext>
                </a:extLst>
              </p:cNvPr>
              <p:cNvSpPr txBox="1"/>
              <p:nvPr/>
            </p:nvSpPr>
            <p:spPr>
              <a:xfrm>
                <a:off x="143437" y="1722780"/>
                <a:ext cx="6436658" cy="2403094"/>
              </a:xfrm>
              <a:prstGeom prst="rect">
                <a:avLst/>
              </a:prstGeom>
              <a:noFill/>
            </p:spPr>
            <p:txBody>
              <a:bodyPr wrap="square">
                <a:spAutoFit/>
              </a:bodyPr>
              <a:lstStyle/>
              <a:p>
                <a:endParaRPr lang="en-US" altLang="zh-TW" dirty="0"/>
              </a:p>
              <a:p>
                <a:r>
                  <a:rPr lang="zh-TW" altLang="en-US" dirty="0"/>
                  <a:t>令點</a:t>
                </a:r>
                <a:r>
                  <a:rPr lang="en-GB" altLang="zh-TW" dirty="0"/>
                  <a:t>C</a:t>
                </a:r>
                <a:r>
                  <a:rPr lang="zh-TW" altLang="en-US" dirty="0"/>
                  <a:t>在空間上為</a:t>
                </a:r>
                <a:endParaRPr lang="en-US" altLang="zh-TW" dirty="0"/>
              </a:p>
              <a:p>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m:t>
                      </m:r>
                      <m:r>
                        <a:rPr lang="zh-TW" altLang="en-US" i="1" dirty="0">
                          <a:latin typeface="Cambria Math" panose="02040503050406030204" pitchFamily="18" charset="0"/>
                        </a:rPr>
                        <m:t>𝛾</m:t>
                      </m:r>
                      <m:r>
                        <a:rPr lang="zh-TW" altLang="en-US" i="1" dirty="0">
                          <a:latin typeface="Cambria Math" panose="02040503050406030204" pitchFamily="18" charset="0"/>
                        </a:rPr>
                        <m:t> </m:t>
                      </m:r>
                      <m:r>
                        <m:rPr>
                          <m:sty m:val="p"/>
                        </m:rPr>
                        <a:rPr lang="en-GB" altLang="zh-TW" i="1" dirty="0" smtClean="0">
                          <a:latin typeface="Cambria Math" panose="02040503050406030204" pitchFamily="18" charset="0"/>
                        </a:rPr>
                        <m:t>cos</m:t>
                      </m:r>
                      <m:r>
                        <a:rPr lang="en-GB" altLang="zh-TW" i="1" dirty="0" smtClean="0">
                          <a:latin typeface="Cambria Math" panose="02040503050406030204" pitchFamily="18" charset="0"/>
                        </a:rPr>
                        <m:t>⁡(</m:t>
                      </m:r>
                      <m:r>
                        <a:rPr lang="zh-TW" altLang="en-GB" i="1" dirty="0" smtClean="0">
                          <a:latin typeface="Cambria Math" panose="02040503050406030204" pitchFamily="18" charset="0"/>
                        </a:rPr>
                        <m:t>𝛼</m:t>
                      </m:r>
                      <m:r>
                        <a:rPr lang="en-GB" altLang="zh-TW" i="1" dirty="0">
                          <a:latin typeface="Cambria Math" panose="02040503050406030204" pitchFamily="18" charset="0"/>
                        </a:rPr>
                        <m:t>°) </m:t>
                      </m:r>
                      <m:r>
                        <m:rPr>
                          <m:sty m:val="p"/>
                        </m:rPr>
                        <a:rPr lang="en-GB" altLang="zh-TW" i="1" dirty="0">
                          <a:latin typeface="Cambria Math" panose="02040503050406030204" pitchFamily="18" charset="0"/>
                        </a:rPr>
                        <m:t>cos</m:t>
                      </m:r>
                      <m:r>
                        <a:rPr lang="en-GB" altLang="zh-TW" i="1" dirty="0">
                          <a:latin typeface="Cambria Math" panose="02040503050406030204" pitchFamily="18" charset="0"/>
                        </a:rPr>
                        <m:t>⁡(</m:t>
                      </m:r>
                      <m:r>
                        <a:rPr lang="zh-TW" altLang="en-GB" i="1" dirty="0">
                          <a:latin typeface="Cambria Math" panose="02040503050406030204" pitchFamily="18" charset="0"/>
                        </a:rPr>
                        <m:t>𝛽</m:t>
                      </m:r>
                      <m:r>
                        <a:rPr lang="en-GB" altLang="zh-TW" i="1" dirty="0">
                          <a:latin typeface="Cambria Math" panose="02040503050406030204" pitchFamily="18" charset="0"/>
                        </a:rPr>
                        <m:t>°),</m:t>
                      </m:r>
                      <m:r>
                        <a:rPr lang="zh-TW" altLang="en-GB" i="1" dirty="0">
                          <a:latin typeface="Cambria Math" panose="02040503050406030204" pitchFamily="18" charset="0"/>
                        </a:rPr>
                        <m:t>𝛾</m:t>
                      </m:r>
                      <m:r>
                        <a:rPr lang="zh-TW" altLang="en-GB" i="1" dirty="0">
                          <a:latin typeface="Cambria Math" panose="02040503050406030204" pitchFamily="18" charset="0"/>
                        </a:rPr>
                        <m:t> </m:t>
                      </m:r>
                      <m:r>
                        <m:rPr>
                          <m:sty m:val="p"/>
                        </m:rPr>
                        <a:rPr lang="en-GB" altLang="zh-TW" i="1" dirty="0">
                          <a:latin typeface="Cambria Math" panose="02040503050406030204" pitchFamily="18" charset="0"/>
                        </a:rPr>
                        <m:t>cos</m:t>
                      </m:r>
                      <m:r>
                        <a:rPr lang="en-GB" altLang="zh-TW" i="1" dirty="0">
                          <a:latin typeface="Cambria Math" panose="02040503050406030204" pitchFamily="18" charset="0"/>
                        </a:rPr>
                        <m:t>⁡(</m:t>
                      </m:r>
                      <m:r>
                        <a:rPr lang="zh-TW" altLang="en-GB" i="1" dirty="0">
                          <a:latin typeface="Cambria Math" panose="02040503050406030204" pitchFamily="18" charset="0"/>
                        </a:rPr>
                        <m:t>𝛼</m:t>
                      </m:r>
                      <m:r>
                        <a:rPr lang="en-GB" altLang="zh-TW" i="1" dirty="0">
                          <a:latin typeface="Cambria Math" panose="02040503050406030204" pitchFamily="18" charset="0"/>
                        </a:rPr>
                        <m:t>°) </m:t>
                      </m:r>
                      <m:r>
                        <m:rPr>
                          <m:sty m:val="p"/>
                        </m:rPr>
                        <a:rPr lang="en-GB" altLang="zh-TW" i="1" dirty="0">
                          <a:latin typeface="Cambria Math" panose="02040503050406030204" pitchFamily="18" charset="0"/>
                        </a:rPr>
                        <m:t>sin</m:t>
                      </m:r>
                      <m:r>
                        <a:rPr lang="en-GB" altLang="zh-TW" i="1" dirty="0">
                          <a:latin typeface="Cambria Math" panose="02040503050406030204" pitchFamily="18" charset="0"/>
                        </a:rPr>
                        <m:t>⁡(</m:t>
                      </m:r>
                      <m:r>
                        <a:rPr lang="zh-TW" altLang="en-GB" i="1" dirty="0">
                          <a:latin typeface="Cambria Math" panose="02040503050406030204" pitchFamily="18" charset="0"/>
                        </a:rPr>
                        <m:t>𝛽</m:t>
                      </m:r>
                      <m:r>
                        <a:rPr lang="en-GB" altLang="zh-TW" i="1" dirty="0">
                          <a:latin typeface="Cambria Math" panose="02040503050406030204" pitchFamily="18" charset="0"/>
                        </a:rPr>
                        <m:t>°),</m:t>
                      </m:r>
                      <m:r>
                        <a:rPr lang="zh-TW" altLang="en-GB" i="1" dirty="0">
                          <a:latin typeface="Cambria Math" panose="02040503050406030204" pitchFamily="18" charset="0"/>
                        </a:rPr>
                        <m:t>𝛾</m:t>
                      </m:r>
                      <m:r>
                        <a:rPr lang="zh-TW" altLang="en-GB" i="1" dirty="0">
                          <a:latin typeface="Cambria Math" panose="02040503050406030204" pitchFamily="18" charset="0"/>
                        </a:rPr>
                        <m:t> </m:t>
                      </m:r>
                      <m:r>
                        <m:rPr>
                          <m:sty m:val="p"/>
                        </m:rPr>
                        <a:rPr lang="en-GB" altLang="zh-TW" i="1" dirty="0">
                          <a:latin typeface="Cambria Math" panose="02040503050406030204" pitchFamily="18" charset="0"/>
                        </a:rPr>
                        <m:t>sin</m:t>
                      </m:r>
                      <m:r>
                        <a:rPr lang="en-GB" altLang="zh-TW" i="1" dirty="0">
                          <a:latin typeface="Cambria Math" panose="02040503050406030204" pitchFamily="18" charset="0"/>
                        </a:rPr>
                        <m:t>⁡(</m:t>
                      </m:r>
                      <m:r>
                        <a:rPr lang="zh-TW" altLang="en-GB" i="1" dirty="0">
                          <a:latin typeface="Cambria Math" panose="02040503050406030204" pitchFamily="18" charset="0"/>
                        </a:rPr>
                        <m:t>𝛼</m:t>
                      </m:r>
                      <m:r>
                        <a:rPr lang="en-GB" altLang="zh-TW" i="1" dirty="0">
                          <a:latin typeface="Cambria Math" panose="02040503050406030204" pitchFamily="18" charset="0"/>
                        </a:rPr>
                        <m:t>°)</m:t>
                      </m:r>
                      <m:r>
                        <a:rPr lang="en-US" altLang="zh-TW" i="1" dirty="0">
                          <a:latin typeface="Cambria Math" panose="02040503050406030204" pitchFamily="18" charset="0"/>
                        </a:rPr>
                        <m:t>)</m:t>
                      </m:r>
                    </m:oMath>
                  </m:oMathPara>
                </a14:m>
                <a:endParaRPr lang="en-US" altLang="zh-TW" dirty="0"/>
              </a:p>
              <a:p>
                <a:r>
                  <a:rPr lang="zh-TW" altLang="en-US" dirty="0"/>
                  <a:t>點</a:t>
                </a:r>
                <a:r>
                  <a:rPr lang="en-US" altLang="zh-TW" dirty="0"/>
                  <a:t>A</a:t>
                </a:r>
                <a:r>
                  <a:rPr lang="zh-TW" altLang="en-US" dirty="0"/>
                  <a:t>在空間上為</a:t>
                </a:r>
                <a:r>
                  <a:rPr lang="en-US" altLang="zh-TW" dirty="0"/>
                  <a:t>(</a:t>
                </a:r>
                <a14:m>
                  <m:oMath xmlns:m="http://schemas.openxmlformats.org/officeDocument/2006/math">
                    <m:r>
                      <a:rPr lang="en-US" altLang="zh-TW" i="1" dirty="0">
                        <a:latin typeface="Cambria Math" panose="02040503050406030204" pitchFamily="18" charset="0"/>
                      </a:rPr>
                      <m:t>−</m:t>
                    </m:r>
                    <m:r>
                      <a:rPr lang="zh-TW" altLang="en-US" i="1" smtClean="0">
                        <a:latin typeface="Cambria Math" panose="02040503050406030204" pitchFamily="18" charset="0"/>
                      </a:rPr>
                      <m:t>𝛿</m:t>
                    </m:r>
                    <m:r>
                      <a:rPr lang="en-US" altLang="zh-TW" b="0" i="1" smtClean="0">
                        <a:latin typeface="Cambria Math" panose="02040503050406030204" pitchFamily="18" charset="0"/>
                      </a:rPr>
                      <m:t>,0,0</m:t>
                    </m:r>
                  </m:oMath>
                </a14:m>
                <a:r>
                  <a:rPr lang="en-US" altLang="zh-TW" dirty="0"/>
                  <a:t>)</a:t>
                </a:r>
              </a:p>
              <a:p>
                <a:r>
                  <a:rPr lang="zh-TW" altLang="en-US" dirty="0"/>
                  <a:t>其中𝛾 為原點到</a:t>
                </a:r>
                <a:r>
                  <a:rPr lang="en-US" altLang="zh-TW" dirty="0"/>
                  <a:t>C</a:t>
                </a:r>
                <a:r>
                  <a:rPr lang="zh-TW" altLang="en-US" dirty="0"/>
                  <a:t>點長度，</a:t>
                </a:r>
                <a:r>
                  <a:rPr lang="zh-TW" altLang="en-GB" dirty="0"/>
                  <a:t>𝛼</a:t>
                </a:r>
                <a:r>
                  <a:rPr lang="zh-TW" altLang="en-US" dirty="0"/>
                  <a:t>為</a:t>
                </a:r>
                <a:r>
                  <a:rPr lang="en-US" altLang="zh-TW" dirty="0"/>
                  <a:t>C</a:t>
                </a:r>
                <a:r>
                  <a:rPr lang="zh-TW" altLang="en-US" dirty="0"/>
                  <a:t>點與</a:t>
                </a:r>
                <a:r>
                  <a:rPr lang="en-US" altLang="zh-TW" dirty="0" err="1"/>
                  <a:t>xy</a:t>
                </a:r>
                <a:r>
                  <a:rPr lang="zh-TW" altLang="en-US" dirty="0"/>
                  <a:t>平面之間的夾角，</a:t>
                </a:r>
                <a:endParaRPr lang="en-US" altLang="zh-TW" dirty="0"/>
              </a:p>
              <a:p>
                <a:r>
                  <a:rPr lang="zh-TW" altLang="en-GB" dirty="0"/>
                  <a:t>𝛽</a:t>
                </a:r>
                <a:r>
                  <a:rPr lang="zh-TW" altLang="en-US" dirty="0"/>
                  <a:t>為</a:t>
                </a:r>
                <a:r>
                  <a:rPr lang="en-US" altLang="zh-TW" dirty="0"/>
                  <a:t>C</a:t>
                </a:r>
                <a:r>
                  <a:rPr lang="zh-TW" altLang="en-US" dirty="0"/>
                  <a:t>點與</a:t>
                </a:r>
                <a:r>
                  <a:rPr lang="en-US" altLang="zh-TW" dirty="0" err="1"/>
                  <a:t>xz</a:t>
                </a:r>
                <a:r>
                  <a:rPr lang="zh-TW" altLang="en-US" dirty="0"/>
                  <a:t>平面之間的夾角</a:t>
                </a:r>
                <a:endParaRPr lang="en-US" altLang="zh-TW" dirty="0"/>
              </a:p>
              <a:p>
                <a14:m>
                  <m:oMath xmlns:m="http://schemas.openxmlformats.org/officeDocument/2006/math">
                    <m:acc>
                      <m:accPr>
                        <m:chr m:val="⃑"/>
                        <m:ctrlPr>
                          <a:rPr lang="zh-TW" altLang="en-US" i="1" smtClean="0">
                            <a:latin typeface="Cambria Math" panose="02040503050406030204" pitchFamily="18" charset="0"/>
                          </a:rPr>
                        </m:ctrlPr>
                      </m:accPr>
                      <m:e>
                        <m:r>
                          <m:rPr>
                            <m:sty m:val="p"/>
                          </m:rPr>
                          <a:rPr lang="en-US" altLang="zh-TW" b="0" i="0" smtClean="0">
                            <a:latin typeface="Cambria Math" panose="02040503050406030204" pitchFamily="18" charset="0"/>
                          </a:rPr>
                          <m:t>BC</m:t>
                        </m:r>
                      </m:e>
                    </m:acc>
                  </m:oMath>
                </a14:m>
                <a:r>
                  <a:rPr lang="zh-TW" altLang="en-US" dirty="0"/>
                  <a:t>與</a:t>
                </a:r>
                <a:r>
                  <a:rPr lang="en-US" altLang="zh-TW" dirty="0" err="1"/>
                  <a:t>xy</a:t>
                </a:r>
                <a:r>
                  <a:rPr lang="zh-TW" altLang="en-US" dirty="0"/>
                  <a:t>平面夾角為</a:t>
                </a:r>
                <a14:m>
                  <m:oMath xmlns:m="http://schemas.openxmlformats.org/officeDocument/2006/math">
                    <m:r>
                      <a:rPr lang="en-US" altLang="zh-TW" i="1" dirty="0" smtClean="0">
                        <a:latin typeface="Cambria Math" panose="02040503050406030204" pitchFamily="18" charset="0"/>
                      </a:rPr>
                      <m:t>𝑡</m:t>
                    </m:r>
                    <m:r>
                      <a:rPr lang="en-US" altLang="zh-TW" i="1" dirty="0" smtClean="0">
                        <a:latin typeface="Cambria Math" panose="02040503050406030204" pitchFamily="18" charset="0"/>
                      </a:rPr>
                      <m:t>˚</m:t>
                    </m:r>
                  </m:oMath>
                </a14:m>
                <a:r>
                  <a:rPr lang="zh-TW" altLang="en-US" dirty="0"/>
                  <a:t>，也就是</a:t>
                </a:r>
                <a14:m>
                  <m:oMath xmlns:m="http://schemas.openxmlformats.org/officeDocument/2006/math">
                    <m:r>
                      <a:rPr lang="zh-TW" altLang="en-GB" i="1" dirty="0" smtClean="0">
                        <a:latin typeface="Cambria Math" panose="02040503050406030204" pitchFamily="18" charset="0"/>
                      </a:rPr>
                      <m:t>𝛼</m:t>
                    </m:r>
                    <m:r>
                      <a:rPr lang="en-US" altLang="zh-TW" i="1" dirty="0">
                        <a:latin typeface="Cambria Math" panose="02040503050406030204" pitchFamily="18" charset="0"/>
                      </a:rPr>
                      <m:t>˚</m:t>
                    </m:r>
                  </m:oMath>
                </a14:m>
                <a:endParaRPr lang="en-US" altLang="zh-TW" dirty="0">
                  <a:latin typeface="Poor Richard" panose="02080502050505020702" pitchFamily="18" charset="0"/>
                </a:endParaRPr>
              </a:p>
              <a:p>
                <a:r>
                  <a:rPr lang="zh-TW" altLang="en-US" dirty="0">
                    <a:latin typeface="Poor Richard" panose="02080502050505020702" pitchFamily="18" charset="0"/>
                  </a:rPr>
                  <a:t>首先分解</a:t>
                </a:r>
                <a14:m>
                  <m:oMath xmlns:m="http://schemas.openxmlformats.org/officeDocument/2006/math">
                    <m:acc>
                      <m:accPr>
                        <m:chr m:val="⃑"/>
                        <m:ctrlPr>
                          <a:rPr lang="zh-TW" altLang="en-US" i="1" smtClean="0">
                            <a:latin typeface="Cambria Math" panose="02040503050406030204" pitchFamily="18" charset="0"/>
                          </a:rPr>
                        </m:ctrlPr>
                      </m:accPr>
                      <m:e>
                        <m:r>
                          <m:rPr>
                            <m:sty m:val="p"/>
                          </m:rPr>
                          <a:rPr lang="en-US" altLang="zh-TW" b="0" i="0" smtClean="0">
                            <a:latin typeface="Cambria Math" panose="02040503050406030204" pitchFamily="18" charset="0"/>
                          </a:rPr>
                          <m:t>AC</m:t>
                        </m:r>
                      </m:e>
                    </m:acc>
                    <m:r>
                      <a:rPr lang="zh-TW" altLang="en-US" i="1">
                        <a:latin typeface="Cambria Math" panose="02040503050406030204" pitchFamily="18" charset="0"/>
                      </a:rPr>
                      <m:t>向量</m:t>
                    </m:r>
                  </m:oMath>
                </a14:m>
                <a:r>
                  <a:rPr lang="zh-TW" altLang="en-US" dirty="0">
                    <a:latin typeface="Poor Richard" panose="02080502050505020702" pitchFamily="18" charset="0"/>
                  </a:rPr>
                  <a:t>與</a:t>
                </a:r>
                <a:r>
                  <a:rPr lang="en-US" altLang="zh-TW" dirty="0" err="1"/>
                  <a:t>xy</a:t>
                </a:r>
                <a:r>
                  <a:rPr lang="zh-TW" altLang="en-US" dirty="0">
                    <a:latin typeface="Poor Richard" panose="02080502050505020702" pitchFamily="18" charset="0"/>
                  </a:rPr>
                  <a:t>平面的夾角</a:t>
                </a:r>
                <a14:m>
                  <m:oMath xmlns:m="http://schemas.openxmlformats.org/officeDocument/2006/math">
                    <m:r>
                      <a:rPr lang="en-US" altLang="zh-TW" i="1" dirty="0" smtClean="0">
                        <a:latin typeface="Cambria Math" panose="02040503050406030204" pitchFamily="18" charset="0"/>
                      </a:rPr>
                      <m:t>𝑝</m:t>
                    </m:r>
                    <m:r>
                      <a:rPr lang="en-US" altLang="zh-TW" i="1" dirty="0" smtClean="0">
                        <a:latin typeface="Cambria Math" panose="02040503050406030204" pitchFamily="18" charset="0"/>
                      </a:rPr>
                      <m:t>˚</m:t>
                    </m:r>
                  </m:oMath>
                </a14:m>
                <a:endParaRPr lang="en-US" altLang="zh-TW" dirty="0"/>
              </a:p>
            </p:txBody>
          </p:sp>
        </mc:Choice>
        <mc:Fallback xmlns="">
          <p:sp>
            <p:nvSpPr>
              <p:cNvPr id="5" name="文字方塊 4">
                <a:extLst>
                  <a:ext uri="{FF2B5EF4-FFF2-40B4-BE49-F238E27FC236}">
                    <a16:creationId xmlns:a16="http://schemas.microsoft.com/office/drawing/2014/main" id="{D5610BED-0968-4508-B860-09E58D6F3B11}"/>
                  </a:ext>
                </a:extLst>
              </p:cNvPr>
              <p:cNvSpPr txBox="1">
                <a:spLocks noRot="1" noChangeAspect="1" noMove="1" noResize="1" noEditPoints="1" noAdjustHandles="1" noChangeArrowheads="1" noChangeShapeType="1" noTextEdit="1"/>
              </p:cNvSpPr>
              <p:nvPr/>
            </p:nvSpPr>
            <p:spPr>
              <a:xfrm>
                <a:off x="143437" y="1722780"/>
                <a:ext cx="6436658" cy="2403094"/>
              </a:xfrm>
              <a:prstGeom prst="rect">
                <a:avLst/>
              </a:prstGeom>
              <a:blipFill>
                <a:blip r:embed="rId3"/>
                <a:stretch>
                  <a:fillRect l="-853" b="-228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1A7E90E7-8383-4CF5-ADC2-894BBA05814E}"/>
                  </a:ext>
                </a:extLst>
              </p:cNvPr>
              <p:cNvSpPr txBox="1"/>
              <p:nvPr/>
            </p:nvSpPr>
            <p:spPr>
              <a:xfrm>
                <a:off x="143437" y="4003488"/>
                <a:ext cx="6436658" cy="2355132"/>
              </a:xfrm>
              <a:prstGeom prst="rect">
                <a:avLst/>
              </a:prstGeom>
              <a:noFill/>
            </p:spPr>
            <p:txBody>
              <a:bodyPr wrap="square" rtlCol="0">
                <a:spAutoFit/>
              </a:bodyPr>
              <a:lstStyle/>
              <a:p>
                <a:r>
                  <a:rPr lang="zh-TW" altLang="en-US" dirty="0"/>
                  <a:t>針對</a:t>
                </a:r>
                <a:r>
                  <a:rPr lang="en-US" altLang="zh-TW" dirty="0" err="1"/>
                  <a:t>xz</a:t>
                </a:r>
                <a:r>
                  <a:rPr lang="zh-TW" altLang="en-US" dirty="0"/>
                  <a:t>平面上</a:t>
                </a:r>
                <a14:m>
                  <m:oMath xmlns:m="http://schemas.openxmlformats.org/officeDocument/2006/math">
                    <m:r>
                      <a:rPr lang="zh-TW" altLang="en-US" i="1" smtClean="0">
                        <a:latin typeface="Cambria Math" panose="02040503050406030204" pitchFamily="18" charset="0"/>
                      </a:rPr>
                      <m:t>∠</m:t>
                    </m:r>
                    <m:r>
                      <a:rPr lang="en-US" altLang="zh-TW" b="0" i="1" smtClean="0">
                        <a:latin typeface="Cambria Math" panose="02040503050406030204" pitchFamily="18" charset="0"/>
                      </a:rPr>
                      <m:t>𝑝</m:t>
                    </m:r>
                    <m:r>
                      <a:rPr lang="en-US" altLang="zh-TW" b="0" i="1" smtClean="0">
                        <a:latin typeface="Cambria Math" panose="02040503050406030204" pitchFamily="18" charset="0"/>
                      </a:rPr>
                      <m:t> </m:t>
                    </m:r>
                  </m:oMath>
                </a14:m>
                <a:r>
                  <a:rPr lang="zh-TW" altLang="en-US" dirty="0"/>
                  <a:t>的分量</a:t>
                </a:r>
                <a14:m>
                  <m:oMath xmlns:m="http://schemas.openxmlformats.org/officeDocument/2006/math">
                    <m:r>
                      <a:rPr lang="zh-TW" altLang="en-US" i="1" smtClean="0">
                        <a:latin typeface="Cambria Math" panose="02040503050406030204" pitchFamily="18" charset="0"/>
                      </a:rPr>
                      <m:t>∠</m:t>
                    </m:r>
                    <m:r>
                      <a:rPr lang="en-US" altLang="zh-TW" b="0" i="1" smtClean="0">
                        <a:latin typeface="Cambria Math" panose="02040503050406030204" pitchFamily="18" charset="0"/>
                      </a:rPr>
                      <m:t>𝑟</m:t>
                    </m:r>
                  </m:oMath>
                </a14:m>
                <a:endParaRPr lang="en-US" altLang="zh-TW" b="0" dirty="0"/>
              </a:p>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m:t>
                      </m:r>
                      <m:r>
                        <a:rPr lang="en-US" altLang="zh-TW" b="0" i="1" smtClean="0">
                          <a:latin typeface="Cambria Math" panose="02040503050406030204" pitchFamily="18" charset="0"/>
                        </a:rPr>
                        <m:t>𝑟</m:t>
                      </m:r>
                      <m:r>
                        <a:rPr lang="en-US" altLang="zh-TW" i="1">
                          <a:latin typeface="Cambria Math" panose="02040503050406030204" pitchFamily="18" charset="0"/>
                        </a:rPr>
                        <m:t>=</m:t>
                      </m:r>
                      <m:r>
                        <a:rPr lang="zh-TW" altLang="en-US" i="1">
                          <a:latin typeface="Cambria Math" panose="02040503050406030204" pitchFamily="18" charset="0"/>
                        </a:rPr>
                        <m:t> </m:t>
                      </m:r>
                      <m:func>
                        <m:funcPr>
                          <m:ctrlPr>
                            <a:rPr lang="en-GB" altLang="zh-TW" i="1" smtClean="0">
                              <a:latin typeface="Cambria Math" panose="02040503050406030204" pitchFamily="18" charset="0"/>
                            </a:rPr>
                          </m:ctrlPr>
                        </m:funcPr>
                        <m:fName>
                          <m:sSup>
                            <m:sSupPr>
                              <m:ctrlPr>
                                <a:rPr lang="en-GB" altLang="zh-TW" i="1" smtClean="0">
                                  <a:latin typeface="Cambria Math" panose="02040503050406030204" pitchFamily="18" charset="0"/>
                                </a:rPr>
                              </m:ctrlPr>
                            </m:sSupPr>
                            <m:e>
                              <m:r>
                                <m:rPr>
                                  <m:sty m:val="p"/>
                                </m:rPr>
                                <a:rPr lang="en-GB" altLang="zh-TW" i="0" smtClean="0">
                                  <a:latin typeface="Cambria Math" panose="02040503050406030204" pitchFamily="18" charset="0"/>
                                </a:rPr>
                                <m:t>sin</m:t>
                              </m:r>
                            </m:e>
                            <m:sup>
                              <m:r>
                                <a:rPr lang="en-GB" altLang="zh-TW" i="1" smtClean="0">
                                  <a:latin typeface="Cambria Math" panose="02040503050406030204" pitchFamily="18" charset="0"/>
                                </a:rPr>
                                <m:t>−1</m:t>
                              </m:r>
                            </m:sup>
                          </m:sSup>
                        </m:fName>
                        <m:e>
                          <m:d>
                            <m:dPr>
                              <m:ctrlPr>
                                <a:rPr lang="zh-TW" altLang="en-US" i="1" dirty="0" smtClean="0">
                                  <a:solidFill>
                                    <a:srgbClr val="836967"/>
                                  </a:solidFill>
                                  <a:latin typeface="Cambria Math" panose="02040503050406030204" pitchFamily="18" charset="0"/>
                                </a:rPr>
                              </m:ctrlPr>
                            </m:dPr>
                            <m:e>
                              <m:f>
                                <m:fPr>
                                  <m:ctrlPr>
                                    <a:rPr lang="zh-TW" altLang="en-US" i="1" dirty="0">
                                      <a:solidFill>
                                        <a:srgbClr val="836967"/>
                                      </a:solidFill>
                                      <a:latin typeface="Cambria Math" panose="02040503050406030204" pitchFamily="18" charset="0"/>
                                    </a:rPr>
                                  </m:ctrlPr>
                                </m:fPr>
                                <m:num>
                                  <m:d>
                                    <m:dPr>
                                      <m:begChr m:val="|"/>
                                      <m:endChr m:val="|"/>
                                      <m:ctrlPr>
                                        <a:rPr lang="zh-TW" altLang="en-US" i="1" dirty="0" smtClean="0">
                                          <a:solidFill>
                                            <a:srgbClr val="836967"/>
                                          </a:solidFill>
                                          <a:latin typeface="Cambria Math" panose="02040503050406030204" pitchFamily="18" charset="0"/>
                                        </a:rPr>
                                      </m:ctrlPr>
                                    </m:dPr>
                                    <m:e>
                                      <m:r>
                                        <m:rPr>
                                          <m:nor/>
                                        </m:rPr>
                                        <a:rPr lang="zh-TW" altLang="en-GB" dirty="0" smtClean="0"/>
                                        <m:t>𝛾</m:t>
                                      </m:r>
                                      <m:r>
                                        <m:rPr>
                                          <m:nor/>
                                        </m:rPr>
                                        <a:rPr lang="zh-TW" altLang="en-GB" dirty="0" smtClean="0"/>
                                        <m:t> </m:t>
                                      </m:r>
                                      <m:r>
                                        <m:rPr>
                                          <m:nor/>
                                        </m:rPr>
                                        <a:rPr lang="en-GB" altLang="zh-TW" dirty="0" smtClean="0"/>
                                        <m:t>sin</m:t>
                                      </m:r>
                                      <m:r>
                                        <m:rPr>
                                          <m:nor/>
                                        </m:rPr>
                                        <a:rPr lang="en-GB" altLang="zh-TW" dirty="0" smtClean="0"/>
                                        <m:t>(</m:t>
                                      </m:r>
                                      <m:r>
                                        <m:rPr>
                                          <m:nor/>
                                        </m:rPr>
                                        <a:rPr lang="zh-TW" altLang="en-GB" dirty="0" smtClean="0"/>
                                        <m:t>𝛼</m:t>
                                      </m:r>
                                      <m:r>
                                        <m:rPr>
                                          <m:nor/>
                                        </m:rPr>
                                        <a:rPr lang="en-GB" altLang="zh-TW" dirty="0" smtClean="0"/>
                                        <m:t>°)</m:t>
                                      </m:r>
                                    </m:e>
                                  </m:d>
                                </m:num>
                                <m:den>
                                  <m:d>
                                    <m:dPr>
                                      <m:begChr m:val="‖"/>
                                      <m:endChr m:val="‖"/>
                                      <m:ctrlPr>
                                        <a:rPr lang="zh-TW" altLang="en-US" i="1" dirty="0" smtClean="0">
                                          <a:solidFill>
                                            <a:srgbClr val="836967"/>
                                          </a:solidFill>
                                          <a:latin typeface="Cambria Math" panose="02040503050406030204" pitchFamily="18" charset="0"/>
                                        </a:rPr>
                                      </m:ctrlPr>
                                    </m:dPr>
                                    <m:e>
                                      <m:acc>
                                        <m:accPr>
                                          <m:chr m:val="⃑"/>
                                          <m:ctrlPr>
                                            <a:rPr lang="zh-TW" altLang="en-US" i="1" dirty="0" smtClean="0">
                                              <a:latin typeface="Cambria Math" panose="02040503050406030204" pitchFamily="18" charset="0"/>
                                            </a:rPr>
                                          </m:ctrlPr>
                                        </m:accPr>
                                        <m:e>
                                          <m:r>
                                            <m:rPr>
                                              <m:sty m:val="p"/>
                                            </m:rPr>
                                            <a:rPr lang="en-US" altLang="zh-TW" b="0" i="0" dirty="0" smtClean="0">
                                              <a:latin typeface="Cambria Math" panose="02040503050406030204" pitchFamily="18" charset="0"/>
                                            </a:rPr>
                                            <m:t>AC</m:t>
                                          </m:r>
                                        </m:e>
                                      </m:acc>
                                    </m:e>
                                  </m:d>
                                </m:den>
                              </m:f>
                            </m:e>
                          </m:d>
                        </m:e>
                      </m:func>
                    </m:oMath>
                  </m:oMathPara>
                </a14:m>
                <a:endParaRPr lang="en-US" altLang="zh-TW" dirty="0"/>
              </a:p>
              <a:p>
                <a:r>
                  <a:rPr lang="zh-TW" altLang="en-US" dirty="0"/>
                  <a:t>而對</a:t>
                </a:r>
                <a:r>
                  <a:rPr lang="en-US" altLang="zh-TW" dirty="0" err="1"/>
                  <a:t>xy</a:t>
                </a:r>
                <a:r>
                  <a:rPr lang="zh-TW" altLang="en-US" dirty="0"/>
                  <a:t>平面上</a:t>
                </a:r>
                <a14:m>
                  <m:oMath xmlns:m="http://schemas.openxmlformats.org/officeDocument/2006/math">
                    <m:r>
                      <a:rPr lang="zh-TW" altLang="en-US" i="1" smtClean="0">
                        <a:latin typeface="Cambria Math" panose="02040503050406030204" pitchFamily="18" charset="0"/>
                      </a:rPr>
                      <m:t>∠</m:t>
                    </m:r>
                    <m:r>
                      <a:rPr lang="en-US" altLang="zh-TW" b="0" i="1" smtClean="0">
                        <a:latin typeface="Cambria Math" panose="02040503050406030204" pitchFamily="18" charset="0"/>
                      </a:rPr>
                      <m:t>𝑝</m:t>
                    </m:r>
                    <m:r>
                      <a:rPr lang="en-US" altLang="zh-TW" b="0" i="1" smtClean="0">
                        <a:latin typeface="Cambria Math" panose="02040503050406030204" pitchFamily="18" charset="0"/>
                      </a:rPr>
                      <m:t> </m:t>
                    </m:r>
                  </m:oMath>
                </a14:m>
                <a:r>
                  <a:rPr lang="zh-TW" altLang="en-US" dirty="0"/>
                  <a:t>的分量</a:t>
                </a:r>
                <a14:m>
                  <m:oMath xmlns:m="http://schemas.openxmlformats.org/officeDocument/2006/math">
                    <m:r>
                      <a:rPr lang="zh-TW" altLang="en-US" i="1" smtClean="0">
                        <a:latin typeface="Cambria Math" panose="02040503050406030204" pitchFamily="18" charset="0"/>
                      </a:rPr>
                      <m:t>∠</m:t>
                    </m:r>
                    <m:r>
                      <a:rPr lang="en-US" altLang="zh-TW" b="0" i="1" smtClean="0">
                        <a:latin typeface="Cambria Math" panose="02040503050406030204" pitchFamily="18" charset="0"/>
                      </a:rPr>
                      <m:t>𝑠</m:t>
                    </m:r>
                  </m:oMath>
                </a14:m>
                <a:endParaRPr lang="en-US" altLang="zh-TW" dirty="0"/>
              </a:p>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m:t>
                      </m:r>
                      <m:r>
                        <a:rPr lang="en-US" altLang="zh-TW" b="0" i="1" smtClean="0">
                          <a:latin typeface="Cambria Math" panose="02040503050406030204" pitchFamily="18" charset="0"/>
                        </a:rPr>
                        <m:t>𝑠</m:t>
                      </m:r>
                      <m:r>
                        <a:rPr lang="en-US" altLang="zh-TW" b="0" i="1" smtClean="0">
                          <a:latin typeface="Cambria Math" panose="02040503050406030204" pitchFamily="18" charset="0"/>
                        </a:rPr>
                        <m:t>=</m:t>
                      </m:r>
                      <m:func>
                        <m:funcPr>
                          <m:ctrlPr>
                            <a:rPr lang="en-GB" altLang="zh-TW" i="1">
                              <a:latin typeface="Cambria Math" panose="02040503050406030204" pitchFamily="18" charset="0"/>
                            </a:rPr>
                          </m:ctrlPr>
                        </m:funcPr>
                        <m:fName>
                          <m:sSup>
                            <m:sSupPr>
                              <m:ctrlPr>
                                <a:rPr lang="en-GB" altLang="zh-TW" i="1">
                                  <a:latin typeface="Cambria Math" panose="02040503050406030204" pitchFamily="18" charset="0"/>
                                </a:rPr>
                              </m:ctrlPr>
                            </m:sSupPr>
                            <m:e>
                              <m:r>
                                <m:rPr>
                                  <m:sty m:val="p"/>
                                </m:rPr>
                                <a:rPr lang="en-GB" altLang="zh-TW">
                                  <a:latin typeface="Cambria Math" panose="02040503050406030204" pitchFamily="18" charset="0"/>
                                </a:rPr>
                                <m:t>sin</m:t>
                              </m:r>
                            </m:e>
                            <m:sup>
                              <m:r>
                                <a:rPr lang="en-GB" altLang="zh-TW" i="1">
                                  <a:latin typeface="Cambria Math" panose="02040503050406030204" pitchFamily="18" charset="0"/>
                                </a:rPr>
                                <m:t>−1</m:t>
                              </m:r>
                            </m:sup>
                          </m:sSup>
                        </m:fName>
                        <m:e>
                          <m:d>
                            <m:dPr>
                              <m:ctrlPr>
                                <a:rPr lang="zh-TW" altLang="en-US" i="1" dirty="0">
                                  <a:solidFill>
                                    <a:srgbClr val="836967"/>
                                  </a:solidFill>
                                  <a:latin typeface="Cambria Math" panose="02040503050406030204" pitchFamily="18" charset="0"/>
                                </a:rPr>
                              </m:ctrlPr>
                            </m:dPr>
                            <m:e>
                              <m:f>
                                <m:fPr>
                                  <m:ctrlPr>
                                    <a:rPr lang="zh-TW" altLang="en-US" i="1" dirty="0">
                                      <a:solidFill>
                                        <a:srgbClr val="836967"/>
                                      </a:solidFill>
                                      <a:latin typeface="Cambria Math" panose="02040503050406030204" pitchFamily="18" charset="0"/>
                                    </a:rPr>
                                  </m:ctrlPr>
                                </m:fPr>
                                <m:num>
                                  <m:d>
                                    <m:dPr>
                                      <m:begChr m:val="|"/>
                                      <m:endChr m:val="|"/>
                                      <m:ctrlPr>
                                        <a:rPr lang="zh-TW" altLang="en-US" i="1" dirty="0">
                                          <a:solidFill>
                                            <a:srgbClr val="836967"/>
                                          </a:solidFill>
                                          <a:latin typeface="Cambria Math" panose="02040503050406030204" pitchFamily="18" charset="0"/>
                                        </a:rPr>
                                      </m:ctrlPr>
                                    </m:dPr>
                                    <m:e>
                                      <m:r>
                                        <m:rPr>
                                          <m:nor/>
                                        </m:rPr>
                                        <a:rPr lang="zh-TW" altLang="en-GB" dirty="0"/>
                                        <m:t>𝛾</m:t>
                                      </m:r>
                                      <m:r>
                                        <m:rPr>
                                          <m:nor/>
                                        </m:rPr>
                                        <a:rPr lang="zh-TW" altLang="en-GB" dirty="0"/>
                                        <m:t> </m:t>
                                      </m:r>
                                      <m:r>
                                        <m:rPr>
                                          <m:nor/>
                                        </m:rPr>
                                        <a:rPr lang="en-GB" altLang="zh-TW" dirty="0"/>
                                        <m:t>cos</m:t>
                                      </m:r>
                                      <m:r>
                                        <m:rPr>
                                          <m:nor/>
                                        </m:rPr>
                                        <a:rPr lang="en-GB" altLang="zh-TW" dirty="0"/>
                                        <m:t>(</m:t>
                                      </m:r>
                                      <m:r>
                                        <m:rPr>
                                          <m:nor/>
                                        </m:rPr>
                                        <a:rPr lang="zh-TW" altLang="en-GB" dirty="0"/>
                                        <m:t>𝛼</m:t>
                                      </m:r>
                                      <m:r>
                                        <m:rPr>
                                          <m:nor/>
                                        </m:rPr>
                                        <a:rPr lang="en-GB" altLang="zh-TW" dirty="0"/>
                                        <m:t>°) </m:t>
                                      </m:r>
                                      <m:r>
                                        <m:rPr>
                                          <m:nor/>
                                        </m:rPr>
                                        <a:rPr lang="en-GB" altLang="zh-TW" dirty="0"/>
                                        <m:t>sin</m:t>
                                      </m:r>
                                      <m:r>
                                        <m:rPr>
                                          <m:nor/>
                                        </m:rPr>
                                        <a:rPr lang="en-GB" altLang="zh-TW" dirty="0"/>
                                        <m:t>(</m:t>
                                      </m:r>
                                      <m:r>
                                        <m:rPr>
                                          <m:nor/>
                                        </m:rPr>
                                        <a:rPr lang="zh-TW" altLang="en-GB" dirty="0"/>
                                        <m:t>𝛽</m:t>
                                      </m:r>
                                      <m:r>
                                        <m:rPr>
                                          <m:nor/>
                                        </m:rPr>
                                        <a:rPr lang="en-GB" altLang="zh-TW" dirty="0"/>
                                        <m:t>°)</m:t>
                                      </m:r>
                                    </m:e>
                                  </m:d>
                                </m:num>
                                <m:den>
                                  <m:d>
                                    <m:dPr>
                                      <m:begChr m:val="‖"/>
                                      <m:endChr m:val="‖"/>
                                      <m:ctrlPr>
                                        <a:rPr lang="zh-TW" altLang="en-US" i="1" dirty="0">
                                          <a:solidFill>
                                            <a:srgbClr val="836967"/>
                                          </a:solidFill>
                                          <a:latin typeface="Cambria Math" panose="02040503050406030204" pitchFamily="18" charset="0"/>
                                        </a:rPr>
                                      </m:ctrlPr>
                                    </m:dPr>
                                    <m:e>
                                      <m:acc>
                                        <m:accPr>
                                          <m:chr m:val="⃑"/>
                                          <m:ctrlPr>
                                            <a:rPr lang="zh-TW" altLang="en-US" i="1" dirty="0">
                                              <a:latin typeface="Cambria Math" panose="02040503050406030204" pitchFamily="18" charset="0"/>
                                            </a:rPr>
                                          </m:ctrlPr>
                                        </m:accPr>
                                        <m:e>
                                          <m:r>
                                            <m:rPr>
                                              <m:sty m:val="p"/>
                                            </m:rPr>
                                            <a:rPr lang="en-US" altLang="zh-TW" b="0" i="0" dirty="0" smtClean="0">
                                              <a:latin typeface="Cambria Math" panose="02040503050406030204" pitchFamily="18" charset="0"/>
                                            </a:rPr>
                                            <m:t>AC</m:t>
                                          </m:r>
                                        </m:e>
                                      </m:acc>
                                    </m:e>
                                  </m:d>
                                </m:den>
                              </m:f>
                            </m:e>
                          </m:d>
                        </m:e>
                      </m:func>
                    </m:oMath>
                  </m:oMathPara>
                </a14:m>
                <a:endParaRPr lang="en-US" altLang="zh-TW" dirty="0"/>
              </a:p>
              <a:p>
                <a:endParaRPr lang="en-US" altLang="zh-TW" dirty="0"/>
              </a:p>
            </p:txBody>
          </p:sp>
        </mc:Choice>
        <mc:Fallback xmlns="">
          <p:sp>
            <p:nvSpPr>
              <p:cNvPr id="10" name="文字方塊 9">
                <a:extLst>
                  <a:ext uri="{FF2B5EF4-FFF2-40B4-BE49-F238E27FC236}">
                    <a16:creationId xmlns:a16="http://schemas.microsoft.com/office/drawing/2014/main" id="{1A7E90E7-8383-4CF5-ADC2-894BBA05814E}"/>
                  </a:ext>
                </a:extLst>
              </p:cNvPr>
              <p:cNvSpPr txBox="1">
                <a:spLocks noRot="1" noChangeAspect="1" noMove="1" noResize="1" noEditPoints="1" noAdjustHandles="1" noChangeArrowheads="1" noChangeShapeType="1" noTextEdit="1"/>
              </p:cNvSpPr>
              <p:nvPr/>
            </p:nvSpPr>
            <p:spPr>
              <a:xfrm>
                <a:off x="143437" y="4003488"/>
                <a:ext cx="6436658" cy="2355132"/>
              </a:xfrm>
              <a:prstGeom prst="rect">
                <a:avLst/>
              </a:prstGeom>
              <a:blipFill>
                <a:blip r:embed="rId4"/>
                <a:stretch>
                  <a:fillRect l="-853" t="-1554"/>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269F220A-1736-40BC-A29C-68B00CC0118F}"/>
              </a:ext>
            </a:extLst>
          </p:cNvPr>
          <p:cNvSpPr txBox="1"/>
          <p:nvPr/>
        </p:nvSpPr>
        <p:spPr>
          <a:xfrm>
            <a:off x="8001245" y="5810193"/>
            <a:ext cx="1834815" cy="369332"/>
          </a:xfrm>
          <a:prstGeom prst="rect">
            <a:avLst/>
          </a:prstGeom>
          <a:noFill/>
        </p:spPr>
        <p:txBody>
          <a:bodyPr wrap="square" rtlCol="0">
            <a:spAutoFit/>
          </a:bodyPr>
          <a:lstStyle/>
          <a:p>
            <a:r>
              <a:rPr lang="zh-TW" altLang="en-US" dirty="0"/>
              <a:t>空間夾角分解圖</a:t>
            </a:r>
          </a:p>
        </p:txBody>
      </p:sp>
      <p:sp>
        <p:nvSpPr>
          <p:cNvPr id="13" name="文字方塊 12">
            <a:extLst>
              <a:ext uri="{FF2B5EF4-FFF2-40B4-BE49-F238E27FC236}">
                <a16:creationId xmlns:a16="http://schemas.microsoft.com/office/drawing/2014/main" id="{70CE1CDF-EC33-4CA4-8D04-01BBAF3FC4C5}"/>
              </a:ext>
            </a:extLst>
          </p:cNvPr>
          <p:cNvSpPr txBox="1"/>
          <p:nvPr/>
        </p:nvSpPr>
        <p:spPr>
          <a:xfrm>
            <a:off x="143437" y="1516056"/>
            <a:ext cx="5675559" cy="400110"/>
          </a:xfrm>
          <a:prstGeom prst="rect">
            <a:avLst/>
          </a:prstGeom>
          <a:solidFill>
            <a:srgbClr val="00B0F0"/>
          </a:solidFill>
        </p:spPr>
        <p:txBody>
          <a:bodyPr wrap="square" rtlCol="0">
            <a:spAutoFit/>
          </a:bodyPr>
          <a:lstStyle/>
          <a:p>
            <a:pPr algn="ctr"/>
            <a:r>
              <a:rPr lang="zh-TW" altLang="en-US" sz="2000" dirty="0"/>
              <a:t>分析</a:t>
            </a:r>
            <a:endParaRPr lang="zh-TW" altLang="en-US" dirty="0"/>
          </a:p>
        </p:txBody>
      </p:sp>
      <p:sp>
        <p:nvSpPr>
          <p:cNvPr id="7" name="投影片編號版面配置區 6">
            <a:extLst>
              <a:ext uri="{FF2B5EF4-FFF2-40B4-BE49-F238E27FC236}">
                <a16:creationId xmlns:a16="http://schemas.microsoft.com/office/drawing/2014/main" id="{42155E36-83CA-49F1-B08F-39D57F83943E}"/>
              </a:ext>
            </a:extLst>
          </p:cNvPr>
          <p:cNvSpPr>
            <a:spLocks noGrp="1"/>
          </p:cNvSpPr>
          <p:nvPr>
            <p:ph type="sldNum" sz="quarter" idx="12"/>
          </p:nvPr>
        </p:nvSpPr>
        <p:spPr/>
        <p:txBody>
          <a:bodyPr/>
          <a:lstStyle/>
          <a:p>
            <a:fld id="{12DE3F29-1F68-43B4-BFC6-B027CAE8215F}" type="slidenum">
              <a:rPr lang="zh-TW" altLang="en-US" smtClean="0"/>
              <a:t>12</a:t>
            </a:fld>
            <a:endParaRPr lang="zh-TW" altLang="en-US"/>
          </a:p>
        </p:txBody>
      </p:sp>
      <p:pic>
        <p:nvPicPr>
          <p:cNvPr id="16" name="圖片 15">
            <a:extLst>
              <a:ext uri="{FF2B5EF4-FFF2-40B4-BE49-F238E27FC236}">
                <a16:creationId xmlns:a16="http://schemas.microsoft.com/office/drawing/2014/main" id="{1D78FEFE-EFC7-4A86-904E-60CE2AE109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grpSp>
        <p:nvGrpSpPr>
          <p:cNvPr id="18" name="群組 17">
            <a:extLst>
              <a:ext uri="{FF2B5EF4-FFF2-40B4-BE49-F238E27FC236}">
                <a16:creationId xmlns:a16="http://schemas.microsoft.com/office/drawing/2014/main" id="{9F5D6D64-2A4A-4D73-A914-C54207DA5633}"/>
              </a:ext>
            </a:extLst>
          </p:cNvPr>
          <p:cNvGrpSpPr/>
          <p:nvPr/>
        </p:nvGrpSpPr>
        <p:grpSpPr>
          <a:xfrm>
            <a:off x="5941538" y="1432391"/>
            <a:ext cx="5651915" cy="4303267"/>
            <a:chOff x="5941538" y="1432391"/>
            <a:chExt cx="5651915" cy="4303267"/>
          </a:xfrm>
        </p:grpSpPr>
        <p:pic>
          <p:nvPicPr>
            <p:cNvPr id="19" name="圖片 18">
              <a:extLst>
                <a:ext uri="{FF2B5EF4-FFF2-40B4-BE49-F238E27FC236}">
                  <a16:creationId xmlns:a16="http://schemas.microsoft.com/office/drawing/2014/main" id="{83898503-5CD2-443B-BE5C-8388792E2F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966431" y="1432391"/>
              <a:ext cx="5625773" cy="1952784"/>
            </a:xfrm>
            <a:prstGeom prst="rect">
              <a:avLst/>
            </a:prstGeom>
            <a:ln>
              <a:solidFill>
                <a:schemeClr val="tx1"/>
              </a:solidFill>
            </a:ln>
            <a:effectLst>
              <a:outerShdw blurRad="50800" dist="38100" dir="2700000" algn="tl" rotWithShape="0">
                <a:prstClr val="black">
                  <a:alpha val="40000"/>
                </a:prstClr>
              </a:outerShdw>
            </a:effectLst>
          </p:spPr>
        </p:pic>
        <p:pic>
          <p:nvPicPr>
            <p:cNvPr id="20" name="圖片 19">
              <a:extLst>
                <a:ext uri="{FF2B5EF4-FFF2-40B4-BE49-F238E27FC236}">
                  <a16:creationId xmlns:a16="http://schemas.microsoft.com/office/drawing/2014/main" id="{20A11D16-5724-4200-8FB9-BEDBB9426C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5941538" y="4044128"/>
              <a:ext cx="2673941" cy="1182765"/>
            </a:xfrm>
            <a:prstGeom prst="rect">
              <a:avLst/>
            </a:prstGeom>
            <a:ln>
              <a:solidFill>
                <a:schemeClr val="tx1"/>
              </a:solidFill>
            </a:ln>
            <a:effectLst>
              <a:outerShdw blurRad="50800" dist="38100" dir="2700000" algn="tl" rotWithShape="0">
                <a:prstClr val="black">
                  <a:alpha val="40000"/>
                </a:prstClr>
              </a:outerShdw>
            </a:effectLst>
          </p:spPr>
        </p:pic>
        <p:pic>
          <p:nvPicPr>
            <p:cNvPr id="21" name="圖片 20">
              <a:extLst>
                <a:ext uri="{FF2B5EF4-FFF2-40B4-BE49-F238E27FC236}">
                  <a16:creationId xmlns:a16="http://schemas.microsoft.com/office/drawing/2014/main" id="{0D769E21-B7D5-466D-A98A-B1388781A22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8918653" y="4661707"/>
              <a:ext cx="2674800" cy="540623"/>
            </a:xfrm>
            <a:prstGeom prst="rect">
              <a:avLst/>
            </a:prstGeom>
            <a:ln>
              <a:solidFill>
                <a:schemeClr val="tx1"/>
              </a:solidFill>
            </a:ln>
            <a:effectLst>
              <a:outerShdw blurRad="50800" dist="38100" dir="2700000" algn="tl" rotWithShape="0">
                <a:prstClr val="black">
                  <a:alpha val="40000"/>
                </a:prstClr>
              </a:outerShdw>
            </a:effectLst>
          </p:spPr>
        </p:pic>
        <p:sp>
          <p:nvSpPr>
            <p:cNvPr id="22" name="文字方塊 21">
              <a:extLst>
                <a:ext uri="{FF2B5EF4-FFF2-40B4-BE49-F238E27FC236}">
                  <a16:creationId xmlns:a16="http://schemas.microsoft.com/office/drawing/2014/main" id="{9F96D4AE-620D-4F21-BD82-B9466A463BD3}"/>
                </a:ext>
              </a:extLst>
            </p:cNvPr>
            <p:cNvSpPr txBox="1"/>
            <p:nvPr/>
          </p:nvSpPr>
          <p:spPr>
            <a:xfrm>
              <a:off x="8317985" y="3470876"/>
              <a:ext cx="1287532" cy="369332"/>
            </a:xfrm>
            <a:prstGeom prst="rect">
              <a:avLst/>
            </a:prstGeom>
            <a:noFill/>
          </p:spPr>
          <p:txBody>
            <a:bodyPr wrap="none" rtlCol="0">
              <a:spAutoFit/>
            </a:bodyPr>
            <a:lstStyle/>
            <a:p>
              <a:r>
                <a:rPr lang="en-US" altLang="zh-TW" dirty="0"/>
                <a:t>(a) 3D</a:t>
              </a:r>
              <a:r>
                <a:rPr lang="zh-TW" altLang="en-US" dirty="0"/>
                <a:t>視圖</a:t>
              </a:r>
            </a:p>
          </p:txBody>
        </p:sp>
        <p:sp>
          <p:nvSpPr>
            <p:cNvPr id="23" name="文字方塊 22">
              <a:extLst>
                <a:ext uri="{FF2B5EF4-FFF2-40B4-BE49-F238E27FC236}">
                  <a16:creationId xmlns:a16="http://schemas.microsoft.com/office/drawing/2014/main" id="{60CF6D1F-95BA-4D48-9CFF-718F1D40E4CD}"/>
                </a:ext>
              </a:extLst>
            </p:cNvPr>
            <p:cNvSpPr txBox="1"/>
            <p:nvPr/>
          </p:nvSpPr>
          <p:spPr>
            <a:xfrm>
              <a:off x="6243609" y="5342068"/>
              <a:ext cx="2069797" cy="369332"/>
            </a:xfrm>
            <a:prstGeom prst="rect">
              <a:avLst/>
            </a:prstGeom>
            <a:noFill/>
          </p:spPr>
          <p:txBody>
            <a:bodyPr wrap="none" rtlCol="0">
              <a:spAutoFit/>
            </a:bodyPr>
            <a:lstStyle/>
            <a:p>
              <a:r>
                <a:rPr lang="en-US" altLang="zh-TW" dirty="0"/>
                <a:t>(b) </a:t>
              </a:r>
              <a:r>
                <a:rPr lang="zh-TW" altLang="en-US" dirty="0"/>
                <a:t>側視圖</a:t>
              </a:r>
              <a:r>
                <a:rPr lang="en-US" altLang="zh-TW" dirty="0"/>
                <a:t>(</a:t>
              </a:r>
              <a:r>
                <a:rPr lang="en-US" altLang="zh-TW" dirty="0" err="1"/>
                <a:t>xz</a:t>
              </a:r>
              <a:r>
                <a:rPr lang="zh-TW" altLang="en-US" dirty="0"/>
                <a:t>平面</a:t>
              </a:r>
              <a:r>
                <a:rPr lang="en-US" altLang="zh-TW" dirty="0"/>
                <a:t>)</a:t>
              </a:r>
              <a:endParaRPr lang="zh-TW" altLang="en-US" dirty="0"/>
            </a:p>
          </p:txBody>
        </p:sp>
        <p:sp>
          <p:nvSpPr>
            <p:cNvPr id="24" name="文字方塊 23">
              <a:extLst>
                <a:ext uri="{FF2B5EF4-FFF2-40B4-BE49-F238E27FC236}">
                  <a16:creationId xmlns:a16="http://schemas.microsoft.com/office/drawing/2014/main" id="{2B55DD1F-D908-474D-BE3E-C9F44F644C62}"/>
                </a:ext>
              </a:extLst>
            </p:cNvPr>
            <p:cNvSpPr txBox="1"/>
            <p:nvPr/>
          </p:nvSpPr>
          <p:spPr>
            <a:xfrm>
              <a:off x="9227567" y="5366326"/>
              <a:ext cx="2056973" cy="369332"/>
            </a:xfrm>
            <a:prstGeom prst="rect">
              <a:avLst/>
            </a:prstGeom>
            <a:noFill/>
          </p:spPr>
          <p:txBody>
            <a:bodyPr wrap="none" rtlCol="0">
              <a:spAutoFit/>
            </a:bodyPr>
            <a:lstStyle/>
            <a:p>
              <a:r>
                <a:rPr lang="en-US" altLang="zh-TW" dirty="0"/>
                <a:t>(c) </a:t>
              </a:r>
              <a:r>
                <a:rPr lang="zh-TW" altLang="en-US" dirty="0"/>
                <a:t>上視圖</a:t>
              </a:r>
              <a:r>
                <a:rPr lang="en-US" altLang="zh-TW" dirty="0"/>
                <a:t>(</a:t>
              </a:r>
              <a:r>
                <a:rPr lang="en-US" altLang="zh-TW" dirty="0" err="1"/>
                <a:t>xy</a:t>
              </a:r>
              <a:r>
                <a:rPr lang="zh-TW" altLang="en-US" dirty="0"/>
                <a:t>平面</a:t>
              </a:r>
              <a:r>
                <a:rPr lang="en-US" altLang="zh-TW" dirty="0"/>
                <a:t>)</a:t>
              </a:r>
              <a:endParaRPr lang="zh-TW" altLang="en-US" dirty="0"/>
            </a:p>
          </p:txBody>
        </p:sp>
      </p:grpSp>
    </p:spTree>
    <p:extLst>
      <p:ext uri="{BB962C8B-B14F-4D97-AF65-F5344CB8AC3E}">
        <p14:creationId xmlns:p14="http://schemas.microsoft.com/office/powerpoint/2010/main" val="1932780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39B72FBD-666A-495A-AFF9-3DA3C214622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94889" y="2863850"/>
            <a:ext cx="10545072" cy="3629025"/>
          </a:xfrm>
          <a:prstGeom prst="rect">
            <a:avLst/>
          </a:prstGeom>
        </p:spPr>
      </p:pic>
      <p:sp>
        <p:nvSpPr>
          <p:cNvPr id="5" name="箭號: 弧形上彎 4">
            <a:extLst>
              <a:ext uri="{FF2B5EF4-FFF2-40B4-BE49-F238E27FC236}">
                <a16:creationId xmlns:a16="http://schemas.microsoft.com/office/drawing/2014/main" id="{F35AA540-4C7C-4E2A-B890-16A9B58C145E}"/>
              </a:ext>
            </a:extLst>
          </p:cNvPr>
          <p:cNvSpPr/>
          <p:nvPr/>
        </p:nvSpPr>
        <p:spPr>
          <a:xfrm rot="10800000">
            <a:off x="7622005" y="3000625"/>
            <a:ext cx="1852862" cy="1048889"/>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2" name="標題 1">
            <a:extLst>
              <a:ext uri="{FF2B5EF4-FFF2-40B4-BE49-F238E27FC236}">
                <a16:creationId xmlns:a16="http://schemas.microsoft.com/office/drawing/2014/main" id="{7BBD9AE3-4C20-460C-AF9D-CA4083F32EEC}"/>
              </a:ext>
            </a:extLst>
          </p:cNvPr>
          <p:cNvSpPr>
            <a:spLocks noGrp="1"/>
          </p:cNvSpPr>
          <p:nvPr>
            <p:ph type="title"/>
          </p:nvPr>
        </p:nvSpPr>
        <p:spPr/>
        <p:txBody>
          <a:bodyPr/>
          <a:lstStyle/>
          <a:p>
            <a:r>
              <a:rPr lang="zh-TW" altLang="en-US" dirty="0"/>
              <a:t>計算流程</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13374005-03F6-4AE0-9C5E-22FFDEDB70DF}"/>
                  </a:ext>
                </a:extLst>
              </p:cNvPr>
              <p:cNvSpPr>
                <a:spLocks noGrp="1"/>
              </p:cNvSpPr>
              <p:nvPr>
                <p:ph idx="1"/>
              </p:nvPr>
            </p:nvSpPr>
            <p:spPr>
              <a:xfrm>
                <a:off x="838200" y="1649256"/>
                <a:ext cx="10515600" cy="4351338"/>
              </a:xfrm>
            </p:spPr>
            <p:txBody>
              <a:bodyPr>
                <a:normAutofit/>
              </a:bodyPr>
              <a:lstStyle/>
              <a:p>
                <a:pPr marL="0" indent="0">
                  <a:buNone/>
                </a:pPr>
                <a:r>
                  <a:rPr lang="zh-TW" altLang="en-US" sz="2000" dirty="0"/>
                  <a:t>目標是使線材尖端與插件孔面的法向量對齊，旋轉方法如圖所示</a:t>
                </a:r>
                <a:r>
                  <a:rPr lang="en-US" altLang="zh-TW" sz="2000" dirty="0"/>
                  <a:t>:</a:t>
                </a:r>
              </a:p>
              <a:p>
                <a:pPr marL="0" indent="0">
                  <a:buNone/>
                </a:pPr>
                <a:r>
                  <a:rPr lang="zh-TW" altLang="en-US" sz="2000" dirty="0"/>
                  <a:t>為了抵銷一個平面上的角度分量，分別對</a:t>
                </a:r>
                <a14:m>
                  <m:oMath xmlns:m="http://schemas.openxmlformats.org/officeDocument/2006/math">
                    <m:acc>
                      <m:accPr>
                        <m:chr m:val="⃑"/>
                        <m:ctrlPr>
                          <a:rPr lang="zh-TW" altLang="en-US" sz="2000" i="1" smtClean="0">
                            <a:latin typeface="Cambria Math" panose="02040503050406030204" pitchFamily="18" charset="0"/>
                          </a:rPr>
                        </m:ctrlPr>
                      </m:accPr>
                      <m:e>
                        <m:r>
                          <m:rPr>
                            <m:sty m:val="p"/>
                          </m:rPr>
                          <a:rPr lang="en-US" altLang="zh-TW" sz="2000" i="0" smtClean="0">
                            <a:latin typeface="Cambria Math" panose="02040503050406030204" pitchFamily="18" charset="0"/>
                          </a:rPr>
                          <m:t>A</m:t>
                        </m:r>
                        <m:r>
                          <m:rPr>
                            <m:sty m:val="p"/>
                          </m:rPr>
                          <a:rPr lang="en-US" altLang="zh-TW" sz="2000" b="0" i="0" smtClean="0">
                            <a:latin typeface="Cambria Math" panose="02040503050406030204" pitchFamily="18" charset="0"/>
                          </a:rPr>
                          <m:t>B</m:t>
                        </m:r>
                      </m:e>
                    </m:acc>
                    <m:r>
                      <a:rPr lang="zh-TW" altLang="en-US" sz="2000" i="1">
                        <a:latin typeface="Cambria Math" panose="02040503050406030204" pitchFamily="18" charset="0"/>
                      </a:rPr>
                      <m:t>與</m:t>
                    </m:r>
                    <m:acc>
                      <m:accPr>
                        <m:chr m:val="⃑"/>
                        <m:ctrlPr>
                          <a:rPr lang="zh-TW" altLang="en-US" sz="2000" i="1" smtClean="0">
                            <a:latin typeface="Cambria Math" panose="02040503050406030204" pitchFamily="18" charset="0"/>
                          </a:rPr>
                        </m:ctrlPr>
                      </m:accPr>
                      <m:e>
                        <m:r>
                          <m:rPr>
                            <m:sty m:val="p"/>
                          </m:rPr>
                          <a:rPr lang="en-US" altLang="zh-TW" sz="2000" b="0" i="0" smtClean="0">
                            <a:latin typeface="Cambria Math" panose="02040503050406030204" pitchFamily="18" charset="0"/>
                          </a:rPr>
                          <m:t>BC</m:t>
                        </m:r>
                      </m:e>
                    </m:acc>
                    <m:r>
                      <a:rPr lang="zh-TW" altLang="en-US" sz="2000" i="1">
                        <a:latin typeface="Cambria Math" panose="02040503050406030204" pitchFamily="18" charset="0"/>
                      </a:rPr>
                      <m:t>施加</m:t>
                    </m:r>
                  </m:oMath>
                </a14:m>
                <a:r>
                  <a:rPr lang="zh-TW" altLang="en-US" sz="2000" dirty="0"/>
                  <a:t>相反的旋轉方向，因此兩向量一方對右手定則正轉另一方對右手定則反轉。</a:t>
                </a:r>
                <a:endParaRPr lang="en-US" altLang="zh-TW" sz="2000" dirty="0"/>
              </a:p>
            </p:txBody>
          </p:sp>
        </mc:Choice>
        <mc:Fallback xmlns="">
          <p:sp>
            <p:nvSpPr>
              <p:cNvPr id="3" name="內容版面配置區 2">
                <a:extLst>
                  <a:ext uri="{FF2B5EF4-FFF2-40B4-BE49-F238E27FC236}">
                    <a16:creationId xmlns:a16="http://schemas.microsoft.com/office/drawing/2014/main" id="{13374005-03F6-4AE0-9C5E-22FFDEDB70DF}"/>
                  </a:ext>
                </a:extLst>
              </p:cNvPr>
              <p:cNvSpPr>
                <a:spLocks noGrp="1" noRot="1" noChangeAspect="1" noMove="1" noResize="1" noEditPoints="1" noAdjustHandles="1" noChangeArrowheads="1" noChangeShapeType="1" noTextEdit="1"/>
              </p:cNvSpPr>
              <p:nvPr>
                <p:ph idx="1"/>
              </p:nvPr>
            </p:nvSpPr>
            <p:spPr>
              <a:xfrm>
                <a:off x="838200" y="1649256"/>
                <a:ext cx="10515600" cy="4351338"/>
              </a:xfrm>
              <a:blipFill>
                <a:blip r:embed="rId4"/>
                <a:stretch>
                  <a:fillRect l="-638" t="-1543" r="-116"/>
                </a:stretch>
              </a:blipFill>
            </p:spPr>
            <p:txBody>
              <a:bodyPr/>
              <a:lstStyle/>
              <a:p>
                <a:r>
                  <a:rPr lang="zh-TW" altLang="en-US">
                    <a:noFill/>
                  </a:rPr>
                  <a:t> </a:t>
                </a:r>
              </a:p>
            </p:txBody>
          </p:sp>
        </mc:Fallback>
      </mc:AlternateContent>
      <p:sp>
        <p:nvSpPr>
          <p:cNvPr id="9" name="文字方塊 8">
            <a:extLst>
              <a:ext uri="{FF2B5EF4-FFF2-40B4-BE49-F238E27FC236}">
                <a16:creationId xmlns:a16="http://schemas.microsoft.com/office/drawing/2014/main" id="{50028055-69CB-4194-8A64-C672042FD47D}"/>
              </a:ext>
            </a:extLst>
          </p:cNvPr>
          <p:cNvSpPr txBox="1"/>
          <p:nvPr/>
        </p:nvSpPr>
        <p:spPr>
          <a:xfrm>
            <a:off x="781050" y="2905282"/>
            <a:ext cx="2646878" cy="369332"/>
          </a:xfrm>
          <a:prstGeom prst="rect">
            <a:avLst/>
          </a:prstGeom>
          <a:noFill/>
        </p:spPr>
        <p:txBody>
          <a:bodyPr wrap="none" rtlCol="0">
            <a:spAutoFit/>
          </a:bodyPr>
          <a:lstStyle/>
          <a:p>
            <a:r>
              <a:rPr lang="zh-TW" altLang="en-US" dirty="0"/>
              <a:t>向量旋轉上視圖</a:t>
            </a:r>
            <a:r>
              <a:rPr lang="en-US" altLang="zh-TW" dirty="0"/>
              <a:t>(</a:t>
            </a:r>
            <a:r>
              <a:rPr lang="en-US" altLang="zh-TW" dirty="0" err="1">
                <a:solidFill>
                  <a:srgbClr val="FF0000"/>
                </a:solidFill>
              </a:rPr>
              <a:t>xy</a:t>
            </a:r>
            <a:r>
              <a:rPr lang="zh-TW" altLang="en-US" dirty="0">
                <a:solidFill>
                  <a:srgbClr val="FF0000"/>
                </a:solidFill>
              </a:rPr>
              <a:t>平面</a:t>
            </a:r>
            <a:r>
              <a:rPr lang="en-US" altLang="zh-TW" dirty="0"/>
              <a:t>)</a:t>
            </a:r>
            <a:endParaRPr lang="zh-TW" altLang="en-US" dirty="0"/>
          </a:p>
        </p:txBody>
      </p:sp>
      <p:sp>
        <p:nvSpPr>
          <p:cNvPr id="8" name="投影片編號版面配置區 7">
            <a:extLst>
              <a:ext uri="{FF2B5EF4-FFF2-40B4-BE49-F238E27FC236}">
                <a16:creationId xmlns:a16="http://schemas.microsoft.com/office/drawing/2014/main" id="{669E21E2-9C5F-492E-A0A8-6C2F4B18FACB}"/>
              </a:ext>
            </a:extLst>
          </p:cNvPr>
          <p:cNvSpPr>
            <a:spLocks noGrp="1"/>
          </p:cNvSpPr>
          <p:nvPr>
            <p:ph type="sldNum" sz="quarter" idx="12"/>
          </p:nvPr>
        </p:nvSpPr>
        <p:spPr/>
        <p:txBody>
          <a:bodyPr/>
          <a:lstStyle/>
          <a:p>
            <a:fld id="{12DE3F29-1F68-43B4-BFC6-B027CAE8215F}" type="slidenum">
              <a:rPr lang="zh-TW" altLang="en-US" smtClean="0"/>
              <a:t>13</a:t>
            </a:fld>
            <a:endParaRPr lang="zh-TW" altLang="en-US"/>
          </a:p>
        </p:txBody>
      </p:sp>
      <p:pic>
        <p:nvPicPr>
          <p:cNvPr id="10" name="圖片 9">
            <a:extLst>
              <a:ext uri="{FF2B5EF4-FFF2-40B4-BE49-F238E27FC236}">
                <a16:creationId xmlns:a16="http://schemas.microsoft.com/office/drawing/2014/main" id="{D62BF223-D210-4F28-880E-E9D0FE8CA0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759724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群組 4">
            <a:extLst>
              <a:ext uri="{FF2B5EF4-FFF2-40B4-BE49-F238E27FC236}">
                <a16:creationId xmlns:a16="http://schemas.microsoft.com/office/drawing/2014/main" id="{7B4D81A4-1137-4999-B193-54EDDFBB6C64}"/>
              </a:ext>
            </a:extLst>
          </p:cNvPr>
          <p:cNvGrpSpPr/>
          <p:nvPr/>
        </p:nvGrpSpPr>
        <p:grpSpPr>
          <a:xfrm>
            <a:off x="5049081" y="109916"/>
            <a:ext cx="6683571" cy="2300112"/>
            <a:chOff x="5049081" y="109916"/>
            <a:chExt cx="6683571" cy="2300112"/>
          </a:xfrm>
        </p:grpSpPr>
        <p:pic>
          <p:nvPicPr>
            <p:cNvPr id="19" name="圖片 18">
              <a:extLst>
                <a:ext uri="{FF2B5EF4-FFF2-40B4-BE49-F238E27FC236}">
                  <a16:creationId xmlns:a16="http://schemas.microsoft.com/office/drawing/2014/main" id="{33CFF55B-75CC-4720-8258-6C3B854CAC0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9081" y="109916"/>
              <a:ext cx="6683571" cy="2300112"/>
            </a:xfrm>
            <a:prstGeom prst="rect">
              <a:avLst/>
            </a:prstGeom>
          </p:spPr>
        </p:pic>
        <p:sp>
          <p:nvSpPr>
            <p:cNvPr id="4" name="箭號: 弧形上彎 3">
              <a:extLst>
                <a:ext uri="{FF2B5EF4-FFF2-40B4-BE49-F238E27FC236}">
                  <a16:creationId xmlns:a16="http://schemas.microsoft.com/office/drawing/2014/main" id="{B353F8A4-6DEB-4C6D-8C51-FA59CE8B3806}"/>
                </a:ext>
              </a:extLst>
            </p:cNvPr>
            <p:cNvSpPr/>
            <p:nvPr/>
          </p:nvSpPr>
          <p:spPr>
            <a:xfrm rot="10800000">
              <a:off x="9318458" y="203378"/>
              <a:ext cx="1323474" cy="55493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
        <p:nvSpPr>
          <p:cNvPr id="2" name="標題 1">
            <a:extLst>
              <a:ext uri="{FF2B5EF4-FFF2-40B4-BE49-F238E27FC236}">
                <a16:creationId xmlns:a16="http://schemas.microsoft.com/office/drawing/2014/main" id="{C41518D7-B750-4AD1-8F18-88839E83DE2F}"/>
              </a:ext>
            </a:extLst>
          </p:cNvPr>
          <p:cNvSpPr>
            <a:spLocks noGrp="1"/>
          </p:cNvSpPr>
          <p:nvPr>
            <p:ph type="title"/>
          </p:nvPr>
        </p:nvSpPr>
        <p:spPr/>
        <p:txBody>
          <a:bodyPr/>
          <a:lstStyle/>
          <a:p>
            <a:r>
              <a:rPr lang="zh-TW" altLang="en-US" dirty="0"/>
              <a:t>計算流程</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0DE09696-223D-4703-9826-4F69B9BC5F11}"/>
                  </a:ext>
                </a:extLst>
              </p:cNvPr>
              <p:cNvSpPr>
                <a:spLocks noGrp="1"/>
              </p:cNvSpPr>
              <p:nvPr>
                <p:ph idx="1"/>
              </p:nvPr>
            </p:nvSpPr>
            <p:spPr>
              <a:xfrm>
                <a:off x="642017" y="2267514"/>
                <a:ext cx="10515600" cy="4351338"/>
              </a:xfrm>
            </p:spPr>
            <p:txBody>
              <a:bodyPr>
                <a:normAutofit/>
              </a:bodyPr>
              <a:lstStyle/>
              <a:p>
                <a:pPr marL="0" indent="0">
                  <a:buNone/>
                </a:pPr>
                <a:r>
                  <a:rPr lang="zh-TW" altLang="en-US" sz="2600" dirty="0"/>
                  <a:t>第一次旋轉</a:t>
                </a:r>
                <a:r>
                  <a:rPr lang="en-US" altLang="zh-TW" sz="2600" dirty="0"/>
                  <a:t>:</a:t>
                </a:r>
              </a:p>
              <a:p>
                <a:pPr marL="0" indent="0">
                  <a:buNone/>
                </a:pPr>
                <a:r>
                  <a:rPr lang="zh-TW" altLang="en-US" sz="2600" dirty="0"/>
                  <a:t>對</a:t>
                </a:r>
                <a14:m>
                  <m:oMath xmlns:m="http://schemas.openxmlformats.org/officeDocument/2006/math">
                    <m:acc>
                      <m:accPr>
                        <m:chr m:val="⃑"/>
                        <m:ctrlPr>
                          <a:rPr lang="zh-TW" altLang="en-US" sz="2600" i="1" smtClean="0">
                            <a:latin typeface="Cambria Math" panose="02040503050406030204" pitchFamily="18" charset="0"/>
                          </a:rPr>
                        </m:ctrlPr>
                      </m:accPr>
                      <m:e>
                        <m:r>
                          <m:rPr>
                            <m:sty m:val="p"/>
                          </m:rPr>
                          <a:rPr lang="en-US" altLang="zh-TW" sz="2600" b="0" i="0" smtClean="0">
                            <a:latin typeface="Cambria Math" panose="02040503050406030204" pitchFamily="18" charset="0"/>
                          </a:rPr>
                          <m:t>BC</m:t>
                        </m:r>
                      </m:e>
                    </m:acc>
                  </m:oMath>
                </a14:m>
                <a:r>
                  <a:rPr lang="zh-TW" altLang="en-US" sz="2600" dirty="0"/>
                  <a:t>以</a:t>
                </a:r>
                <a:r>
                  <a:rPr lang="en-US" altLang="zh-TW" sz="2600" dirty="0"/>
                  <a:t>z</a:t>
                </a:r>
                <a:r>
                  <a:rPr lang="zh-TW" altLang="en-US" sz="2600" dirty="0"/>
                  <a:t>軸旋轉</a:t>
                </a:r>
                <a:r>
                  <a:rPr lang="en-US" altLang="zh-TW" sz="2600" dirty="0"/>
                  <a:t>-s</a:t>
                </a:r>
                <a:r>
                  <a:rPr lang="zh-TW" altLang="en-US" sz="2600" dirty="0"/>
                  <a:t>角度</a:t>
                </a:r>
                <a:r>
                  <a:rPr lang="en-US" altLang="zh-TW" sz="2600" dirty="0"/>
                  <a:t>(</a:t>
                </a:r>
                <a:r>
                  <a:rPr lang="zh-TW" altLang="en-US" sz="2600" dirty="0"/>
                  <a:t>以右手定則表示轉</a:t>
                </a:r>
                <a:r>
                  <a:rPr lang="en-US" altLang="zh-TW" sz="2600" dirty="0"/>
                  <a:t>-</a:t>
                </a:r>
                <a:r>
                  <a:rPr lang="zh-TW" altLang="en-US" sz="2600" dirty="0"/>
                  <a:t>角度</a:t>
                </a:r>
                <a:r>
                  <a:rPr lang="en-US" altLang="zh-TW" sz="2600" dirty="0"/>
                  <a:t>)</a:t>
                </a:r>
              </a:p>
              <a:p>
                <a:pPr marL="0" indent="0">
                  <a:buNone/>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𝑅</m:t>
                          </m:r>
                        </m:e>
                        <m:sub>
                          <m:r>
                            <a:rPr lang="en-US" altLang="zh-TW" sz="2400" b="0" i="1" smtClean="0">
                              <a:latin typeface="Cambria Math" panose="02040503050406030204" pitchFamily="18" charset="0"/>
                            </a:rPr>
                            <m:t>𝑧</m:t>
                          </m:r>
                        </m:sub>
                      </m:sSub>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𝑠</m:t>
                          </m:r>
                        </m:e>
                      </m:d>
                      <m:r>
                        <a:rPr lang="en-US" altLang="zh-TW" sz="2400" b="0" i="1" smtClean="0">
                          <a:latin typeface="Cambria Math" panose="02040503050406030204" pitchFamily="18" charset="0"/>
                        </a:rPr>
                        <m:t>∗</m:t>
                      </m:r>
                      <m:acc>
                        <m:accPr>
                          <m:chr m:val="⃑"/>
                          <m:ctrlPr>
                            <a:rPr lang="en-US" altLang="zh-TW" sz="2400" i="1">
                              <a:latin typeface="Cambria Math" panose="02040503050406030204" pitchFamily="18" charset="0"/>
                            </a:rPr>
                          </m:ctrlPr>
                        </m:accPr>
                        <m:e>
                          <m:r>
                            <m:rPr>
                              <m:sty m:val="p"/>
                            </m:rPr>
                            <a:rPr lang="en-US" altLang="zh-TW" sz="2400" b="0" i="0" smtClean="0">
                              <a:latin typeface="Cambria Math" panose="02040503050406030204" pitchFamily="18" charset="0"/>
                            </a:rPr>
                            <m:t>BC</m:t>
                          </m:r>
                        </m:e>
                      </m:acc>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m>
                            <m:mPr>
                              <m:mcs>
                                <m:mc>
                                  <m:mcPr>
                                    <m:count m:val="3"/>
                                    <m:mcJc m:val="center"/>
                                  </m:mcPr>
                                </m:mc>
                              </m:mcs>
                              <m:ctrlPr>
                                <a:rPr lang="en-US" altLang="zh-TW" sz="2400" i="1">
                                  <a:latin typeface="Cambria Math" panose="02040503050406030204" pitchFamily="18" charset="0"/>
                                </a:rPr>
                              </m:ctrlPr>
                            </m:mPr>
                            <m:mr>
                              <m:e>
                                <m:func>
                                  <m:funcPr>
                                    <m:ctrlPr>
                                      <a:rPr lang="en-US" altLang="zh-TW" sz="2400" i="1">
                                        <a:latin typeface="Cambria Math" panose="02040503050406030204" pitchFamily="18" charset="0"/>
                                      </a:rPr>
                                    </m:ctrlPr>
                                  </m:funcPr>
                                  <m:fName>
                                    <m:r>
                                      <m:rPr>
                                        <m:sty m:val="p"/>
                                        <m:brk m:alnAt="7"/>
                                      </m:rPr>
                                      <a:rPr lang="en-US" altLang="zh-TW" sz="2400">
                                        <a:latin typeface="Cambria Math" panose="02040503050406030204" pitchFamily="18" charset="0"/>
                                      </a:rPr>
                                      <m:t>c</m:t>
                                    </m:r>
                                    <m:r>
                                      <m:rPr>
                                        <m:sty m:val="p"/>
                                      </m:rPr>
                                      <a:rPr lang="en-US" altLang="zh-TW" sz="2400">
                                        <a:latin typeface="Cambria Math" panose="02040503050406030204" pitchFamily="18" charset="0"/>
                                      </a:rPr>
                                      <m:t>os</m:t>
                                    </m:r>
                                  </m:fName>
                                  <m:e>
                                    <m:r>
                                      <a:rPr lang="en-US" altLang="zh-TW" sz="2400" i="1">
                                        <a:latin typeface="Cambria Math" panose="02040503050406030204" pitchFamily="18" charset="0"/>
                                      </a:rPr>
                                      <m:t>−</m:t>
                                    </m:r>
                                    <m:r>
                                      <a:rPr lang="en-US" altLang="zh-TW" sz="2400" i="1">
                                        <a:latin typeface="Cambria Math" panose="02040503050406030204" pitchFamily="18" charset="0"/>
                                      </a:rPr>
                                      <m:t>𝑠</m:t>
                                    </m:r>
                                  </m:e>
                                </m:func>
                              </m:e>
                              <m:e>
                                <m:r>
                                  <a:rPr lang="en-US" altLang="zh-TW" sz="2400" i="1">
                                    <a:latin typeface="Cambria Math" panose="02040503050406030204" pitchFamily="18" charset="0"/>
                                  </a:rPr>
                                  <m:t>−</m:t>
                                </m:r>
                                <m:func>
                                  <m:funcPr>
                                    <m:ctrlPr>
                                      <a:rPr lang="en-US" altLang="zh-TW" sz="2400" i="1">
                                        <a:latin typeface="Cambria Math" panose="02040503050406030204" pitchFamily="18" charset="0"/>
                                      </a:rPr>
                                    </m:ctrlPr>
                                  </m:funcPr>
                                  <m:fName>
                                    <m:r>
                                      <m:rPr>
                                        <m:sty m:val="p"/>
                                      </m:rPr>
                                      <a:rPr lang="en-US" altLang="zh-TW" sz="2400">
                                        <a:latin typeface="Cambria Math" panose="02040503050406030204" pitchFamily="18" charset="0"/>
                                      </a:rPr>
                                      <m:t>sin</m:t>
                                    </m:r>
                                  </m:fName>
                                  <m:e>
                                    <m:r>
                                      <a:rPr lang="en-US" altLang="zh-TW" sz="2400" i="1">
                                        <a:latin typeface="Cambria Math" panose="02040503050406030204" pitchFamily="18" charset="0"/>
                                      </a:rPr>
                                      <m:t>−</m:t>
                                    </m:r>
                                    <m:r>
                                      <a:rPr lang="en-US" altLang="zh-TW" sz="2400" i="1">
                                        <a:latin typeface="Cambria Math" panose="02040503050406030204" pitchFamily="18" charset="0"/>
                                      </a:rPr>
                                      <m:t>𝑠</m:t>
                                    </m:r>
                                  </m:e>
                                </m:func>
                              </m:e>
                              <m:e>
                                <m:r>
                                  <a:rPr lang="en-US" altLang="zh-TW" sz="2400" i="1">
                                    <a:latin typeface="Cambria Math" panose="02040503050406030204" pitchFamily="18" charset="0"/>
                                  </a:rPr>
                                  <m:t>0</m:t>
                                </m:r>
                              </m:e>
                            </m:mr>
                            <m:mr>
                              <m:e>
                                <m:func>
                                  <m:funcPr>
                                    <m:ctrlPr>
                                      <a:rPr lang="en-US" altLang="zh-TW" sz="2400" i="1">
                                        <a:latin typeface="Cambria Math" panose="02040503050406030204" pitchFamily="18" charset="0"/>
                                      </a:rPr>
                                    </m:ctrlPr>
                                  </m:funcPr>
                                  <m:fName>
                                    <m:r>
                                      <m:rPr>
                                        <m:sty m:val="p"/>
                                      </m:rPr>
                                      <a:rPr lang="en-US" altLang="zh-TW" sz="2400">
                                        <a:latin typeface="Cambria Math" panose="02040503050406030204" pitchFamily="18" charset="0"/>
                                      </a:rPr>
                                      <m:t>sin</m:t>
                                    </m:r>
                                  </m:fName>
                                  <m:e>
                                    <m:r>
                                      <a:rPr lang="en-US" altLang="zh-TW" sz="2400" i="1">
                                        <a:latin typeface="Cambria Math" panose="02040503050406030204" pitchFamily="18" charset="0"/>
                                      </a:rPr>
                                      <m:t>−</m:t>
                                    </m:r>
                                    <m:r>
                                      <a:rPr lang="en-US" altLang="zh-TW" sz="2400" i="1">
                                        <a:latin typeface="Cambria Math" panose="02040503050406030204" pitchFamily="18" charset="0"/>
                                      </a:rPr>
                                      <m:t>𝑠</m:t>
                                    </m:r>
                                  </m:e>
                                </m:func>
                              </m:e>
                              <m:e>
                                <m:func>
                                  <m:funcPr>
                                    <m:ctrlPr>
                                      <a:rPr lang="en-US" altLang="zh-TW" sz="2400" i="1">
                                        <a:latin typeface="Cambria Math" panose="02040503050406030204" pitchFamily="18" charset="0"/>
                                      </a:rPr>
                                    </m:ctrlPr>
                                  </m:funcPr>
                                  <m:fName>
                                    <m:r>
                                      <m:rPr>
                                        <m:sty m:val="p"/>
                                      </m:rPr>
                                      <a:rPr lang="en-US" altLang="zh-TW" sz="2400">
                                        <a:latin typeface="Cambria Math" panose="02040503050406030204" pitchFamily="18" charset="0"/>
                                      </a:rPr>
                                      <m:t>cos</m:t>
                                    </m:r>
                                  </m:fName>
                                  <m:e>
                                    <m:r>
                                      <a:rPr lang="en-US" altLang="zh-TW" sz="2400" i="1">
                                        <a:latin typeface="Cambria Math" panose="02040503050406030204" pitchFamily="18" charset="0"/>
                                      </a:rPr>
                                      <m:t>−</m:t>
                                    </m:r>
                                    <m:r>
                                      <a:rPr lang="en-US" altLang="zh-TW" sz="2400" i="1">
                                        <a:latin typeface="Cambria Math" panose="02040503050406030204" pitchFamily="18" charset="0"/>
                                      </a:rPr>
                                      <m:t>𝑠</m:t>
                                    </m:r>
                                  </m:e>
                                </m:func>
                              </m:e>
                              <m:e>
                                <m:r>
                                  <a:rPr lang="en-US" altLang="zh-TW" sz="2400" i="1">
                                    <a:latin typeface="Cambria Math" panose="02040503050406030204" pitchFamily="18" charset="0"/>
                                  </a:rPr>
                                  <m:t>0</m:t>
                                </m:r>
                              </m:e>
                            </m:mr>
                            <m:mr>
                              <m:e>
                                <m:r>
                                  <a:rPr lang="en-US" altLang="zh-TW" sz="2400" i="1">
                                    <a:latin typeface="Cambria Math" panose="02040503050406030204" pitchFamily="18" charset="0"/>
                                  </a:rPr>
                                  <m:t>0</m:t>
                                </m:r>
                              </m:e>
                              <m:e>
                                <m:r>
                                  <a:rPr lang="en-US" altLang="zh-TW" sz="2400" i="1">
                                    <a:latin typeface="Cambria Math" panose="02040503050406030204" pitchFamily="18" charset="0"/>
                                  </a:rPr>
                                  <m:t>0</m:t>
                                </m:r>
                              </m:e>
                              <m:e>
                                <m:r>
                                  <a:rPr lang="en-US" altLang="zh-TW" sz="2400" i="1">
                                    <a:latin typeface="Cambria Math" panose="02040503050406030204" pitchFamily="18" charset="0"/>
                                  </a:rPr>
                                  <m:t>1</m:t>
                                </m:r>
                              </m:e>
                            </m:mr>
                          </m:m>
                        </m:e>
                      </m:d>
                      <m:d>
                        <m:dPr>
                          <m:begChr m:val="["/>
                          <m:endChr m:val="]"/>
                          <m:ctrlPr>
                            <a:rPr lang="en-US" altLang="zh-TW" sz="2400" b="0" i="1" smtClean="0">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r>
                                  <m:rPr>
                                    <m:nor/>
                                  </m:rPr>
                                  <a:rPr lang="zh-TW" altLang="en-US" sz="2400" dirty="0"/>
                                  <m:t>𝛾</m:t>
                                </m:r>
                                <m:r>
                                  <m:rPr>
                                    <m:nor/>
                                  </m:rPr>
                                  <a:rPr lang="zh-TW" altLang="en-US" sz="2400" dirty="0"/>
                                  <m:t> </m:t>
                                </m:r>
                                <m:r>
                                  <m:rPr>
                                    <m:nor/>
                                  </m:rPr>
                                  <a:rPr lang="en-GB" altLang="zh-TW" sz="2400" dirty="0"/>
                                  <m:t>cos</m:t>
                                </m:r>
                                <m:r>
                                  <m:rPr>
                                    <m:nor/>
                                  </m:rPr>
                                  <a:rPr lang="en-GB" altLang="zh-TW" sz="2400" dirty="0"/>
                                  <m:t>(</m:t>
                                </m:r>
                                <m:r>
                                  <m:rPr>
                                    <m:nor/>
                                  </m:rPr>
                                  <a:rPr lang="zh-TW" altLang="en-GB" sz="2400" dirty="0"/>
                                  <m:t>𝛼</m:t>
                                </m:r>
                                <m:r>
                                  <m:rPr>
                                    <m:nor/>
                                  </m:rPr>
                                  <a:rPr lang="en-GB" altLang="zh-TW" sz="2400" dirty="0"/>
                                  <m:t>°) </m:t>
                                </m:r>
                                <m:r>
                                  <m:rPr>
                                    <m:nor/>
                                  </m:rPr>
                                  <a:rPr lang="en-GB" altLang="zh-TW" sz="2400" dirty="0"/>
                                  <m:t>cos</m:t>
                                </m:r>
                                <m:r>
                                  <m:rPr>
                                    <m:nor/>
                                  </m:rPr>
                                  <a:rPr lang="en-GB" altLang="zh-TW" sz="2400" dirty="0"/>
                                  <m:t>(</m:t>
                                </m:r>
                                <m:r>
                                  <m:rPr>
                                    <m:nor/>
                                  </m:rPr>
                                  <a:rPr lang="zh-TW" altLang="en-GB" sz="2400" dirty="0"/>
                                  <m:t>𝛽</m:t>
                                </m:r>
                                <m:r>
                                  <m:rPr>
                                    <m:nor/>
                                  </m:rPr>
                                  <a:rPr lang="en-GB" altLang="zh-TW" sz="2400" dirty="0"/>
                                  <m:t>°)</m:t>
                                </m:r>
                              </m:e>
                            </m:mr>
                            <m:mr>
                              <m:e>
                                <m:r>
                                  <m:rPr>
                                    <m:nor/>
                                  </m:rPr>
                                  <a:rPr lang="zh-TW" altLang="en-GB" sz="2400" dirty="0"/>
                                  <m:t>𝛾</m:t>
                                </m:r>
                                <m:r>
                                  <m:rPr>
                                    <m:nor/>
                                  </m:rPr>
                                  <a:rPr lang="zh-TW" altLang="en-GB" sz="2400" dirty="0"/>
                                  <m:t> </m:t>
                                </m:r>
                                <m:r>
                                  <m:rPr>
                                    <m:nor/>
                                  </m:rPr>
                                  <a:rPr lang="en-GB" altLang="zh-TW" sz="2400" dirty="0"/>
                                  <m:t>cos</m:t>
                                </m:r>
                                <m:r>
                                  <m:rPr>
                                    <m:nor/>
                                  </m:rPr>
                                  <a:rPr lang="en-GB" altLang="zh-TW" sz="2400" dirty="0"/>
                                  <m:t>(</m:t>
                                </m:r>
                                <m:r>
                                  <m:rPr>
                                    <m:nor/>
                                  </m:rPr>
                                  <a:rPr lang="zh-TW" altLang="en-GB" sz="2400" dirty="0"/>
                                  <m:t>𝛼</m:t>
                                </m:r>
                                <m:r>
                                  <m:rPr>
                                    <m:nor/>
                                  </m:rPr>
                                  <a:rPr lang="en-GB" altLang="zh-TW" sz="2400" dirty="0"/>
                                  <m:t>°) </m:t>
                                </m:r>
                                <m:r>
                                  <m:rPr>
                                    <m:nor/>
                                  </m:rPr>
                                  <a:rPr lang="en-GB" altLang="zh-TW" sz="2400" dirty="0"/>
                                  <m:t>sin</m:t>
                                </m:r>
                                <m:r>
                                  <m:rPr>
                                    <m:nor/>
                                  </m:rPr>
                                  <a:rPr lang="en-GB" altLang="zh-TW" sz="2400" dirty="0"/>
                                  <m:t>(</m:t>
                                </m:r>
                                <m:r>
                                  <m:rPr>
                                    <m:nor/>
                                  </m:rPr>
                                  <a:rPr lang="zh-TW" altLang="en-GB" sz="2400" dirty="0"/>
                                  <m:t>𝛽</m:t>
                                </m:r>
                                <m:r>
                                  <m:rPr>
                                    <m:nor/>
                                  </m:rPr>
                                  <a:rPr lang="en-GB" altLang="zh-TW" sz="2400" dirty="0"/>
                                  <m:t>°)</m:t>
                                </m:r>
                              </m:e>
                            </m:mr>
                            <m:mr>
                              <m:e>
                                <m:r>
                                  <m:rPr>
                                    <m:nor/>
                                  </m:rPr>
                                  <a:rPr lang="zh-TW" altLang="en-GB" sz="2400" dirty="0"/>
                                  <m:t>𝛾</m:t>
                                </m:r>
                                <m:r>
                                  <m:rPr>
                                    <m:nor/>
                                  </m:rPr>
                                  <a:rPr lang="zh-TW" altLang="en-GB" sz="2400" dirty="0"/>
                                  <m:t> </m:t>
                                </m:r>
                                <m:r>
                                  <m:rPr>
                                    <m:nor/>
                                  </m:rPr>
                                  <a:rPr lang="en-GB" altLang="zh-TW" sz="2400" dirty="0"/>
                                  <m:t>sin</m:t>
                                </m:r>
                                <m:r>
                                  <m:rPr>
                                    <m:nor/>
                                  </m:rPr>
                                  <a:rPr lang="en-GB" altLang="zh-TW" sz="2400" dirty="0"/>
                                  <m:t>(</m:t>
                                </m:r>
                                <m:r>
                                  <m:rPr>
                                    <m:nor/>
                                  </m:rPr>
                                  <a:rPr lang="zh-TW" altLang="en-GB" sz="2400" dirty="0"/>
                                  <m:t>𝛼</m:t>
                                </m:r>
                                <m:r>
                                  <m:rPr>
                                    <m:nor/>
                                  </m:rPr>
                                  <a:rPr lang="en-GB" altLang="zh-TW" sz="2400" dirty="0"/>
                                  <m:t>°)</m:t>
                                </m:r>
                              </m:e>
                            </m:mr>
                          </m:m>
                        </m:e>
                      </m:d>
                      <m:r>
                        <a:rPr lang="en-US" altLang="zh-TW" i="1">
                          <a:latin typeface="Cambria Math" panose="02040503050406030204" pitchFamily="18" charset="0"/>
                        </a:rPr>
                        <m:t>=</m:t>
                      </m:r>
                      <m:acc>
                        <m:accPr>
                          <m:chr m:val="⃑"/>
                          <m:ctrlPr>
                            <a:rPr lang="en-US" altLang="zh-TW" sz="2400" i="1">
                              <a:latin typeface="Cambria Math" panose="02040503050406030204" pitchFamily="18" charset="0"/>
                            </a:rPr>
                          </m:ctrlPr>
                        </m:accPr>
                        <m:e>
                          <m:r>
                            <m:rPr>
                              <m:sty m:val="p"/>
                            </m:rPr>
                            <a:rPr lang="en-US" altLang="zh-TW" sz="2400">
                              <a:latin typeface="Cambria Math" panose="02040503050406030204" pitchFamily="18" charset="0"/>
                            </a:rPr>
                            <m:t>BC</m:t>
                          </m:r>
                          <m:r>
                            <a:rPr lang="en-US" altLang="zh-TW" sz="2400">
                              <a:latin typeface="Cambria Math" panose="02040503050406030204" pitchFamily="18" charset="0"/>
                            </a:rPr>
                            <m:t>′</m:t>
                          </m:r>
                        </m:e>
                      </m:acc>
                    </m:oMath>
                  </m:oMathPara>
                </a14:m>
                <a:endParaRPr lang="en-US" altLang="zh-TW" sz="2600" dirty="0"/>
              </a:p>
              <a:p>
                <a:pPr marL="0" indent="0">
                  <a:buNone/>
                </a:pPr>
                <a:r>
                  <a:rPr lang="zh-TW" altLang="en-US" sz="2400" dirty="0"/>
                  <a:t>對</a:t>
                </a:r>
                <a14:m>
                  <m:oMath xmlns:m="http://schemas.openxmlformats.org/officeDocument/2006/math">
                    <m:acc>
                      <m:accPr>
                        <m:chr m:val="⃑"/>
                        <m:ctrlPr>
                          <a:rPr lang="zh-TW" altLang="en-US" sz="2400" i="1" smtClean="0">
                            <a:latin typeface="Cambria Math" panose="02040503050406030204" pitchFamily="18" charset="0"/>
                          </a:rPr>
                        </m:ctrlPr>
                      </m:accPr>
                      <m:e>
                        <m:r>
                          <m:rPr>
                            <m:sty m:val="p"/>
                          </m:rPr>
                          <a:rPr lang="en-US" altLang="zh-TW" sz="2400" b="0" i="0" smtClean="0">
                            <a:latin typeface="Cambria Math" panose="02040503050406030204" pitchFamily="18" charset="0"/>
                          </a:rPr>
                          <m:t>AB</m:t>
                        </m:r>
                      </m:e>
                    </m:acc>
                  </m:oMath>
                </a14:m>
                <a:r>
                  <a:rPr lang="zh-TW" altLang="en-US" sz="2400" dirty="0"/>
                  <a:t>以</a:t>
                </a:r>
                <a:r>
                  <a:rPr lang="en-US" altLang="zh-TW" sz="2400" dirty="0"/>
                  <a:t>z</a:t>
                </a:r>
                <a:r>
                  <a:rPr lang="zh-TW" altLang="en-US" sz="2400" dirty="0"/>
                  <a:t>軸旋轉</a:t>
                </a:r>
                <a:r>
                  <a:rPr lang="en-US" altLang="zh-TW" sz="2400" dirty="0"/>
                  <a:t>s</a:t>
                </a:r>
                <a:r>
                  <a:rPr lang="zh-TW" altLang="en-US" sz="2400" dirty="0"/>
                  <a:t>角度</a:t>
                </a:r>
                <a:r>
                  <a:rPr lang="en-US" altLang="zh-TW" sz="2400" dirty="0"/>
                  <a:t>(</a:t>
                </a:r>
                <a:r>
                  <a:rPr lang="zh-TW" altLang="en-US" sz="2400" dirty="0"/>
                  <a:t>以右手定則表示轉</a:t>
                </a:r>
                <a:r>
                  <a:rPr lang="en-US" altLang="zh-TW" sz="2400" dirty="0"/>
                  <a:t>+</a:t>
                </a:r>
                <a:r>
                  <a:rPr lang="zh-TW" altLang="en-US" sz="2400" dirty="0"/>
                  <a:t>角度</a:t>
                </a:r>
                <a:r>
                  <a:rPr lang="en-US" altLang="zh-TW" sz="2400" dirty="0"/>
                  <a:t>)</a:t>
                </a:r>
              </a:p>
              <a:p>
                <a:pPr marL="0" indent="0">
                  <a:buNone/>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𝑅</m:t>
                          </m:r>
                        </m:e>
                        <m:sub>
                          <m:r>
                            <a:rPr lang="en-US" altLang="zh-TW" sz="2400" b="0" i="1" smtClean="0">
                              <a:latin typeface="Cambria Math" panose="02040503050406030204" pitchFamily="18" charset="0"/>
                            </a:rPr>
                            <m:t>𝑧</m:t>
                          </m:r>
                        </m:sub>
                      </m:sSub>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𝑠</m:t>
                          </m:r>
                        </m:e>
                      </m:d>
                      <m:r>
                        <a:rPr lang="en-US" altLang="zh-TW" sz="2400" b="0" i="1" smtClean="0">
                          <a:latin typeface="Cambria Math" panose="02040503050406030204" pitchFamily="18" charset="0"/>
                        </a:rPr>
                        <m:t>∗</m:t>
                      </m:r>
                      <m:acc>
                        <m:accPr>
                          <m:chr m:val="⃑"/>
                          <m:ctrlPr>
                            <a:rPr lang="en-US" altLang="zh-TW" sz="2400" i="1">
                              <a:latin typeface="Cambria Math" panose="02040503050406030204" pitchFamily="18" charset="0"/>
                            </a:rPr>
                          </m:ctrlPr>
                        </m:accPr>
                        <m:e>
                          <m:r>
                            <m:rPr>
                              <m:sty m:val="p"/>
                            </m:rPr>
                            <a:rPr lang="en-US" altLang="zh-TW" sz="2400" b="0" i="0" smtClean="0">
                              <a:latin typeface="Cambria Math" panose="02040503050406030204" pitchFamily="18" charset="0"/>
                            </a:rPr>
                            <m:t>AB</m:t>
                          </m:r>
                        </m:e>
                      </m:acc>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m>
                            <m:mPr>
                              <m:mcs>
                                <m:mc>
                                  <m:mcPr>
                                    <m:count m:val="3"/>
                                    <m:mcJc m:val="center"/>
                                  </m:mcPr>
                                </m:mc>
                              </m:mcs>
                              <m:ctrlPr>
                                <a:rPr lang="en-US" altLang="zh-TW" sz="2400" i="1">
                                  <a:latin typeface="Cambria Math" panose="02040503050406030204" pitchFamily="18" charset="0"/>
                                </a:rPr>
                              </m:ctrlPr>
                            </m:mPr>
                            <m:mr>
                              <m:e>
                                <m:func>
                                  <m:funcPr>
                                    <m:ctrlPr>
                                      <a:rPr lang="en-US" altLang="zh-TW" sz="2400" i="1">
                                        <a:latin typeface="Cambria Math" panose="02040503050406030204" pitchFamily="18" charset="0"/>
                                      </a:rPr>
                                    </m:ctrlPr>
                                  </m:funcPr>
                                  <m:fName>
                                    <m:r>
                                      <m:rPr>
                                        <m:sty m:val="p"/>
                                        <m:brk m:alnAt="7"/>
                                      </m:rPr>
                                      <a:rPr lang="en-US" altLang="zh-TW" sz="2400">
                                        <a:latin typeface="Cambria Math" panose="02040503050406030204" pitchFamily="18" charset="0"/>
                                      </a:rPr>
                                      <m:t>c</m:t>
                                    </m:r>
                                    <m:r>
                                      <m:rPr>
                                        <m:sty m:val="p"/>
                                      </m:rPr>
                                      <a:rPr lang="en-US" altLang="zh-TW" sz="2400">
                                        <a:latin typeface="Cambria Math" panose="02040503050406030204" pitchFamily="18" charset="0"/>
                                      </a:rPr>
                                      <m:t>os</m:t>
                                    </m:r>
                                  </m:fName>
                                  <m:e>
                                    <m:r>
                                      <a:rPr lang="en-US" altLang="zh-TW" sz="2400" i="1">
                                        <a:latin typeface="Cambria Math" panose="02040503050406030204" pitchFamily="18" charset="0"/>
                                      </a:rPr>
                                      <m:t>𝑠</m:t>
                                    </m:r>
                                  </m:e>
                                </m:func>
                              </m:e>
                              <m:e>
                                <m:r>
                                  <a:rPr lang="en-US" altLang="zh-TW" sz="2400" i="1">
                                    <a:latin typeface="Cambria Math" panose="02040503050406030204" pitchFamily="18" charset="0"/>
                                  </a:rPr>
                                  <m:t>−</m:t>
                                </m:r>
                                <m:func>
                                  <m:funcPr>
                                    <m:ctrlPr>
                                      <a:rPr lang="en-US" altLang="zh-TW" sz="2400" i="1">
                                        <a:latin typeface="Cambria Math" panose="02040503050406030204" pitchFamily="18" charset="0"/>
                                      </a:rPr>
                                    </m:ctrlPr>
                                  </m:funcPr>
                                  <m:fName>
                                    <m:r>
                                      <m:rPr>
                                        <m:sty m:val="p"/>
                                      </m:rPr>
                                      <a:rPr lang="en-US" altLang="zh-TW" sz="2400">
                                        <a:latin typeface="Cambria Math" panose="02040503050406030204" pitchFamily="18" charset="0"/>
                                      </a:rPr>
                                      <m:t>sin</m:t>
                                    </m:r>
                                  </m:fName>
                                  <m:e>
                                    <m:r>
                                      <a:rPr lang="en-US" altLang="zh-TW" sz="2400" i="1">
                                        <a:latin typeface="Cambria Math" panose="02040503050406030204" pitchFamily="18" charset="0"/>
                                      </a:rPr>
                                      <m:t>𝑠</m:t>
                                    </m:r>
                                  </m:e>
                                </m:func>
                              </m:e>
                              <m:e>
                                <m:r>
                                  <a:rPr lang="en-US" altLang="zh-TW" sz="2400" i="1">
                                    <a:latin typeface="Cambria Math" panose="02040503050406030204" pitchFamily="18" charset="0"/>
                                  </a:rPr>
                                  <m:t>0</m:t>
                                </m:r>
                              </m:e>
                            </m:mr>
                            <m:mr>
                              <m:e>
                                <m:func>
                                  <m:funcPr>
                                    <m:ctrlPr>
                                      <a:rPr lang="en-US" altLang="zh-TW" sz="2400" i="1">
                                        <a:latin typeface="Cambria Math" panose="02040503050406030204" pitchFamily="18" charset="0"/>
                                      </a:rPr>
                                    </m:ctrlPr>
                                  </m:funcPr>
                                  <m:fName>
                                    <m:r>
                                      <m:rPr>
                                        <m:sty m:val="p"/>
                                      </m:rPr>
                                      <a:rPr lang="en-US" altLang="zh-TW" sz="2400">
                                        <a:latin typeface="Cambria Math" panose="02040503050406030204" pitchFamily="18" charset="0"/>
                                      </a:rPr>
                                      <m:t>sin</m:t>
                                    </m:r>
                                  </m:fName>
                                  <m:e>
                                    <m:r>
                                      <a:rPr lang="en-US" altLang="zh-TW" sz="2400" i="1">
                                        <a:latin typeface="Cambria Math" panose="02040503050406030204" pitchFamily="18" charset="0"/>
                                      </a:rPr>
                                      <m:t>𝑠</m:t>
                                    </m:r>
                                  </m:e>
                                </m:func>
                              </m:e>
                              <m:e>
                                <m:func>
                                  <m:funcPr>
                                    <m:ctrlPr>
                                      <a:rPr lang="en-US" altLang="zh-TW" sz="2400" i="1">
                                        <a:latin typeface="Cambria Math" panose="02040503050406030204" pitchFamily="18" charset="0"/>
                                      </a:rPr>
                                    </m:ctrlPr>
                                  </m:funcPr>
                                  <m:fName>
                                    <m:r>
                                      <m:rPr>
                                        <m:sty m:val="p"/>
                                      </m:rPr>
                                      <a:rPr lang="en-US" altLang="zh-TW" sz="2400">
                                        <a:latin typeface="Cambria Math" panose="02040503050406030204" pitchFamily="18" charset="0"/>
                                      </a:rPr>
                                      <m:t>cos</m:t>
                                    </m:r>
                                  </m:fName>
                                  <m:e>
                                    <m:r>
                                      <a:rPr lang="en-US" altLang="zh-TW" sz="2400" i="1">
                                        <a:latin typeface="Cambria Math" panose="02040503050406030204" pitchFamily="18" charset="0"/>
                                      </a:rPr>
                                      <m:t>𝑠</m:t>
                                    </m:r>
                                  </m:e>
                                </m:func>
                              </m:e>
                              <m:e>
                                <m:r>
                                  <a:rPr lang="en-US" altLang="zh-TW" sz="2400" i="1">
                                    <a:latin typeface="Cambria Math" panose="02040503050406030204" pitchFamily="18" charset="0"/>
                                  </a:rPr>
                                  <m:t>0</m:t>
                                </m:r>
                              </m:e>
                            </m:mr>
                            <m:mr>
                              <m:e>
                                <m:r>
                                  <a:rPr lang="en-US" altLang="zh-TW" sz="2400" i="1">
                                    <a:latin typeface="Cambria Math" panose="02040503050406030204" pitchFamily="18" charset="0"/>
                                  </a:rPr>
                                  <m:t>0</m:t>
                                </m:r>
                              </m:e>
                              <m:e>
                                <m:r>
                                  <a:rPr lang="en-US" altLang="zh-TW" sz="2400" i="1">
                                    <a:latin typeface="Cambria Math" panose="02040503050406030204" pitchFamily="18" charset="0"/>
                                  </a:rPr>
                                  <m:t>0</m:t>
                                </m:r>
                              </m:e>
                              <m:e>
                                <m:r>
                                  <a:rPr lang="en-US" altLang="zh-TW" sz="2400" i="1">
                                    <a:latin typeface="Cambria Math" panose="02040503050406030204" pitchFamily="18" charset="0"/>
                                  </a:rPr>
                                  <m:t>1</m:t>
                                </m:r>
                              </m:e>
                            </m:mr>
                          </m:m>
                        </m:e>
                      </m:d>
                      <m:d>
                        <m:dPr>
                          <m:begChr m:val="["/>
                          <m:endChr m:val="]"/>
                          <m:ctrlPr>
                            <a:rPr lang="en-US" altLang="zh-TW" sz="2400" b="0" i="1" smtClean="0">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r>
                                  <m:rPr>
                                    <m:brk m:alnAt="7"/>
                                  </m:rPr>
                                  <a:rPr lang="zh-TW" altLang="en-US" sz="2400" i="1">
                                    <a:latin typeface="Cambria Math" panose="02040503050406030204" pitchFamily="18" charset="0"/>
                                  </a:rPr>
                                  <m:t>𝛿</m:t>
                                </m:r>
                              </m:e>
                            </m:mr>
                            <m:mr>
                              <m:e>
                                <m:r>
                                  <a:rPr lang="en-US" altLang="zh-TW" sz="2400" i="1" dirty="0">
                                    <a:latin typeface="Cambria Math" panose="02040503050406030204" pitchFamily="18" charset="0"/>
                                  </a:rPr>
                                  <m:t>0</m:t>
                                </m:r>
                              </m:e>
                            </m:mr>
                            <m:mr>
                              <m:e>
                                <m:r>
                                  <a:rPr lang="en-US" altLang="zh-TW" sz="2400" i="1" dirty="0">
                                    <a:latin typeface="Cambria Math" panose="02040503050406030204" pitchFamily="18" charset="0"/>
                                  </a:rPr>
                                  <m:t>0</m:t>
                                </m:r>
                              </m:e>
                            </m:mr>
                          </m:m>
                        </m:e>
                      </m:d>
                      <m:r>
                        <a:rPr lang="en-US" altLang="zh-TW" i="1">
                          <a:latin typeface="Cambria Math" panose="02040503050406030204" pitchFamily="18" charset="0"/>
                        </a:rPr>
                        <m:t>=</m:t>
                      </m:r>
                      <m:acc>
                        <m:accPr>
                          <m:chr m:val="⃑"/>
                          <m:ctrlPr>
                            <a:rPr lang="en-US" altLang="zh-TW" sz="2400" i="1">
                              <a:latin typeface="Cambria Math" panose="02040503050406030204" pitchFamily="18" charset="0"/>
                            </a:rPr>
                          </m:ctrlPr>
                        </m:accPr>
                        <m:e>
                          <m:r>
                            <m:rPr>
                              <m:sty m:val="p"/>
                            </m:rPr>
                            <a:rPr lang="en-US" altLang="zh-TW" sz="2400" b="0" i="0" smtClean="0">
                              <a:latin typeface="Cambria Math" panose="02040503050406030204" pitchFamily="18" charset="0"/>
                            </a:rPr>
                            <m:t>AB</m:t>
                          </m:r>
                          <m:r>
                            <a:rPr lang="en-US" altLang="zh-TW" sz="2400">
                              <a:latin typeface="Cambria Math" panose="02040503050406030204" pitchFamily="18" charset="0"/>
                            </a:rPr>
                            <m:t>′</m:t>
                          </m:r>
                        </m:e>
                      </m:acc>
                    </m:oMath>
                  </m:oMathPara>
                </a14:m>
                <a:endParaRPr lang="en-US" altLang="zh-TW" sz="2600" dirty="0"/>
              </a:p>
              <a:p>
                <a:pPr marL="0" indent="0">
                  <a:buNone/>
                </a:pPr>
                <a:endParaRPr lang="zh-TW" altLang="en-US" sz="2600" dirty="0"/>
              </a:p>
            </p:txBody>
          </p:sp>
        </mc:Choice>
        <mc:Fallback xmlns="">
          <p:sp>
            <p:nvSpPr>
              <p:cNvPr id="3" name="內容版面配置區 2">
                <a:extLst>
                  <a:ext uri="{FF2B5EF4-FFF2-40B4-BE49-F238E27FC236}">
                    <a16:creationId xmlns:a16="http://schemas.microsoft.com/office/drawing/2014/main" id="{0DE09696-223D-4703-9826-4F69B9BC5F11}"/>
                  </a:ext>
                </a:extLst>
              </p:cNvPr>
              <p:cNvSpPr>
                <a:spLocks noGrp="1" noRot="1" noChangeAspect="1" noMove="1" noResize="1" noEditPoints="1" noAdjustHandles="1" noChangeArrowheads="1" noChangeShapeType="1" noTextEdit="1"/>
              </p:cNvSpPr>
              <p:nvPr>
                <p:ph idx="1"/>
              </p:nvPr>
            </p:nvSpPr>
            <p:spPr>
              <a:xfrm>
                <a:off x="642017" y="2267514"/>
                <a:ext cx="10515600" cy="4351338"/>
              </a:xfrm>
              <a:blipFill>
                <a:blip r:embed="rId4"/>
                <a:stretch>
                  <a:fillRect l="-1043" t="-2241"/>
                </a:stretch>
              </a:blipFill>
            </p:spPr>
            <p:txBody>
              <a:bodyPr/>
              <a:lstStyle/>
              <a:p>
                <a:r>
                  <a:rPr lang="zh-TW" altLang="en-US">
                    <a:noFill/>
                  </a:rPr>
                  <a:t> </a:t>
                </a:r>
              </a:p>
            </p:txBody>
          </p:sp>
        </mc:Fallback>
      </mc:AlternateContent>
      <p:cxnSp>
        <p:nvCxnSpPr>
          <p:cNvPr id="16" name="直線單箭頭接點 15">
            <a:extLst>
              <a:ext uri="{FF2B5EF4-FFF2-40B4-BE49-F238E27FC236}">
                <a16:creationId xmlns:a16="http://schemas.microsoft.com/office/drawing/2014/main" id="{61D6338E-EE86-4A0B-A5CB-ED1948831401}"/>
              </a:ext>
            </a:extLst>
          </p:cNvPr>
          <p:cNvCxnSpPr>
            <a:cxnSpLocks/>
            <a:stCxn id="17" idx="1"/>
          </p:cNvCxnSpPr>
          <p:nvPr/>
        </p:nvCxnSpPr>
        <p:spPr>
          <a:xfrm flipH="1">
            <a:off x="7838574" y="4506693"/>
            <a:ext cx="1448018" cy="227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1BE9E531-42F6-4CA5-8A76-35F4C6251846}"/>
              </a:ext>
            </a:extLst>
          </p:cNvPr>
          <p:cNvSpPr txBox="1"/>
          <p:nvPr/>
        </p:nvSpPr>
        <p:spPr>
          <a:xfrm>
            <a:off x="9286592" y="4183527"/>
            <a:ext cx="1871025" cy="646331"/>
          </a:xfrm>
          <a:prstGeom prst="rect">
            <a:avLst/>
          </a:prstGeom>
          <a:noFill/>
        </p:spPr>
        <p:txBody>
          <a:bodyPr wrap="square" rtlCol="0">
            <a:spAutoFit/>
          </a:bodyPr>
          <a:lstStyle/>
          <a:p>
            <a:r>
              <a:rPr lang="zh-TW" altLang="en-US" dirty="0"/>
              <a:t>點</a:t>
            </a:r>
            <a:r>
              <a:rPr lang="en-US" altLang="zh-TW" dirty="0"/>
              <a:t>A-</a:t>
            </a:r>
            <a:r>
              <a:rPr lang="zh-TW" altLang="en-US" dirty="0"/>
              <a:t>點</a:t>
            </a:r>
            <a:r>
              <a:rPr lang="en-US" altLang="zh-TW" dirty="0"/>
              <a:t>C</a:t>
            </a:r>
          </a:p>
          <a:p>
            <a:r>
              <a:rPr lang="zh-TW" altLang="en-US" dirty="0"/>
              <a:t>負號抵銷</a:t>
            </a:r>
          </a:p>
        </p:txBody>
      </p:sp>
      <p:sp>
        <p:nvSpPr>
          <p:cNvPr id="20" name="文字方塊 19">
            <a:extLst>
              <a:ext uri="{FF2B5EF4-FFF2-40B4-BE49-F238E27FC236}">
                <a16:creationId xmlns:a16="http://schemas.microsoft.com/office/drawing/2014/main" id="{8C8F3AF9-FC9E-489F-954C-40C59BC4C976}"/>
              </a:ext>
            </a:extLst>
          </p:cNvPr>
          <p:cNvSpPr txBox="1"/>
          <p:nvPr/>
        </p:nvSpPr>
        <p:spPr>
          <a:xfrm>
            <a:off x="4980150" y="111514"/>
            <a:ext cx="1723549" cy="369332"/>
          </a:xfrm>
          <a:prstGeom prst="rect">
            <a:avLst/>
          </a:prstGeom>
          <a:noFill/>
        </p:spPr>
        <p:txBody>
          <a:bodyPr wrap="none" rtlCol="0">
            <a:spAutoFit/>
          </a:bodyPr>
          <a:lstStyle/>
          <a:p>
            <a:r>
              <a:rPr lang="zh-TW" altLang="en-US" dirty="0"/>
              <a:t>上視圖</a:t>
            </a:r>
            <a:r>
              <a:rPr lang="en-US" altLang="zh-TW" dirty="0"/>
              <a:t>(</a:t>
            </a:r>
            <a:r>
              <a:rPr lang="en-US" altLang="zh-TW" dirty="0" err="1">
                <a:solidFill>
                  <a:srgbClr val="FF0000"/>
                </a:solidFill>
              </a:rPr>
              <a:t>xy</a:t>
            </a:r>
            <a:r>
              <a:rPr lang="zh-TW" altLang="en-US" dirty="0">
                <a:solidFill>
                  <a:srgbClr val="FF0000"/>
                </a:solidFill>
              </a:rPr>
              <a:t>平面</a:t>
            </a:r>
            <a:r>
              <a:rPr lang="en-US" altLang="zh-TW" dirty="0"/>
              <a:t>)</a:t>
            </a:r>
            <a:endParaRPr lang="zh-TW" altLang="en-US" dirty="0"/>
          </a:p>
        </p:txBody>
      </p:sp>
      <p:sp>
        <p:nvSpPr>
          <p:cNvPr id="7" name="投影片編號版面配置區 6">
            <a:extLst>
              <a:ext uri="{FF2B5EF4-FFF2-40B4-BE49-F238E27FC236}">
                <a16:creationId xmlns:a16="http://schemas.microsoft.com/office/drawing/2014/main" id="{54E38422-D556-49E6-9046-3D8E6CF3CB88}"/>
              </a:ext>
            </a:extLst>
          </p:cNvPr>
          <p:cNvSpPr>
            <a:spLocks noGrp="1"/>
          </p:cNvSpPr>
          <p:nvPr>
            <p:ph type="sldNum" sz="quarter" idx="12"/>
          </p:nvPr>
        </p:nvSpPr>
        <p:spPr/>
        <p:txBody>
          <a:bodyPr/>
          <a:lstStyle/>
          <a:p>
            <a:fld id="{12DE3F29-1F68-43B4-BFC6-B027CAE8215F}" type="slidenum">
              <a:rPr lang="zh-TW" altLang="en-US" smtClean="0"/>
              <a:t>14</a:t>
            </a:fld>
            <a:endParaRPr lang="zh-TW" altLang="en-US"/>
          </a:p>
        </p:txBody>
      </p:sp>
      <p:pic>
        <p:nvPicPr>
          <p:cNvPr id="12" name="圖片 11">
            <a:extLst>
              <a:ext uri="{FF2B5EF4-FFF2-40B4-BE49-F238E27FC236}">
                <a16:creationId xmlns:a16="http://schemas.microsoft.com/office/drawing/2014/main" id="{BB46D103-7C58-4798-AD38-BB527A5411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847173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群組 4">
            <a:extLst>
              <a:ext uri="{FF2B5EF4-FFF2-40B4-BE49-F238E27FC236}">
                <a16:creationId xmlns:a16="http://schemas.microsoft.com/office/drawing/2014/main" id="{50A263BE-377C-4048-8C6F-1955033D2C65}"/>
              </a:ext>
            </a:extLst>
          </p:cNvPr>
          <p:cNvGrpSpPr/>
          <p:nvPr/>
        </p:nvGrpSpPr>
        <p:grpSpPr>
          <a:xfrm>
            <a:off x="5075679" y="55355"/>
            <a:ext cx="6271981" cy="2893022"/>
            <a:chOff x="5075679" y="55355"/>
            <a:chExt cx="6271981" cy="2893022"/>
          </a:xfrm>
        </p:grpSpPr>
        <p:pic>
          <p:nvPicPr>
            <p:cNvPr id="9" name="圖片 8">
              <a:extLst>
                <a:ext uri="{FF2B5EF4-FFF2-40B4-BE49-F238E27FC236}">
                  <a16:creationId xmlns:a16="http://schemas.microsoft.com/office/drawing/2014/main" id="{EC155193-2936-48B7-B587-CB35DDD2034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75679" y="55355"/>
              <a:ext cx="6271981" cy="2893022"/>
            </a:xfrm>
            <a:prstGeom prst="rect">
              <a:avLst/>
            </a:prstGeom>
          </p:spPr>
        </p:pic>
        <p:sp>
          <p:nvSpPr>
            <p:cNvPr id="4" name="箭號: 弧形下彎 3">
              <a:extLst>
                <a:ext uri="{FF2B5EF4-FFF2-40B4-BE49-F238E27FC236}">
                  <a16:creationId xmlns:a16="http://schemas.microsoft.com/office/drawing/2014/main" id="{50891C64-0F1D-4071-94C3-58CF1CA6F136}"/>
                </a:ext>
              </a:extLst>
            </p:cNvPr>
            <p:cNvSpPr/>
            <p:nvPr/>
          </p:nvSpPr>
          <p:spPr>
            <a:xfrm>
              <a:off x="8951495" y="125148"/>
              <a:ext cx="1521994" cy="74714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
        <p:nvSpPr>
          <p:cNvPr id="2" name="標題 1">
            <a:extLst>
              <a:ext uri="{FF2B5EF4-FFF2-40B4-BE49-F238E27FC236}">
                <a16:creationId xmlns:a16="http://schemas.microsoft.com/office/drawing/2014/main" id="{ABF3B264-24A5-4C03-9E21-6FC644ED803C}"/>
              </a:ext>
            </a:extLst>
          </p:cNvPr>
          <p:cNvSpPr>
            <a:spLocks noGrp="1"/>
          </p:cNvSpPr>
          <p:nvPr>
            <p:ph type="title"/>
          </p:nvPr>
        </p:nvSpPr>
        <p:spPr/>
        <p:txBody>
          <a:bodyPr/>
          <a:lstStyle/>
          <a:p>
            <a:r>
              <a:rPr lang="zh-TW" altLang="en-US" dirty="0"/>
              <a:t>計算流程</a:t>
            </a: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7A161A18-6F41-42DB-A5B7-F8E04EE8C4E1}"/>
                  </a:ext>
                </a:extLst>
              </p:cNvPr>
              <p:cNvSpPr>
                <a:spLocks noGrp="1"/>
              </p:cNvSpPr>
              <p:nvPr>
                <p:ph idx="1"/>
              </p:nvPr>
            </p:nvSpPr>
            <p:spPr>
              <a:xfrm>
                <a:off x="62164" y="2506662"/>
                <a:ext cx="10515600" cy="4351338"/>
              </a:xfrm>
            </p:spPr>
            <p:txBody>
              <a:bodyPr>
                <a:normAutofit/>
              </a:bodyPr>
              <a:lstStyle/>
              <a:p>
                <a:pPr marL="0" indent="0">
                  <a:buNone/>
                </a:pPr>
                <a:r>
                  <a:rPr lang="zh-TW" altLang="en-US" dirty="0"/>
                  <a:t>第二次旋轉</a:t>
                </a:r>
                <a:r>
                  <a:rPr lang="en-US" altLang="zh-TW" dirty="0"/>
                  <a:t>:</a:t>
                </a:r>
              </a:p>
              <a:p>
                <a:pPr marL="0" indent="0">
                  <a:buNone/>
                </a:pPr>
                <a:r>
                  <a:rPr lang="zh-TW" altLang="en-US" dirty="0"/>
                  <a:t>對</a:t>
                </a:r>
                <a14:m>
                  <m:oMath xmlns:m="http://schemas.openxmlformats.org/officeDocument/2006/math">
                    <m:acc>
                      <m:accPr>
                        <m:chr m:val="⃑"/>
                        <m:ctrlPr>
                          <a:rPr lang="en-US" altLang="zh-TW" sz="2800" i="1" smtClean="0">
                            <a:latin typeface="Cambria Math" panose="02040503050406030204" pitchFamily="18" charset="0"/>
                          </a:rPr>
                        </m:ctrlPr>
                      </m:accPr>
                      <m:e>
                        <m:r>
                          <m:rPr>
                            <m:sty m:val="p"/>
                          </m:rPr>
                          <a:rPr lang="en-US" altLang="zh-TW" sz="2800" b="0" i="0" smtClean="0">
                            <a:latin typeface="Cambria Math" panose="02040503050406030204" pitchFamily="18" charset="0"/>
                          </a:rPr>
                          <m:t>BC</m:t>
                        </m:r>
                        <m:r>
                          <a:rPr lang="en-US" altLang="zh-TW" sz="2800" b="0" i="0" smtClean="0">
                            <a:latin typeface="Cambria Math" panose="02040503050406030204" pitchFamily="18" charset="0"/>
                          </a:rPr>
                          <m:t>′</m:t>
                        </m:r>
                      </m:e>
                    </m:acc>
                  </m:oMath>
                </a14:m>
                <a:r>
                  <a:rPr lang="zh-TW" altLang="en-US" dirty="0"/>
                  <a:t>以</a:t>
                </a:r>
                <a:r>
                  <a:rPr lang="en-US" altLang="zh-TW" dirty="0"/>
                  <a:t>y</a:t>
                </a:r>
                <a:r>
                  <a:rPr lang="zh-TW" altLang="en-US" dirty="0"/>
                  <a:t>軸旋轉</a:t>
                </a:r>
                <a:r>
                  <a:rPr lang="en-US" altLang="zh-TW" dirty="0"/>
                  <a:t>r</a:t>
                </a:r>
                <a:r>
                  <a:rPr lang="zh-TW" altLang="en-US" dirty="0"/>
                  <a:t>角度</a:t>
                </a:r>
                <a:r>
                  <a:rPr lang="en-US" altLang="zh-TW" dirty="0"/>
                  <a:t>(</a:t>
                </a:r>
                <a:r>
                  <a:rPr lang="zh-TW" altLang="en-US" dirty="0"/>
                  <a:t>以右手定則表示轉</a:t>
                </a:r>
                <a:r>
                  <a:rPr lang="en-US" altLang="zh-TW" dirty="0"/>
                  <a:t>+</a:t>
                </a:r>
                <a:r>
                  <a:rPr lang="zh-TW" altLang="en-US" dirty="0"/>
                  <a:t>角度</a:t>
                </a:r>
                <a:r>
                  <a:rPr lang="en-US" altLang="zh-TW" dirty="0"/>
                  <a:t>)</a:t>
                </a:r>
              </a:p>
              <a:p>
                <a:pPr marL="0" indent="0">
                  <a:buNone/>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en-US" altLang="zh-TW" i="1">
                              <a:latin typeface="Cambria Math" panose="02040503050406030204" pitchFamily="18" charset="0"/>
                            </a:rPr>
                            <m:t>𝑦</m:t>
                          </m:r>
                        </m:sub>
                      </m:sSub>
                      <m:d>
                        <m:dPr>
                          <m:ctrlPr>
                            <a:rPr lang="en-US" altLang="zh-TW" i="1">
                              <a:latin typeface="Cambria Math" panose="02040503050406030204" pitchFamily="18" charset="0"/>
                            </a:rPr>
                          </m:ctrlPr>
                        </m:dPr>
                        <m:e>
                          <m:r>
                            <a:rPr lang="en-US" altLang="zh-TW" i="1">
                              <a:latin typeface="Cambria Math" panose="02040503050406030204" pitchFamily="18" charset="0"/>
                            </a:rPr>
                            <m:t>𝑟</m:t>
                          </m:r>
                        </m:e>
                      </m:d>
                      <m:r>
                        <a:rPr lang="en-US" altLang="zh-TW" i="1">
                          <a:latin typeface="Cambria Math" panose="02040503050406030204" pitchFamily="18" charset="0"/>
                        </a:rPr>
                        <m:t> ∗</m:t>
                      </m:r>
                      <m:acc>
                        <m:accPr>
                          <m:chr m:val="⃑"/>
                          <m:ctrlPr>
                            <a:rPr lang="en-US" altLang="zh-TW" i="1">
                              <a:latin typeface="Cambria Math" panose="02040503050406030204" pitchFamily="18" charset="0"/>
                            </a:rPr>
                          </m:ctrlPr>
                        </m:accPr>
                        <m:e>
                          <m:r>
                            <m:rPr>
                              <m:sty m:val="p"/>
                            </m:rPr>
                            <a:rPr lang="en-US" altLang="zh-TW">
                              <a:latin typeface="Cambria Math" panose="02040503050406030204" pitchFamily="18" charset="0"/>
                            </a:rPr>
                            <m:t>BC</m:t>
                          </m:r>
                          <m:r>
                            <a:rPr lang="en-US" altLang="zh-TW">
                              <a:latin typeface="Cambria Math" panose="02040503050406030204" pitchFamily="18" charset="0"/>
                            </a:rPr>
                            <m:t>′</m:t>
                          </m:r>
                        </m:e>
                      </m:acc>
                      <m:r>
                        <a:rPr lang="en-US" altLang="zh-TW" i="1">
                          <a:latin typeface="Cambria Math" panose="02040503050406030204" pitchFamily="18" charset="0"/>
                        </a:rPr>
                        <m:t>=</m:t>
                      </m:r>
                      <m:d>
                        <m:dPr>
                          <m:begChr m:val="["/>
                          <m:endChr m:val="]"/>
                          <m:ctrlPr>
                            <a:rPr lang="en-US" altLang="zh-TW" i="1">
                              <a:latin typeface="Cambria Math" panose="02040503050406030204" pitchFamily="18" charset="0"/>
                            </a:rPr>
                          </m:ctrlPr>
                        </m:dPr>
                        <m:e>
                          <m:m>
                            <m:mPr>
                              <m:mcs>
                                <m:mc>
                                  <m:mcPr>
                                    <m:count m:val="3"/>
                                    <m:mcJc m:val="center"/>
                                  </m:mcPr>
                                </m:mc>
                              </m:mcs>
                              <m:ctrlPr>
                                <a:rPr lang="en-US" altLang="zh-TW" i="1">
                                  <a:latin typeface="Cambria Math" panose="02040503050406030204" pitchFamily="18" charset="0"/>
                                </a:rPr>
                              </m:ctrlPr>
                            </m:mPr>
                            <m:mr>
                              <m:e>
                                <m:func>
                                  <m:funcPr>
                                    <m:ctrlPr>
                                      <a:rPr lang="en-US" altLang="zh-TW" i="1">
                                        <a:latin typeface="Cambria Math" panose="02040503050406030204" pitchFamily="18" charset="0"/>
                                      </a:rPr>
                                    </m:ctrlPr>
                                  </m:funcPr>
                                  <m:fName>
                                    <m:r>
                                      <m:rPr>
                                        <m:sty m:val="p"/>
                                        <m:brk m:alnAt="7"/>
                                      </m:rPr>
                                      <a:rPr lang="en-US" altLang="zh-TW">
                                        <a:latin typeface="Cambria Math" panose="02040503050406030204" pitchFamily="18" charset="0"/>
                                      </a:rPr>
                                      <m:t>c</m:t>
                                    </m:r>
                                    <m:r>
                                      <m:rPr>
                                        <m:sty m:val="p"/>
                                      </m:rPr>
                                      <a:rPr lang="en-US" altLang="zh-TW">
                                        <a:latin typeface="Cambria Math" panose="02040503050406030204" pitchFamily="18" charset="0"/>
                                      </a:rPr>
                                      <m:t>os</m:t>
                                    </m:r>
                                  </m:fName>
                                  <m:e>
                                    <m:r>
                                      <a:rPr lang="en-US" altLang="zh-TW" i="1">
                                        <a:latin typeface="Cambria Math" panose="02040503050406030204" pitchFamily="18" charset="0"/>
                                      </a:rPr>
                                      <m:t>𝑟</m:t>
                                    </m:r>
                                  </m:e>
                                </m:func>
                              </m:e>
                              <m:e>
                                <m:r>
                                  <a:rPr lang="en-US" altLang="zh-TW" i="1">
                                    <a:latin typeface="Cambria Math" panose="02040503050406030204" pitchFamily="18" charset="0"/>
                                  </a:rPr>
                                  <m:t>0</m:t>
                                </m:r>
                              </m:e>
                              <m:e>
                                <m:func>
                                  <m:funcPr>
                                    <m:ctrlPr>
                                      <a:rPr lang="en-US" altLang="zh-TW" i="1">
                                        <a:latin typeface="Cambria Math" panose="02040503050406030204" pitchFamily="18" charset="0"/>
                                      </a:rPr>
                                    </m:ctrlPr>
                                  </m:funcPr>
                                  <m:fName>
                                    <m:r>
                                      <m:rPr>
                                        <m:sty m:val="p"/>
                                      </m:rPr>
                                      <a:rPr lang="en-US" altLang="zh-TW">
                                        <a:latin typeface="Cambria Math" panose="02040503050406030204" pitchFamily="18" charset="0"/>
                                      </a:rPr>
                                      <m:t>sin</m:t>
                                    </m:r>
                                  </m:fName>
                                  <m:e>
                                    <m:r>
                                      <a:rPr lang="en-US" altLang="zh-TW" i="1">
                                        <a:latin typeface="Cambria Math" panose="02040503050406030204" pitchFamily="18" charset="0"/>
                                      </a:rPr>
                                      <m:t>𝑟</m:t>
                                    </m:r>
                                  </m:e>
                                </m:func>
                              </m:e>
                            </m:mr>
                            <m:mr>
                              <m:e>
                                <m:r>
                                  <a:rPr lang="en-US" altLang="zh-TW" i="1">
                                    <a:latin typeface="Cambria Math" panose="02040503050406030204" pitchFamily="18" charset="0"/>
                                  </a:rPr>
                                  <m:t>0</m:t>
                                </m:r>
                              </m:e>
                              <m:e>
                                <m:r>
                                  <a:rPr lang="en-US" altLang="zh-TW" i="1">
                                    <a:latin typeface="Cambria Math" panose="02040503050406030204" pitchFamily="18" charset="0"/>
                                  </a:rPr>
                                  <m:t>1</m:t>
                                </m:r>
                              </m:e>
                              <m:e>
                                <m:r>
                                  <a:rPr lang="en-US" altLang="zh-TW" i="1">
                                    <a:latin typeface="Cambria Math" panose="02040503050406030204" pitchFamily="18" charset="0"/>
                                  </a:rPr>
                                  <m:t>0</m:t>
                                </m:r>
                              </m:e>
                            </m:mr>
                            <m:mr>
                              <m:e>
                                <m:func>
                                  <m:funcPr>
                                    <m:ctrlPr>
                                      <a:rPr lang="en-US" altLang="zh-TW" i="1">
                                        <a:latin typeface="Cambria Math" panose="02040503050406030204" pitchFamily="18" charset="0"/>
                                      </a:rPr>
                                    </m:ctrlPr>
                                  </m:funcPr>
                                  <m:fName>
                                    <m:r>
                                      <a:rPr lang="en-US" altLang="zh-TW">
                                        <a:latin typeface="Cambria Math" panose="02040503050406030204" pitchFamily="18" charset="0"/>
                                      </a:rPr>
                                      <m:t>−</m:t>
                                    </m:r>
                                    <m:r>
                                      <m:rPr>
                                        <m:sty m:val="p"/>
                                      </m:rPr>
                                      <a:rPr lang="en-US" altLang="zh-TW">
                                        <a:latin typeface="Cambria Math" panose="02040503050406030204" pitchFamily="18" charset="0"/>
                                      </a:rPr>
                                      <m:t>sin</m:t>
                                    </m:r>
                                  </m:fName>
                                  <m:e>
                                    <m:r>
                                      <a:rPr lang="en-US" altLang="zh-TW" i="1">
                                        <a:latin typeface="Cambria Math" panose="02040503050406030204" pitchFamily="18" charset="0"/>
                                      </a:rPr>
                                      <m:t>𝑟</m:t>
                                    </m:r>
                                  </m:e>
                                </m:func>
                              </m:e>
                              <m:e>
                                <m:r>
                                  <a:rPr lang="en-US" altLang="zh-TW" i="1">
                                    <a:latin typeface="Cambria Math" panose="02040503050406030204" pitchFamily="18" charset="0"/>
                                  </a:rPr>
                                  <m:t>0</m:t>
                                </m:r>
                              </m:e>
                              <m:e>
                                <m:func>
                                  <m:funcPr>
                                    <m:ctrlPr>
                                      <a:rPr lang="en-US" altLang="zh-TW" i="1">
                                        <a:latin typeface="Cambria Math" panose="02040503050406030204" pitchFamily="18" charset="0"/>
                                      </a:rPr>
                                    </m:ctrlPr>
                                  </m:funcPr>
                                  <m:fName>
                                    <m:r>
                                      <m:rPr>
                                        <m:sty m:val="p"/>
                                      </m:rPr>
                                      <a:rPr lang="en-US" altLang="zh-TW">
                                        <a:latin typeface="Cambria Math" panose="02040503050406030204" pitchFamily="18" charset="0"/>
                                      </a:rPr>
                                      <m:t>cos</m:t>
                                    </m:r>
                                  </m:fName>
                                  <m:e>
                                    <m:r>
                                      <a:rPr lang="en-US" altLang="zh-TW" i="1">
                                        <a:latin typeface="Cambria Math" panose="02040503050406030204" pitchFamily="18" charset="0"/>
                                      </a:rPr>
                                      <m:t>𝑟</m:t>
                                    </m:r>
                                  </m:e>
                                </m:func>
                              </m:e>
                            </m:mr>
                          </m:m>
                        </m:e>
                      </m:d>
                      <m:d>
                        <m:dPr>
                          <m:begChr m:val="["/>
                          <m:endChr m:val="]"/>
                          <m:ctrlPr>
                            <a:rPr lang="en-US" altLang="zh-TW" i="1">
                              <a:latin typeface="Cambria Math" panose="02040503050406030204" pitchFamily="18" charset="0"/>
                            </a:rPr>
                          </m:ctrlPr>
                        </m:dPr>
                        <m:e>
                          <m:m>
                            <m:mPr>
                              <m:mcs>
                                <m:mc>
                                  <m:mcPr>
                                    <m:count m:val="1"/>
                                    <m:mcJc m:val="center"/>
                                  </m:mcPr>
                                </m:mc>
                              </m:mcs>
                              <m:ctrlPr>
                                <a:rPr lang="en-US" altLang="zh-TW" i="1">
                                  <a:latin typeface="Cambria Math" panose="02040503050406030204" pitchFamily="18" charset="0"/>
                                </a:rPr>
                              </m:ctrlPr>
                            </m:mPr>
                            <m:mr>
                              <m:e>
                                <m:sSub>
                                  <m:sSubPr>
                                    <m:ctrlPr>
                                      <a:rPr lang="en-US" altLang="zh-TW" b="0" i="1" smtClean="0">
                                        <a:latin typeface="Cambria Math" panose="02040503050406030204" pitchFamily="18" charset="0"/>
                                      </a:rPr>
                                    </m:ctrlPr>
                                  </m:sSubPr>
                                  <m:e>
                                    <m:r>
                                      <a:rPr lang="en-US" altLang="zh-TW" b="1" i="1" smtClean="0">
                                        <a:latin typeface="Cambria Math" panose="02040503050406030204" pitchFamily="18" charset="0"/>
                                      </a:rPr>
                                      <m:t>𝒗</m:t>
                                    </m:r>
                                  </m:e>
                                  <m:sub>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𝐵𝐶</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rPr>
                                      <m:t>,</m:t>
                                    </m:r>
                                    <m:r>
                                      <a:rPr lang="en-US" altLang="zh-TW" b="0" i="1" smtClean="0">
                                        <a:latin typeface="Cambria Math" panose="02040503050406030204" pitchFamily="18" charset="0"/>
                                      </a:rPr>
                                      <m:t>𝑥</m:t>
                                    </m:r>
                                  </m:sub>
                                </m:sSub>
                              </m:e>
                            </m:mr>
                            <m:mr>
                              <m:e>
                                <m:sSub>
                                  <m:sSubPr>
                                    <m:ctrlPr>
                                      <a:rPr lang="en-US" altLang="zh-TW" i="1">
                                        <a:latin typeface="Cambria Math" panose="02040503050406030204" pitchFamily="18" charset="0"/>
                                      </a:rPr>
                                    </m:ctrlPr>
                                  </m:sSubPr>
                                  <m:e>
                                    <m:r>
                                      <a:rPr lang="en-US" altLang="zh-TW" b="1" i="1" smtClean="0">
                                        <a:latin typeface="Cambria Math" panose="02040503050406030204" pitchFamily="18" charset="0"/>
                                      </a:rPr>
                                      <m:t>𝒗</m:t>
                                    </m:r>
                                  </m:e>
                                  <m:sub>
                                    <m:r>
                                      <a:rPr lang="en-US" altLang="zh-TW" i="1">
                                        <a:latin typeface="Cambria Math" panose="02040503050406030204" pitchFamily="18" charset="0"/>
                                      </a:rPr>
                                      <m:t>𝐵</m:t>
                                    </m:r>
                                    <m:sSup>
                                      <m:sSupPr>
                                        <m:ctrlPr>
                                          <a:rPr lang="en-US" altLang="zh-TW" i="1">
                                            <a:latin typeface="Cambria Math" panose="02040503050406030204" pitchFamily="18" charset="0"/>
                                          </a:rPr>
                                        </m:ctrlPr>
                                      </m:sSupPr>
                                      <m:e>
                                        <m:r>
                                          <a:rPr lang="en-US" altLang="zh-TW" i="1">
                                            <a:latin typeface="Cambria Math" panose="02040503050406030204" pitchFamily="18" charset="0"/>
                                          </a:rPr>
                                          <m:t>𝐶</m:t>
                                        </m:r>
                                      </m:e>
                                      <m:sup>
                                        <m:r>
                                          <a:rPr lang="en-US" altLang="zh-TW" i="1">
                                            <a:latin typeface="Cambria Math" panose="02040503050406030204" pitchFamily="18" charset="0"/>
                                          </a:rPr>
                                          <m:t>′</m:t>
                                        </m:r>
                                      </m:sup>
                                    </m:sSup>
                                    <m:r>
                                      <a:rPr lang="en-US" altLang="zh-TW" i="1">
                                        <a:latin typeface="Cambria Math" panose="02040503050406030204" pitchFamily="18" charset="0"/>
                                      </a:rPr>
                                      <m:t>,</m:t>
                                    </m:r>
                                    <m:r>
                                      <a:rPr lang="en-US" altLang="zh-TW" b="0" i="1" smtClean="0">
                                        <a:latin typeface="Cambria Math" panose="02040503050406030204" pitchFamily="18" charset="0"/>
                                      </a:rPr>
                                      <m:t>𝑦</m:t>
                                    </m:r>
                                  </m:sub>
                                </m:sSub>
                              </m:e>
                            </m:mr>
                            <m:mr>
                              <m:e>
                                <m:sSub>
                                  <m:sSubPr>
                                    <m:ctrlPr>
                                      <a:rPr lang="en-US" altLang="zh-TW" i="1">
                                        <a:latin typeface="Cambria Math" panose="02040503050406030204" pitchFamily="18" charset="0"/>
                                      </a:rPr>
                                    </m:ctrlPr>
                                  </m:sSubPr>
                                  <m:e>
                                    <m:r>
                                      <a:rPr lang="en-US" altLang="zh-TW" b="1" i="1" smtClean="0">
                                        <a:latin typeface="Cambria Math" panose="02040503050406030204" pitchFamily="18" charset="0"/>
                                      </a:rPr>
                                      <m:t>𝒗</m:t>
                                    </m:r>
                                  </m:e>
                                  <m:sub>
                                    <m:r>
                                      <a:rPr lang="en-US" altLang="zh-TW" i="1">
                                        <a:latin typeface="Cambria Math" panose="02040503050406030204" pitchFamily="18" charset="0"/>
                                      </a:rPr>
                                      <m:t>𝐵</m:t>
                                    </m:r>
                                    <m:sSup>
                                      <m:sSupPr>
                                        <m:ctrlPr>
                                          <a:rPr lang="en-US" altLang="zh-TW" i="1">
                                            <a:latin typeface="Cambria Math" panose="02040503050406030204" pitchFamily="18" charset="0"/>
                                          </a:rPr>
                                        </m:ctrlPr>
                                      </m:sSupPr>
                                      <m:e>
                                        <m:r>
                                          <a:rPr lang="en-US" altLang="zh-TW" i="1">
                                            <a:latin typeface="Cambria Math" panose="02040503050406030204" pitchFamily="18" charset="0"/>
                                          </a:rPr>
                                          <m:t>𝐶</m:t>
                                        </m:r>
                                      </m:e>
                                      <m:sup>
                                        <m:r>
                                          <a:rPr lang="en-US" altLang="zh-TW" i="1">
                                            <a:latin typeface="Cambria Math" panose="02040503050406030204" pitchFamily="18" charset="0"/>
                                          </a:rPr>
                                          <m:t>′</m:t>
                                        </m:r>
                                      </m:sup>
                                    </m:sSup>
                                    <m:r>
                                      <a:rPr lang="en-US" altLang="zh-TW" i="1">
                                        <a:latin typeface="Cambria Math" panose="02040503050406030204" pitchFamily="18" charset="0"/>
                                      </a:rPr>
                                      <m:t>,</m:t>
                                    </m:r>
                                    <m:r>
                                      <a:rPr lang="en-US" altLang="zh-TW" b="0" i="1" smtClean="0">
                                        <a:latin typeface="Cambria Math" panose="02040503050406030204" pitchFamily="18" charset="0"/>
                                      </a:rPr>
                                      <m:t>𝑧</m:t>
                                    </m:r>
                                  </m:sub>
                                </m:sSub>
                              </m:e>
                            </m:mr>
                          </m:m>
                        </m:e>
                      </m:d>
                      <m:r>
                        <a:rPr lang="en-US" altLang="zh-TW" i="1">
                          <a:latin typeface="Cambria Math" panose="02040503050406030204" pitchFamily="18" charset="0"/>
                        </a:rPr>
                        <m:t>=</m:t>
                      </m:r>
                      <m:acc>
                        <m:accPr>
                          <m:chr m:val="⃑"/>
                          <m:ctrlPr>
                            <a:rPr lang="en-US" altLang="zh-TW" i="1">
                              <a:latin typeface="Cambria Math" panose="02040503050406030204" pitchFamily="18" charset="0"/>
                            </a:rPr>
                          </m:ctrlPr>
                        </m:accPr>
                        <m:e>
                          <m:r>
                            <m:rPr>
                              <m:sty m:val="p"/>
                            </m:rPr>
                            <a:rPr lang="en-US" altLang="zh-TW" b="0" i="0" smtClean="0">
                              <a:latin typeface="Cambria Math" panose="02040503050406030204" pitchFamily="18" charset="0"/>
                            </a:rPr>
                            <m:t>BC</m:t>
                          </m:r>
                          <m:r>
                            <a:rPr lang="en-US" altLang="zh-TW" b="0" i="0" smtClean="0">
                              <a:latin typeface="Cambria Math" panose="02040503050406030204" pitchFamily="18" charset="0"/>
                            </a:rPr>
                            <m:t>′′</m:t>
                          </m:r>
                        </m:e>
                      </m:acc>
                    </m:oMath>
                  </m:oMathPara>
                </a14:m>
                <a:endParaRPr lang="en-US" altLang="zh-TW" dirty="0"/>
              </a:p>
              <a:p>
                <a:pPr marL="0" indent="0">
                  <a:buNone/>
                </a:pPr>
                <a:r>
                  <a:rPr lang="zh-TW" altLang="en-US" sz="2800" dirty="0"/>
                  <a:t>對</a:t>
                </a:r>
                <a14:m>
                  <m:oMath xmlns:m="http://schemas.openxmlformats.org/officeDocument/2006/math">
                    <m:acc>
                      <m:accPr>
                        <m:chr m:val="⃑"/>
                        <m:ctrlPr>
                          <a:rPr lang="en-US" altLang="zh-TW" i="1">
                            <a:latin typeface="Cambria Math" panose="02040503050406030204" pitchFamily="18" charset="0"/>
                          </a:rPr>
                        </m:ctrlPr>
                      </m:accPr>
                      <m:e>
                        <m:r>
                          <m:rPr>
                            <m:sty m:val="p"/>
                          </m:rPr>
                          <a:rPr lang="en-US" altLang="zh-TW" b="0" i="0" smtClean="0">
                            <a:latin typeface="Cambria Math" panose="02040503050406030204" pitchFamily="18" charset="0"/>
                          </a:rPr>
                          <m:t>AB</m:t>
                        </m:r>
                        <m:r>
                          <a:rPr lang="en-US" altLang="zh-TW">
                            <a:latin typeface="Cambria Math" panose="02040503050406030204" pitchFamily="18" charset="0"/>
                          </a:rPr>
                          <m:t>′</m:t>
                        </m:r>
                      </m:e>
                    </m:acc>
                  </m:oMath>
                </a14:m>
                <a:r>
                  <a:rPr lang="zh-TW" altLang="en-US" sz="2800" dirty="0"/>
                  <a:t>以</a:t>
                </a:r>
                <a:r>
                  <a:rPr lang="en-US" altLang="zh-TW" sz="2800" dirty="0"/>
                  <a:t>y</a:t>
                </a:r>
                <a:r>
                  <a:rPr lang="zh-TW" altLang="en-US" sz="2800" dirty="0"/>
                  <a:t>軸旋轉</a:t>
                </a:r>
                <a:r>
                  <a:rPr lang="en-US" altLang="zh-TW" sz="2800" dirty="0"/>
                  <a:t>-r</a:t>
                </a:r>
                <a:r>
                  <a:rPr lang="zh-TW" altLang="en-US" sz="2800" dirty="0"/>
                  <a:t>角度</a:t>
                </a:r>
                <a:r>
                  <a:rPr lang="en-US" altLang="zh-TW" sz="2800" dirty="0"/>
                  <a:t>(</a:t>
                </a:r>
                <a:r>
                  <a:rPr lang="zh-TW" altLang="en-US" sz="2800" dirty="0"/>
                  <a:t>以右手定則表示轉</a:t>
                </a:r>
                <a:r>
                  <a:rPr lang="en-US" altLang="zh-TW" dirty="0"/>
                  <a:t>-</a:t>
                </a:r>
                <a:r>
                  <a:rPr lang="zh-TW" altLang="en-US" sz="2800" dirty="0"/>
                  <a:t>角度</a:t>
                </a:r>
                <a:r>
                  <a:rPr lang="en-US" altLang="zh-TW" sz="2800" dirty="0"/>
                  <a:t>)</a:t>
                </a:r>
              </a:p>
              <a:p>
                <a:pPr marL="0" indent="0">
                  <a:buNone/>
                </a:pPr>
                <a14:m>
                  <m:oMathPara xmlns:m="http://schemas.openxmlformats.org/officeDocument/2006/math">
                    <m:oMathParaPr>
                      <m:jc m:val="centerGroup"/>
                    </m:oMathParaPr>
                    <m:oMath xmlns:m="http://schemas.openxmlformats.org/officeDocument/2006/math">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𝑅</m:t>
                          </m:r>
                        </m:e>
                        <m:sub>
                          <m:r>
                            <a:rPr lang="en-US" altLang="zh-TW" sz="2800" b="0" i="1" smtClean="0">
                              <a:latin typeface="Cambria Math" panose="02040503050406030204" pitchFamily="18" charset="0"/>
                            </a:rPr>
                            <m:t>𝑦</m:t>
                          </m:r>
                        </m:sub>
                      </m:sSub>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𝑟</m:t>
                          </m:r>
                        </m:e>
                      </m:d>
                      <m:r>
                        <a:rPr lang="en-US" altLang="zh-TW" sz="2800" b="0" i="1" smtClean="0">
                          <a:latin typeface="Cambria Math" panose="02040503050406030204" pitchFamily="18" charset="0"/>
                        </a:rPr>
                        <m:t> ∗</m:t>
                      </m:r>
                      <m:acc>
                        <m:accPr>
                          <m:chr m:val="⃑"/>
                          <m:ctrlPr>
                            <a:rPr lang="en-US" altLang="zh-TW" i="1">
                              <a:latin typeface="Cambria Math" panose="02040503050406030204" pitchFamily="18" charset="0"/>
                            </a:rPr>
                          </m:ctrlPr>
                        </m:accPr>
                        <m:e>
                          <m:r>
                            <m:rPr>
                              <m:sty m:val="p"/>
                            </m:rPr>
                            <a:rPr lang="en-US" altLang="zh-TW" b="0" i="0" smtClean="0">
                              <a:latin typeface="Cambria Math" panose="02040503050406030204" pitchFamily="18" charset="0"/>
                            </a:rPr>
                            <m:t>AB</m:t>
                          </m:r>
                          <m:r>
                            <a:rPr lang="en-US" altLang="zh-TW">
                              <a:latin typeface="Cambria Math" panose="02040503050406030204" pitchFamily="18" charset="0"/>
                            </a:rPr>
                            <m:t>′</m:t>
                          </m:r>
                        </m:e>
                      </m:acc>
                      <m:r>
                        <a:rPr lang="en-US" altLang="zh-TW" sz="2800" b="0" i="1" smtClean="0">
                          <a:latin typeface="Cambria Math" panose="02040503050406030204" pitchFamily="18" charset="0"/>
                        </a:rPr>
                        <m:t>=</m:t>
                      </m:r>
                      <m:d>
                        <m:dPr>
                          <m:begChr m:val="["/>
                          <m:endChr m:val="]"/>
                          <m:ctrlPr>
                            <a:rPr lang="en-US" altLang="zh-TW" sz="2800" b="0" i="1" smtClean="0">
                              <a:latin typeface="Cambria Math" panose="02040503050406030204" pitchFamily="18" charset="0"/>
                            </a:rPr>
                          </m:ctrlPr>
                        </m:dPr>
                        <m:e>
                          <m:m>
                            <m:mPr>
                              <m:mcs>
                                <m:mc>
                                  <m:mcPr>
                                    <m:count m:val="3"/>
                                    <m:mcJc m:val="center"/>
                                  </m:mcPr>
                                </m:mc>
                              </m:mcs>
                              <m:ctrlPr>
                                <a:rPr lang="en-US" altLang="zh-TW" i="1">
                                  <a:latin typeface="Cambria Math" panose="02040503050406030204" pitchFamily="18" charset="0"/>
                                </a:rPr>
                              </m:ctrlPr>
                            </m:mPr>
                            <m:mr>
                              <m:e>
                                <m:func>
                                  <m:funcPr>
                                    <m:ctrlPr>
                                      <a:rPr lang="en-US" altLang="zh-TW" i="1">
                                        <a:latin typeface="Cambria Math" panose="02040503050406030204" pitchFamily="18" charset="0"/>
                                      </a:rPr>
                                    </m:ctrlPr>
                                  </m:funcPr>
                                  <m:fName>
                                    <m:r>
                                      <m:rPr>
                                        <m:sty m:val="p"/>
                                        <m:brk m:alnAt="7"/>
                                      </m:rPr>
                                      <a:rPr lang="en-US" altLang="zh-TW">
                                        <a:latin typeface="Cambria Math" panose="02040503050406030204" pitchFamily="18" charset="0"/>
                                      </a:rPr>
                                      <m:t>c</m:t>
                                    </m:r>
                                    <m:r>
                                      <m:rPr>
                                        <m:sty m:val="p"/>
                                      </m:rPr>
                                      <a:rPr lang="en-US" altLang="zh-TW">
                                        <a:latin typeface="Cambria Math" panose="02040503050406030204" pitchFamily="18" charset="0"/>
                                      </a:rPr>
                                      <m:t>os</m:t>
                                    </m:r>
                                  </m:fName>
                                  <m:e>
                                    <m:r>
                                      <a:rPr lang="en-US" altLang="zh-TW" i="1">
                                        <a:latin typeface="Cambria Math" panose="02040503050406030204" pitchFamily="18" charset="0"/>
                                      </a:rPr>
                                      <m:t>−</m:t>
                                    </m:r>
                                    <m:r>
                                      <a:rPr lang="en-US" altLang="zh-TW" i="1">
                                        <a:latin typeface="Cambria Math" panose="02040503050406030204" pitchFamily="18" charset="0"/>
                                      </a:rPr>
                                      <m:t>𝑟</m:t>
                                    </m:r>
                                  </m:e>
                                </m:func>
                              </m:e>
                              <m:e>
                                <m:r>
                                  <a:rPr lang="en-US" altLang="zh-TW" i="1">
                                    <a:latin typeface="Cambria Math" panose="02040503050406030204" pitchFamily="18" charset="0"/>
                                  </a:rPr>
                                  <m:t>0</m:t>
                                </m:r>
                              </m:e>
                              <m:e>
                                <m:func>
                                  <m:funcPr>
                                    <m:ctrlPr>
                                      <a:rPr lang="en-US" altLang="zh-TW" i="1">
                                        <a:latin typeface="Cambria Math" panose="02040503050406030204" pitchFamily="18" charset="0"/>
                                      </a:rPr>
                                    </m:ctrlPr>
                                  </m:funcPr>
                                  <m:fName>
                                    <m:r>
                                      <m:rPr>
                                        <m:sty m:val="p"/>
                                      </m:rPr>
                                      <a:rPr lang="en-US" altLang="zh-TW">
                                        <a:latin typeface="Cambria Math" panose="02040503050406030204" pitchFamily="18" charset="0"/>
                                      </a:rPr>
                                      <m:t>sin</m:t>
                                    </m:r>
                                  </m:fName>
                                  <m:e>
                                    <m:r>
                                      <a:rPr lang="en-US" altLang="zh-TW" i="1">
                                        <a:latin typeface="Cambria Math" panose="02040503050406030204" pitchFamily="18" charset="0"/>
                                      </a:rPr>
                                      <m:t>−</m:t>
                                    </m:r>
                                    <m:r>
                                      <a:rPr lang="en-US" altLang="zh-TW" i="1">
                                        <a:latin typeface="Cambria Math" panose="02040503050406030204" pitchFamily="18" charset="0"/>
                                      </a:rPr>
                                      <m:t>𝑟</m:t>
                                    </m:r>
                                  </m:e>
                                </m:func>
                              </m:e>
                            </m:mr>
                            <m:mr>
                              <m:e>
                                <m:r>
                                  <a:rPr lang="en-US" altLang="zh-TW" i="1">
                                    <a:latin typeface="Cambria Math" panose="02040503050406030204" pitchFamily="18" charset="0"/>
                                  </a:rPr>
                                  <m:t>0</m:t>
                                </m:r>
                              </m:e>
                              <m:e>
                                <m:r>
                                  <a:rPr lang="en-US" altLang="zh-TW" i="1">
                                    <a:latin typeface="Cambria Math" panose="02040503050406030204" pitchFamily="18" charset="0"/>
                                  </a:rPr>
                                  <m:t>1</m:t>
                                </m:r>
                              </m:e>
                              <m:e>
                                <m:r>
                                  <a:rPr lang="en-US" altLang="zh-TW" i="1">
                                    <a:latin typeface="Cambria Math" panose="02040503050406030204" pitchFamily="18" charset="0"/>
                                  </a:rPr>
                                  <m:t>0</m:t>
                                </m:r>
                              </m:e>
                            </m:mr>
                            <m:mr>
                              <m:e>
                                <m:func>
                                  <m:funcPr>
                                    <m:ctrlPr>
                                      <a:rPr lang="en-US" altLang="zh-TW" i="1">
                                        <a:latin typeface="Cambria Math" panose="02040503050406030204" pitchFamily="18" charset="0"/>
                                      </a:rPr>
                                    </m:ctrlPr>
                                  </m:funcPr>
                                  <m:fName>
                                    <m:r>
                                      <a:rPr lang="en-US" altLang="zh-TW">
                                        <a:latin typeface="Cambria Math" panose="02040503050406030204" pitchFamily="18" charset="0"/>
                                      </a:rPr>
                                      <m:t>−</m:t>
                                    </m:r>
                                    <m:r>
                                      <m:rPr>
                                        <m:sty m:val="p"/>
                                      </m:rPr>
                                      <a:rPr lang="en-US" altLang="zh-TW">
                                        <a:latin typeface="Cambria Math" panose="02040503050406030204" pitchFamily="18" charset="0"/>
                                      </a:rPr>
                                      <m:t>sin</m:t>
                                    </m:r>
                                  </m:fName>
                                  <m:e>
                                    <m:r>
                                      <a:rPr lang="en-US" altLang="zh-TW" i="1">
                                        <a:latin typeface="Cambria Math" panose="02040503050406030204" pitchFamily="18" charset="0"/>
                                      </a:rPr>
                                      <m:t>−</m:t>
                                    </m:r>
                                    <m:r>
                                      <a:rPr lang="en-US" altLang="zh-TW" i="1">
                                        <a:latin typeface="Cambria Math" panose="02040503050406030204" pitchFamily="18" charset="0"/>
                                      </a:rPr>
                                      <m:t>𝑟</m:t>
                                    </m:r>
                                  </m:e>
                                </m:func>
                              </m:e>
                              <m:e>
                                <m:r>
                                  <a:rPr lang="en-US" altLang="zh-TW" i="1">
                                    <a:latin typeface="Cambria Math" panose="02040503050406030204" pitchFamily="18" charset="0"/>
                                  </a:rPr>
                                  <m:t>0</m:t>
                                </m:r>
                              </m:e>
                              <m:e>
                                <m:func>
                                  <m:funcPr>
                                    <m:ctrlPr>
                                      <a:rPr lang="en-US" altLang="zh-TW" i="1">
                                        <a:latin typeface="Cambria Math" panose="02040503050406030204" pitchFamily="18" charset="0"/>
                                      </a:rPr>
                                    </m:ctrlPr>
                                  </m:funcPr>
                                  <m:fName>
                                    <m:r>
                                      <m:rPr>
                                        <m:sty m:val="p"/>
                                      </m:rPr>
                                      <a:rPr lang="en-US" altLang="zh-TW">
                                        <a:latin typeface="Cambria Math" panose="02040503050406030204" pitchFamily="18" charset="0"/>
                                      </a:rPr>
                                      <m:t>cos</m:t>
                                    </m:r>
                                    <m:r>
                                      <a:rPr lang="en-US" altLang="zh-TW" i="1">
                                        <a:latin typeface="Cambria Math" panose="02040503050406030204" pitchFamily="18" charset="0"/>
                                      </a:rPr>
                                      <m:t>−</m:t>
                                    </m:r>
                                  </m:fName>
                                  <m:e>
                                    <m:r>
                                      <a:rPr lang="en-US" altLang="zh-TW" i="1">
                                        <a:latin typeface="Cambria Math" panose="02040503050406030204" pitchFamily="18" charset="0"/>
                                      </a:rPr>
                                      <m:t>𝑟</m:t>
                                    </m:r>
                                  </m:e>
                                </m:func>
                              </m:e>
                            </m:mr>
                          </m:m>
                        </m:e>
                      </m:d>
                      <m:d>
                        <m:dPr>
                          <m:begChr m:val="["/>
                          <m:endChr m:val="]"/>
                          <m:ctrlPr>
                            <a:rPr lang="en-US" altLang="zh-TW" sz="2800" b="0" i="1" smtClean="0">
                              <a:latin typeface="Cambria Math" panose="02040503050406030204" pitchFamily="18" charset="0"/>
                            </a:rPr>
                          </m:ctrlPr>
                        </m:dPr>
                        <m:e>
                          <m:m>
                            <m:mPr>
                              <m:mcs>
                                <m:mc>
                                  <m:mcPr>
                                    <m:count m:val="1"/>
                                    <m:mcJc m:val="center"/>
                                  </m:mcPr>
                                </m:mc>
                              </m:mcs>
                              <m:ctrlPr>
                                <a:rPr lang="en-US" altLang="zh-TW" i="1">
                                  <a:latin typeface="Cambria Math" panose="02040503050406030204" pitchFamily="18" charset="0"/>
                                </a:rPr>
                              </m:ctrlPr>
                            </m:mPr>
                            <m:mr>
                              <m:e>
                                <m:sSub>
                                  <m:sSubPr>
                                    <m:ctrlPr>
                                      <a:rPr lang="en-US" altLang="zh-TW" i="1">
                                        <a:latin typeface="Cambria Math" panose="02040503050406030204" pitchFamily="18" charset="0"/>
                                      </a:rPr>
                                    </m:ctrlPr>
                                  </m:sSubPr>
                                  <m:e>
                                    <m:r>
                                      <a:rPr lang="en-US" altLang="zh-TW" b="1" i="1">
                                        <a:latin typeface="Cambria Math" panose="02040503050406030204" pitchFamily="18" charset="0"/>
                                      </a:rPr>
                                      <m:t>𝒗</m:t>
                                    </m:r>
                                  </m:e>
                                  <m:sub>
                                    <m:sSup>
                                      <m:sSupPr>
                                        <m:ctrlPr>
                                          <a:rPr lang="en-US" altLang="zh-TW" i="1">
                                            <a:latin typeface="Cambria Math" panose="02040503050406030204" pitchFamily="18" charset="0"/>
                                          </a:rPr>
                                        </m:ctrlPr>
                                      </m:sSupPr>
                                      <m:e>
                                        <m:r>
                                          <a:rPr lang="en-US" altLang="zh-TW" b="0" i="1" smtClean="0">
                                            <a:latin typeface="Cambria Math" panose="02040503050406030204" pitchFamily="18" charset="0"/>
                                          </a:rPr>
                                          <m:t>𝐴𝐵</m:t>
                                        </m:r>
                                      </m:e>
                                      <m:sup>
                                        <m:r>
                                          <a:rPr lang="en-US" altLang="zh-TW" i="1">
                                            <a:latin typeface="Cambria Math" panose="02040503050406030204" pitchFamily="18" charset="0"/>
                                          </a:rPr>
                                          <m:t>′</m:t>
                                        </m:r>
                                      </m:sup>
                                    </m:sSup>
                                    <m:r>
                                      <a:rPr lang="en-US" altLang="zh-TW" i="1">
                                        <a:latin typeface="Cambria Math" panose="02040503050406030204" pitchFamily="18" charset="0"/>
                                      </a:rPr>
                                      <m:t>,</m:t>
                                    </m:r>
                                    <m:r>
                                      <a:rPr lang="en-US" altLang="zh-TW" i="1">
                                        <a:latin typeface="Cambria Math" panose="02040503050406030204" pitchFamily="18" charset="0"/>
                                      </a:rPr>
                                      <m:t>𝑥</m:t>
                                    </m:r>
                                  </m:sub>
                                </m:sSub>
                              </m:e>
                            </m:mr>
                            <m:mr>
                              <m:e>
                                <m:sSub>
                                  <m:sSubPr>
                                    <m:ctrlPr>
                                      <a:rPr lang="en-US" altLang="zh-TW" i="1">
                                        <a:latin typeface="Cambria Math" panose="02040503050406030204" pitchFamily="18" charset="0"/>
                                      </a:rPr>
                                    </m:ctrlPr>
                                  </m:sSubPr>
                                  <m:e>
                                    <m:r>
                                      <a:rPr lang="en-US" altLang="zh-TW" b="1" i="1">
                                        <a:latin typeface="Cambria Math" panose="02040503050406030204" pitchFamily="18" charset="0"/>
                                      </a:rPr>
                                      <m:t>𝒗</m:t>
                                    </m:r>
                                  </m:e>
                                  <m:sub>
                                    <m:sSup>
                                      <m:sSupPr>
                                        <m:ctrlPr>
                                          <a:rPr lang="en-US" altLang="zh-TW" i="1">
                                            <a:latin typeface="Cambria Math" panose="02040503050406030204" pitchFamily="18" charset="0"/>
                                          </a:rPr>
                                        </m:ctrlPr>
                                      </m:sSupPr>
                                      <m:e>
                                        <m:r>
                                          <a:rPr lang="en-US" altLang="zh-TW" i="1">
                                            <a:latin typeface="Cambria Math" panose="02040503050406030204" pitchFamily="18" charset="0"/>
                                          </a:rPr>
                                          <m:t>𝐴𝐵</m:t>
                                        </m:r>
                                      </m:e>
                                      <m:sup>
                                        <m:r>
                                          <a:rPr lang="en-US" altLang="zh-TW" i="1">
                                            <a:latin typeface="Cambria Math" panose="02040503050406030204" pitchFamily="18" charset="0"/>
                                          </a:rPr>
                                          <m:t>′</m:t>
                                        </m:r>
                                      </m:sup>
                                    </m:sSup>
                                    <m:r>
                                      <a:rPr lang="en-US" altLang="zh-TW" i="1">
                                        <a:latin typeface="Cambria Math" panose="02040503050406030204" pitchFamily="18" charset="0"/>
                                      </a:rPr>
                                      <m:t>,</m:t>
                                    </m:r>
                                    <m:r>
                                      <a:rPr lang="en-US" altLang="zh-TW" b="0" i="1" smtClean="0">
                                        <a:latin typeface="Cambria Math" panose="02040503050406030204" pitchFamily="18" charset="0"/>
                                      </a:rPr>
                                      <m:t>𝑦</m:t>
                                    </m:r>
                                  </m:sub>
                                </m:sSub>
                              </m:e>
                            </m:mr>
                            <m:mr>
                              <m:e>
                                <m:sSub>
                                  <m:sSubPr>
                                    <m:ctrlPr>
                                      <a:rPr lang="en-US" altLang="zh-TW" i="1">
                                        <a:latin typeface="Cambria Math" panose="02040503050406030204" pitchFamily="18" charset="0"/>
                                      </a:rPr>
                                    </m:ctrlPr>
                                  </m:sSubPr>
                                  <m:e>
                                    <m:r>
                                      <a:rPr lang="en-US" altLang="zh-TW" b="1" i="1">
                                        <a:latin typeface="Cambria Math" panose="02040503050406030204" pitchFamily="18" charset="0"/>
                                      </a:rPr>
                                      <m:t>𝒗</m:t>
                                    </m:r>
                                  </m:e>
                                  <m:sub>
                                    <m:sSup>
                                      <m:sSupPr>
                                        <m:ctrlPr>
                                          <a:rPr lang="en-US" altLang="zh-TW" i="1">
                                            <a:latin typeface="Cambria Math" panose="02040503050406030204" pitchFamily="18" charset="0"/>
                                          </a:rPr>
                                        </m:ctrlPr>
                                      </m:sSupPr>
                                      <m:e>
                                        <m:r>
                                          <a:rPr lang="en-US" altLang="zh-TW" i="1">
                                            <a:latin typeface="Cambria Math" panose="02040503050406030204" pitchFamily="18" charset="0"/>
                                          </a:rPr>
                                          <m:t>𝐴𝐵</m:t>
                                        </m:r>
                                      </m:e>
                                      <m:sup>
                                        <m:r>
                                          <a:rPr lang="en-US" altLang="zh-TW" i="1">
                                            <a:latin typeface="Cambria Math" panose="02040503050406030204" pitchFamily="18" charset="0"/>
                                          </a:rPr>
                                          <m:t>′</m:t>
                                        </m:r>
                                      </m:sup>
                                    </m:sSup>
                                    <m:r>
                                      <a:rPr lang="en-US" altLang="zh-TW" i="1">
                                        <a:latin typeface="Cambria Math" panose="02040503050406030204" pitchFamily="18" charset="0"/>
                                      </a:rPr>
                                      <m:t>,</m:t>
                                    </m:r>
                                    <m:r>
                                      <a:rPr lang="en-US" altLang="zh-TW" b="0" i="1" smtClean="0">
                                        <a:latin typeface="Cambria Math" panose="02040503050406030204" pitchFamily="18" charset="0"/>
                                      </a:rPr>
                                      <m:t>𝑧</m:t>
                                    </m:r>
                                  </m:sub>
                                </m:sSub>
                              </m:e>
                            </m:mr>
                          </m:m>
                        </m:e>
                      </m:d>
                      <m:r>
                        <a:rPr lang="en-US" altLang="zh-TW" sz="2800" b="0" i="1" smtClean="0">
                          <a:latin typeface="Cambria Math" panose="02040503050406030204" pitchFamily="18" charset="0"/>
                        </a:rPr>
                        <m:t>=</m:t>
                      </m:r>
                      <m:acc>
                        <m:accPr>
                          <m:chr m:val="⃑"/>
                          <m:ctrlPr>
                            <a:rPr lang="en-US" altLang="zh-TW" sz="2800" b="0" i="1" smtClean="0">
                              <a:latin typeface="Cambria Math" panose="02040503050406030204" pitchFamily="18" charset="0"/>
                            </a:rPr>
                          </m:ctrlPr>
                        </m:accPr>
                        <m:e>
                          <m:r>
                            <m:rPr>
                              <m:sty m:val="p"/>
                            </m:rPr>
                            <a:rPr lang="en-US" altLang="zh-TW" sz="2800" b="0" i="0" smtClean="0">
                              <a:latin typeface="Cambria Math" panose="02040503050406030204" pitchFamily="18" charset="0"/>
                            </a:rPr>
                            <m:t>AB</m:t>
                          </m:r>
                          <m:r>
                            <a:rPr lang="en-US" altLang="zh-TW" sz="2800" b="0" i="1" smtClean="0">
                              <a:latin typeface="Cambria Math" panose="02040503050406030204" pitchFamily="18" charset="0"/>
                            </a:rPr>
                            <m:t>′′</m:t>
                          </m:r>
                        </m:e>
                      </m:acc>
                    </m:oMath>
                  </m:oMathPara>
                </a14:m>
                <a:endParaRPr lang="en-US" altLang="zh-TW" sz="2800" dirty="0"/>
              </a:p>
              <a:p>
                <a:pPr marL="0" indent="0">
                  <a:buNone/>
                </a:pPr>
                <a:endParaRPr lang="en-US" altLang="zh-TW" sz="2800" dirty="0"/>
              </a:p>
              <a:p>
                <a:pPr marL="0" indent="0">
                  <a:buNone/>
                </a:pPr>
                <a:endParaRPr lang="zh-TW" altLang="en-US" dirty="0"/>
              </a:p>
            </p:txBody>
          </p:sp>
        </mc:Choice>
        <mc:Fallback>
          <p:sp>
            <p:nvSpPr>
              <p:cNvPr id="3" name="內容版面配置區 2">
                <a:extLst>
                  <a:ext uri="{FF2B5EF4-FFF2-40B4-BE49-F238E27FC236}">
                    <a16:creationId xmlns:a16="http://schemas.microsoft.com/office/drawing/2014/main" id="{7A161A18-6F41-42DB-A5B7-F8E04EE8C4E1}"/>
                  </a:ext>
                </a:extLst>
              </p:cNvPr>
              <p:cNvSpPr>
                <a:spLocks noGrp="1" noRot="1" noChangeAspect="1" noMove="1" noResize="1" noEditPoints="1" noAdjustHandles="1" noChangeArrowheads="1" noChangeShapeType="1" noTextEdit="1"/>
              </p:cNvSpPr>
              <p:nvPr>
                <p:ph idx="1"/>
              </p:nvPr>
            </p:nvSpPr>
            <p:spPr>
              <a:xfrm>
                <a:off x="62164" y="2506662"/>
                <a:ext cx="10515600" cy="4351338"/>
              </a:xfrm>
              <a:blipFill>
                <a:blip r:embed="rId4"/>
                <a:stretch>
                  <a:fillRect l="-1159" t="-2381"/>
                </a:stretch>
              </a:blipFill>
            </p:spPr>
            <p:txBody>
              <a:bodyPr/>
              <a:lstStyle/>
              <a:p>
                <a:r>
                  <a:rPr lang="zh-TW" altLang="en-US">
                    <a:noFill/>
                  </a:rPr>
                  <a:t> </a:t>
                </a:r>
              </a:p>
            </p:txBody>
          </p:sp>
        </mc:Fallback>
      </mc:AlternateContent>
      <p:sp>
        <p:nvSpPr>
          <p:cNvPr id="14" name="文字方塊 13">
            <a:extLst>
              <a:ext uri="{FF2B5EF4-FFF2-40B4-BE49-F238E27FC236}">
                <a16:creationId xmlns:a16="http://schemas.microsoft.com/office/drawing/2014/main" id="{05163301-8553-4C53-9DE6-42DD6898C526}"/>
              </a:ext>
            </a:extLst>
          </p:cNvPr>
          <p:cNvSpPr txBox="1"/>
          <p:nvPr/>
        </p:nvSpPr>
        <p:spPr>
          <a:xfrm>
            <a:off x="5069539" y="2528803"/>
            <a:ext cx="2646878" cy="369332"/>
          </a:xfrm>
          <a:prstGeom prst="rect">
            <a:avLst/>
          </a:prstGeom>
          <a:noFill/>
        </p:spPr>
        <p:txBody>
          <a:bodyPr wrap="none" rtlCol="0">
            <a:spAutoFit/>
          </a:bodyPr>
          <a:lstStyle/>
          <a:p>
            <a:r>
              <a:rPr lang="zh-TW" altLang="en-US" dirty="0"/>
              <a:t>向量旋轉側視圖</a:t>
            </a:r>
            <a:r>
              <a:rPr lang="en-US" altLang="zh-TW" dirty="0"/>
              <a:t>(</a:t>
            </a:r>
            <a:r>
              <a:rPr lang="en-US" altLang="zh-TW" dirty="0" err="1">
                <a:solidFill>
                  <a:srgbClr val="FF0000"/>
                </a:solidFill>
              </a:rPr>
              <a:t>xz</a:t>
            </a:r>
            <a:r>
              <a:rPr lang="zh-TW" altLang="en-US" dirty="0">
                <a:solidFill>
                  <a:srgbClr val="FF0000"/>
                </a:solidFill>
              </a:rPr>
              <a:t>平面</a:t>
            </a:r>
            <a:r>
              <a:rPr lang="en-US" altLang="zh-TW" dirty="0"/>
              <a:t>)</a:t>
            </a:r>
            <a:endParaRPr lang="zh-TW" altLang="en-US" dirty="0"/>
          </a:p>
        </p:txBody>
      </p:sp>
      <p:sp>
        <p:nvSpPr>
          <p:cNvPr id="7" name="投影片編號版面配置區 6">
            <a:extLst>
              <a:ext uri="{FF2B5EF4-FFF2-40B4-BE49-F238E27FC236}">
                <a16:creationId xmlns:a16="http://schemas.microsoft.com/office/drawing/2014/main" id="{2A726BCB-D984-4328-826E-C13B23A8C092}"/>
              </a:ext>
            </a:extLst>
          </p:cNvPr>
          <p:cNvSpPr>
            <a:spLocks noGrp="1"/>
          </p:cNvSpPr>
          <p:nvPr>
            <p:ph type="sldNum" sz="quarter" idx="12"/>
          </p:nvPr>
        </p:nvSpPr>
        <p:spPr/>
        <p:txBody>
          <a:bodyPr/>
          <a:lstStyle/>
          <a:p>
            <a:fld id="{12DE3F29-1F68-43B4-BFC6-B027CAE8215F}" type="slidenum">
              <a:rPr lang="zh-TW" altLang="en-US" smtClean="0"/>
              <a:t>15</a:t>
            </a:fld>
            <a:endParaRPr lang="zh-TW" altLang="en-US"/>
          </a:p>
        </p:txBody>
      </p:sp>
      <p:pic>
        <p:nvPicPr>
          <p:cNvPr id="10" name="圖片 9">
            <a:extLst>
              <a:ext uri="{FF2B5EF4-FFF2-40B4-BE49-F238E27FC236}">
                <a16:creationId xmlns:a16="http://schemas.microsoft.com/office/drawing/2014/main" id="{050633A5-3AA7-40C5-BA4F-994C81C6CB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3410155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364F45-BAD6-411E-9054-0DA402500EBC}"/>
              </a:ext>
            </a:extLst>
          </p:cNvPr>
          <p:cNvSpPr>
            <a:spLocks noGrp="1"/>
          </p:cNvSpPr>
          <p:nvPr>
            <p:ph type="title"/>
          </p:nvPr>
        </p:nvSpPr>
        <p:spPr/>
        <p:txBody>
          <a:bodyPr/>
          <a:lstStyle/>
          <a:p>
            <a:r>
              <a:rPr lang="zh-TW" altLang="en-US" dirty="0"/>
              <a:t>計算流程</a:t>
            </a:r>
          </a:p>
        </p:txBody>
      </p:sp>
      <p:sp>
        <p:nvSpPr>
          <p:cNvPr id="6" name="文字方塊 5">
            <a:extLst>
              <a:ext uri="{FF2B5EF4-FFF2-40B4-BE49-F238E27FC236}">
                <a16:creationId xmlns:a16="http://schemas.microsoft.com/office/drawing/2014/main" id="{15E30762-37BA-488F-BA99-ECAF3337C500}"/>
              </a:ext>
            </a:extLst>
          </p:cNvPr>
          <p:cNvSpPr txBox="1"/>
          <p:nvPr/>
        </p:nvSpPr>
        <p:spPr>
          <a:xfrm>
            <a:off x="6685765" y="4085514"/>
            <a:ext cx="941283" cy="369332"/>
          </a:xfrm>
          <a:prstGeom prst="rect">
            <a:avLst/>
          </a:prstGeom>
          <a:noFill/>
        </p:spPr>
        <p:txBody>
          <a:bodyPr wrap="none" rtlCol="0">
            <a:spAutoFit/>
          </a:bodyPr>
          <a:lstStyle/>
          <a:p>
            <a:r>
              <a:rPr lang="en-US" altLang="zh-TW" dirty="0"/>
              <a:t>3D</a:t>
            </a:r>
            <a:r>
              <a:rPr lang="zh-TW" altLang="en-US" dirty="0"/>
              <a:t>視圖</a:t>
            </a:r>
          </a:p>
        </p:txBody>
      </p:sp>
      <p:sp>
        <p:nvSpPr>
          <p:cNvPr id="7" name="投影片編號版面配置區 6">
            <a:extLst>
              <a:ext uri="{FF2B5EF4-FFF2-40B4-BE49-F238E27FC236}">
                <a16:creationId xmlns:a16="http://schemas.microsoft.com/office/drawing/2014/main" id="{967E3DDC-49B0-432A-AAEB-9CF0695BFCFA}"/>
              </a:ext>
            </a:extLst>
          </p:cNvPr>
          <p:cNvSpPr>
            <a:spLocks noGrp="1"/>
          </p:cNvSpPr>
          <p:nvPr>
            <p:ph type="sldNum" sz="quarter" idx="12"/>
          </p:nvPr>
        </p:nvSpPr>
        <p:spPr/>
        <p:txBody>
          <a:bodyPr/>
          <a:lstStyle/>
          <a:p>
            <a:fld id="{12DE3F29-1F68-43B4-BFC6-B027CAE8215F}" type="slidenum">
              <a:rPr lang="zh-TW" altLang="en-US" smtClean="0"/>
              <a:t>16</a:t>
            </a:fld>
            <a:endParaRPr lang="zh-TW" altLang="en-US"/>
          </a:p>
        </p:txBody>
      </p:sp>
      <p:pic>
        <p:nvPicPr>
          <p:cNvPr id="8" name="圖片 7">
            <a:extLst>
              <a:ext uri="{FF2B5EF4-FFF2-40B4-BE49-F238E27FC236}">
                <a16:creationId xmlns:a16="http://schemas.microsoft.com/office/drawing/2014/main" id="{1F7AEA73-7F90-474D-9CAB-4731B105AD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grpSp>
        <p:nvGrpSpPr>
          <p:cNvPr id="9" name="群組 8">
            <a:extLst>
              <a:ext uri="{FF2B5EF4-FFF2-40B4-BE49-F238E27FC236}">
                <a16:creationId xmlns:a16="http://schemas.microsoft.com/office/drawing/2014/main" id="{C83A8AEB-4100-4BCA-9798-0F03707B9D49}"/>
              </a:ext>
            </a:extLst>
          </p:cNvPr>
          <p:cNvGrpSpPr/>
          <p:nvPr/>
        </p:nvGrpSpPr>
        <p:grpSpPr>
          <a:xfrm>
            <a:off x="6805333" y="3368842"/>
            <a:ext cx="5267695" cy="2877192"/>
            <a:chOff x="6685765" y="1577654"/>
            <a:chExt cx="5267695" cy="2877192"/>
          </a:xfrm>
        </p:grpSpPr>
        <p:pic>
          <p:nvPicPr>
            <p:cNvPr id="5" name="圖片 4">
              <a:extLst>
                <a:ext uri="{FF2B5EF4-FFF2-40B4-BE49-F238E27FC236}">
                  <a16:creationId xmlns:a16="http://schemas.microsoft.com/office/drawing/2014/main" id="{F201D819-A7EB-43B5-BD58-45919D87D92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685765" y="1577654"/>
              <a:ext cx="5267695" cy="2877192"/>
            </a:xfrm>
            <a:prstGeom prst="rect">
              <a:avLst/>
            </a:prstGeom>
            <a:ln>
              <a:solidFill>
                <a:schemeClr val="tx1"/>
              </a:solidFill>
            </a:ln>
          </p:spPr>
        </p:pic>
        <p:sp>
          <p:nvSpPr>
            <p:cNvPr id="4" name="文字方塊 3">
              <a:extLst>
                <a:ext uri="{FF2B5EF4-FFF2-40B4-BE49-F238E27FC236}">
                  <a16:creationId xmlns:a16="http://schemas.microsoft.com/office/drawing/2014/main" id="{7ADD7F72-D7D0-466C-9C60-9561FDB2EFCC}"/>
                </a:ext>
              </a:extLst>
            </p:cNvPr>
            <p:cNvSpPr txBox="1"/>
            <p:nvPr/>
          </p:nvSpPr>
          <p:spPr>
            <a:xfrm>
              <a:off x="6745356" y="2141621"/>
              <a:ext cx="371323" cy="369332"/>
            </a:xfrm>
            <a:prstGeom prst="rect">
              <a:avLst/>
            </a:prstGeom>
            <a:solidFill>
              <a:schemeClr val="bg1"/>
            </a:solidFill>
          </p:spPr>
          <p:txBody>
            <a:bodyPr wrap="square" rtlCol="0">
              <a:spAutoFit/>
            </a:bodyPr>
            <a:lstStyle/>
            <a:p>
              <a:endParaRPr lang="zh-TW" altLang="en-US" dirty="0"/>
            </a:p>
          </p:txBody>
        </p:sp>
      </p:gr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E8A090C-7D46-4DF8-A30F-5FFD21BFDE7B}"/>
                  </a:ext>
                </a:extLst>
              </p:cNvPr>
              <p:cNvSpPr>
                <a:spLocks noGrp="1"/>
              </p:cNvSpPr>
              <p:nvPr>
                <p:ph idx="1"/>
              </p:nvPr>
            </p:nvSpPr>
            <p:spPr>
              <a:xfrm>
                <a:off x="306806" y="1690688"/>
                <a:ext cx="7483642" cy="3508375"/>
              </a:xfrm>
            </p:spPr>
            <p:txBody>
              <a:bodyPr>
                <a:normAutofit/>
              </a:bodyPr>
              <a:lstStyle/>
              <a:p>
                <a:pPr marL="0" indent="0">
                  <a:buNone/>
                </a:pPr>
                <a:r>
                  <a:rPr lang="zh-TW" altLang="en-US" dirty="0"/>
                  <a:t>由於向量沒有空間資訊，欲得到向量終點座標</a:t>
                </a:r>
                <a:r>
                  <a:rPr lang="en-US" altLang="zh-TW" dirty="0"/>
                  <a:t>:</a:t>
                </a:r>
              </a:p>
              <a:p>
                <a14:m>
                  <m:oMath xmlns:m="http://schemas.openxmlformats.org/officeDocument/2006/math">
                    <m:r>
                      <m:rPr>
                        <m:sty m:val="p"/>
                      </m:rPr>
                      <a:rPr lang="en-US" altLang="zh-TW" b="0" i="0" smtClean="0">
                        <a:latin typeface="Cambria Math" panose="02040503050406030204" pitchFamily="18" charset="0"/>
                      </a:rPr>
                      <m:t>B</m:t>
                    </m:r>
                    <m:r>
                      <a:rPr lang="en-US" altLang="zh-TW" b="0" i="0" smtClean="0">
                        <a:latin typeface="Cambria Math" panose="02040503050406030204" pitchFamily="18" charset="0"/>
                      </a:rPr>
                      <m:t>′′</m:t>
                    </m:r>
                  </m:oMath>
                </a14:m>
                <a:r>
                  <a:rPr lang="zh-TW" altLang="en-US" dirty="0"/>
                  <a:t>點位置</a:t>
                </a:r>
                <a:endParaRPr lang="en-US" altLang="zh-TW" dirty="0"/>
              </a:p>
              <a:p>
                <a:pPr marL="0" indent="0">
                  <a:buNone/>
                </a:pPr>
                <a:r>
                  <a:rPr lang="en-US" altLang="zh-TW" dirty="0"/>
                  <a:t>	</a:t>
                </a:r>
                <a14:m>
                  <m:oMath xmlns:m="http://schemas.openxmlformats.org/officeDocument/2006/math">
                    <m:r>
                      <m:rPr>
                        <m:sty m:val="p"/>
                      </m:rPr>
                      <a:rPr lang="en-US" altLang="zh-TW" b="0" i="0" dirty="0" smtClean="0">
                        <a:latin typeface="Cambria Math" panose="02040503050406030204" pitchFamily="18" charset="0"/>
                      </a:rPr>
                      <m:t>A</m:t>
                    </m:r>
                    <m:d>
                      <m:dPr>
                        <m:ctrlPr>
                          <a:rPr lang="en-US" altLang="zh-TW" i="1" dirty="0" smtClean="0">
                            <a:latin typeface="Cambria Math" panose="02040503050406030204" pitchFamily="18" charset="0"/>
                          </a:rPr>
                        </m:ctrlPr>
                      </m:dPr>
                      <m:e>
                        <m:r>
                          <a:rPr lang="en-US" altLang="zh-TW" b="0" i="1" dirty="0" smtClean="0">
                            <a:latin typeface="Cambria Math" panose="02040503050406030204" pitchFamily="18" charset="0"/>
                          </a:rPr>
                          <m:t>−</m:t>
                        </m:r>
                        <m:r>
                          <a:rPr lang="zh-TW" altLang="en-US" i="1" dirty="0" smtClean="0">
                            <a:latin typeface="Cambria Math" panose="02040503050406030204" pitchFamily="18" charset="0"/>
                          </a:rPr>
                          <m:t>𝛿</m:t>
                        </m:r>
                        <m:r>
                          <a:rPr lang="en-US" altLang="zh-TW" b="0" i="1" dirty="0" smtClean="0">
                            <a:latin typeface="Cambria Math" panose="02040503050406030204" pitchFamily="18" charset="0"/>
                          </a:rPr>
                          <m:t>,0,0</m:t>
                        </m:r>
                      </m:e>
                    </m:d>
                    <m:r>
                      <a:rPr lang="en-US" altLang="zh-TW" b="0" i="1" dirty="0" smtClean="0">
                        <a:latin typeface="Cambria Math" panose="02040503050406030204" pitchFamily="18" charset="0"/>
                      </a:rPr>
                      <m:t>+</m:t>
                    </m:r>
                    <m:acc>
                      <m:accPr>
                        <m:chr m:val="⃑"/>
                        <m:ctrlPr>
                          <a:rPr lang="en-US" altLang="zh-TW" i="1">
                            <a:latin typeface="Cambria Math" panose="02040503050406030204" pitchFamily="18" charset="0"/>
                          </a:rPr>
                        </m:ctrlPr>
                      </m:accPr>
                      <m:e>
                        <m:r>
                          <m:rPr>
                            <m:sty m:val="p"/>
                          </m:rPr>
                          <a:rPr lang="en-US" altLang="zh-TW" b="0" i="0" smtClean="0">
                            <a:latin typeface="Cambria Math" panose="02040503050406030204" pitchFamily="18" charset="0"/>
                          </a:rPr>
                          <m:t>AB</m:t>
                        </m:r>
                        <m:r>
                          <a:rPr lang="en-US" altLang="zh-TW" b="0" i="0" smtClean="0">
                            <a:latin typeface="Cambria Math" panose="02040503050406030204" pitchFamily="18" charset="0"/>
                          </a:rPr>
                          <m:t>′′</m:t>
                        </m:r>
                      </m:e>
                    </m:acc>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B</m:t>
                    </m:r>
                    <m:r>
                      <a:rPr lang="en-US" altLang="zh-TW" b="0" i="0"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𝐵</m:t>
                        </m:r>
                        <m:r>
                          <a:rPr lang="en-US" altLang="zh-TW" b="0" i="1" smtClean="0">
                            <a:latin typeface="Cambria Math" panose="02040503050406030204" pitchFamily="18" charset="0"/>
                          </a:rPr>
                          <m:t>′′</m:t>
                        </m:r>
                      </m:e>
                      <m:sub>
                        <m:r>
                          <a:rPr lang="en-US" altLang="zh-TW" b="0" i="1" smtClean="0">
                            <a:latin typeface="Cambria Math" panose="02040503050406030204" pitchFamily="18" charset="0"/>
                          </a:rPr>
                          <m:t>𝑥</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i="1">
                            <a:latin typeface="Cambria Math" panose="02040503050406030204" pitchFamily="18" charset="0"/>
                          </a:rPr>
                          <m:t>𝐵</m:t>
                        </m:r>
                        <m:r>
                          <a:rPr lang="en-US" altLang="zh-TW" i="1">
                            <a:latin typeface="Cambria Math" panose="02040503050406030204" pitchFamily="18" charset="0"/>
                          </a:rPr>
                          <m:t>′′</m:t>
                        </m:r>
                      </m:e>
                      <m:sub>
                        <m:r>
                          <a:rPr lang="en-US" altLang="zh-TW" b="0" i="1" smtClean="0">
                            <a:latin typeface="Cambria Math" panose="02040503050406030204" pitchFamily="18" charset="0"/>
                          </a:rPr>
                          <m:t>𝑦</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i="1">
                            <a:latin typeface="Cambria Math" panose="02040503050406030204" pitchFamily="18" charset="0"/>
                          </a:rPr>
                          <m:t>𝐵</m:t>
                        </m:r>
                        <m:r>
                          <a:rPr lang="en-US" altLang="zh-TW" i="1">
                            <a:latin typeface="Cambria Math" panose="02040503050406030204" pitchFamily="18" charset="0"/>
                          </a:rPr>
                          <m:t>′′</m:t>
                        </m:r>
                      </m:e>
                      <m:sub>
                        <m:r>
                          <a:rPr lang="en-US" altLang="zh-TW" b="0" i="1" smtClean="0">
                            <a:latin typeface="Cambria Math" panose="02040503050406030204" pitchFamily="18" charset="0"/>
                          </a:rPr>
                          <m:t>𝑧</m:t>
                        </m:r>
                      </m:sub>
                    </m:sSub>
                    <m:r>
                      <a:rPr lang="en-US" altLang="zh-TW" b="0" i="0" smtClean="0">
                        <a:latin typeface="Cambria Math" panose="02040503050406030204" pitchFamily="18" charset="0"/>
                      </a:rPr>
                      <m:t>)</m:t>
                    </m:r>
                  </m:oMath>
                </a14:m>
                <a:endParaRPr lang="en-US" altLang="zh-TW" dirty="0"/>
              </a:p>
              <a:p>
                <a14:m>
                  <m:oMath xmlns:m="http://schemas.openxmlformats.org/officeDocument/2006/math">
                    <m:r>
                      <m:rPr>
                        <m:sty m:val="p"/>
                      </m:rPr>
                      <a:rPr lang="en-US" altLang="zh-TW" b="0" i="0" smtClean="0">
                        <a:latin typeface="Cambria Math" panose="02040503050406030204" pitchFamily="18" charset="0"/>
                      </a:rPr>
                      <m:t>C</m:t>
                    </m:r>
                    <m:r>
                      <a:rPr lang="en-US" altLang="zh-TW" b="0" i="0" smtClean="0">
                        <a:latin typeface="Cambria Math" panose="02040503050406030204" pitchFamily="18" charset="0"/>
                      </a:rPr>
                      <m:t>′′</m:t>
                    </m:r>
                  </m:oMath>
                </a14:m>
                <a:r>
                  <a:rPr lang="zh-TW" altLang="en-US" dirty="0"/>
                  <a:t>點位置</a:t>
                </a:r>
                <a:endParaRPr lang="en-US" altLang="zh-TW" dirty="0"/>
              </a:p>
              <a:p>
                <a:pPr marL="0" indent="0">
                  <a:buNone/>
                </a:pPr>
                <a:r>
                  <a:rPr lang="en-US" altLang="zh-TW" dirty="0"/>
                  <a:t>	</a:t>
                </a:r>
                <a14:m>
                  <m:oMath xmlns:m="http://schemas.openxmlformats.org/officeDocument/2006/math">
                    <m:r>
                      <m:rPr>
                        <m:sty m:val="p"/>
                      </m:rPr>
                      <a:rPr lang="en-US" altLang="zh-TW" dirty="0">
                        <a:latin typeface="Cambria Math" panose="02040503050406030204" pitchFamily="18" charset="0"/>
                      </a:rPr>
                      <m:t>B</m:t>
                    </m:r>
                    <m:d>
                      <m:dPr>
                        <m:ctrlPr>
                          <a:rPr lang="en-US" altLang="zh-TW" i="1" dirty="0" smtClean="0">
                            <a:latin typeface="Cambria Math" panose="02040503050406030204" pitchFamily="18" charset="0"/>
                          </a:rPr>
                        </m:ctrlPr>
                      </m:dPr>
                      <m:e>
                        <m:r>
                          <a:rPr lang="en-US" altLang="zh-TW" b="0" i="1" dirty="0" smtClean="0">
                            <a:latin typeface="Cambria Math" panose="02040503050406030204" pitchFamily="18" charset="0"/>
                          </a:rPr>
                          <m:t>0,0,0</m:t>
                        </m:r>
                      </m:e>
                    </m:d>
                    <m:r>
                      <a:rPr lang="en-US" altLang="zh-TW" b="0" i="1" dirty="0" smtClean="0">
                        <a:latin typeface="Cambria Math" panose="02040503050406030204" pitchFamily="18" charset="0"/>
                      </a:rPr>
                      <m:t>+</m:t>
                    </m:r>
                    <m:acc>
                      <m:accPr>
                        <m:chr m:val="⃑"/>
                        <m:ctrlPr>
                          <a:rPr lang="en-US" altLang="zh-TW" i="1">
                            <a:latin typeface="Cambria Math" panose="02040503050406030204" pitchFamily="18" charset="0"/>
                          </a:rPr>
                        </m:ctrlPr>
                      </m:accPr>
                      <m:e>
                        <m:r>
                          <m:rPr>
                            <m:sty m:val="p"/>
                          </m:rPr>
                          <a:rPr lang="en-US" altLang="zh-TW" b="0" i="0" smtClean="0">
                            <a:latin typeface="Cambria Math" panose="02040503050406030204" pitchFamily="18" charset="0"/>
                          </a:rPr>
                          <m:t>BC</m:t>
                        </m:r>
                        <m:r>
                          <a:rPr lang="en-US" altLang="zh-TW" b="0" i="1" smtClean="0">
                            <a:latin typeface="Cambria Math" panose="02040503050406030204" pitchFamily="18" charset="0"/>
                          </a:rPr>
                          <m:t>′′</m:t>
                        </m:r>
                      </m:e>
                    </m:acc>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C</m:t>
                    </m:r>
                    <m:r>
                      <a:rPr lang="en-US" altLang="zh-TW" b="0" i="0"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r>
                          <a:rPr lang="en-US" altLang="zh-TW" b="0" i="1" smtClean="0">
                            <a:latin typeface="Cambria Math" panose="02040503050406030204" pitchFamily="18" charset="0"/>
                          </a:rPr>
                          <m:t>′′</m:t>
                        </m:r>
                      </m:e>
                      <m:sub>
                        <m:r>
                          <a:rPr lang="en-US" altLang="zh-TW" b="0" i="1" smtClean="0">
                            <a:latin typeface="Cambria Math" panose="02040503050406030204" pitchFamily="18" charset="0"/>
                          </a:rPr>
                          <m:t>𝑥</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r>
                          <a:rPr lang="en-US" altLang="zh-TW" b="0" i="1" smtClean="0">
                            <a:latin typeface="Cambria Math" panose="02040503050406030204" pitchFamily="18" charset="0"/>
                          </a:rPr>
                          <m:t>′′</m:t>
                        </m:r>
                      </m:e>
                      <m:sub>
                        <m:r>
                          <a:rPr lang="en-US" altLang="zh-TW" b="0" i="1" smtClean="0">
                            <a:latin typeface="Cambria Math" panose="02040503050406030204" pitchFamily="18" charset="0"/>
                          </a:rPr>
                          <m:t>𝑦</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r>
                          <a:rPr lang="en-US" altLang="zh-TW" b="0" i="1" smtClean="0">
                            <a:latin typeface="Cambria Math" panose="02040503050406030204" pitchFamily="18" charset="0"/>
                          </a:rPr>
                          <m:t>"</m:t>
                        </m:r>
                      </m:e>
                      <m:sub>
                        <m:r>
                          <a:rPr lang="en-US" altLang="zh-TW" b="0" i="1" smtClean="0">
                            <a:latin typeface="Cambria Math" panose="02040503050406030204" pitchFamily="18" charset="0"/>
                          </a:rPr>
                          <m:t>𝑧</m:t>
                        </m:r>
                      </m:sub>
                    </m:sSub>
                    <m:r>
                      <a:rPr lang="en-US" altLang="zh-TW" b="0" i="0" smtClean="0">
                        <a:latin typeface="Cambria Math" panose="02040503050406030204" pitchFamily="18" charset="0"/>
                      </a:rPr>
                      <m:t>)</m:t>
                    </m:r>
                  </m:oMath>
                </a14:m>
                <a:endParaRPr lang="en-US" altLang="zh-TW" dirty="0"/>
              </a:p>
              <a:p>
                <a:pPr marL="0" indent="0">
                  <a:buNone/>
                </a:pPr>
                <a:endParaRPr lang="zh-TW" altLang="en-US" dirty="0"/>
              </a:p>
            </p:txBody>
          </p:sp>
        </mc:Choice>
        <mc:Fallback xmlns="">
          <p:sp>
            <p:nvSpPr>
              <p:cNvPr id="3" name="內容版面配置區 2">
                <a:extLst>
                  <a:ext uri="{FF2B5EF4-FFF2-40B4-BE49-F238E27FC236}">
                    <a16:creationId xmlns:a16="http://schemas.microsoft.com/office/drawing/2014/main" id="{EE8A090C-7D46-4DF8-A30F-5FFD21BFDE7B}"/>
                  </a:ext>
                </a:extLst>
              </p:cNvPr>
              <p:cNvSpPr>
                <a:spLocks noGrp="1" noRot="1" noChangeAspect="1" noMove="1" noResize="1" noEditPoints="1" noAdjustHandles="1" noChangeArrowheads="1" noChangeShapeType="1" noTextEdit="1"/>
              </p:cNvSpPr>
              <p:nvPr>
                <p:ph idx="1"/>
              </p:nvPr>
            </p:nvSpPr>
            <p:spPr>
              <a:xfrm>
                <a:off x="306806" y="1690688"/>
                <a:ext cx="7483642" cy="3508375"/>
              </a:xfrm>
              <a:blipFill>
                <a:blip r:embed="rId5"/>
                <a:stretch>
                  <a:fillRect l="-1629" t="-2951" r="-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95168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520A0AA0-C769-4B1C-8693-D51A7034BB7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146524" y="328133"/>
            <a:ext cx="4840255" cy="2885537"/>
          </a:xfrm>
          <a:prstGeom prst="rect">
            <a:avLst/>
          </a:prstGeom>
          <a:ln>
            <a:solidFill>
              <a:schemeClr val="tx1"/>
            </a:solidFill>
          </a:ln>
          <a:effectLst>
            <a:outerShdw blurRad="50800" dist="38100" dir="2700000" algn="tl" rotWithShape="0">
              <a:prstClr val="black">
                <a:alpha val="40000"/>
              </a:prstClr>
            </a:outerShdw>
          </a:effectLst>
        </p:spPr>
      </p:pic>
      <p:sp>
        <p:nvSpPr>
          <p:cNvPr id="2" name="標題 1">
            <a:extLst>
              <a:ext uri="{FF2B5EF4-FFF2-40B4-BE49-F238E27FC236}">
                <a16:creationId xmlns:a16="http://schemas.microsoft.com/office/drawing/2014/main" id="{D87D2BD3-5399-4FD4-975C-EC7B4A2A6CBA}"/>
              </a:ext>
            </a:extLst>
          </p:cNvPr>
          <p:cNvSpPr>
            <a:spLocks noGrp="1"/>
          </p:cNvSpPr>
          <p:nvPr>
            <p:ph type="title"/>
          </p:nvPr>
        </p:nvSpPr>
        <p:spPr/>
        <p:txBody>
          <a:bodyPr/>
          <a:lstStyle/>
          <a:p>
            <a:r>
              <a:rPr lang="zh-TW" altLang="en-US" dirty="0"/>
              <a:t>計算流程</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DE95821C-283D-4501-BE08-78FB618DE974}"/>
                  </a:ext>
                </a:extLst>
              </p:cNvPr>
              <p:cNvSpPr>
                <a:spLocks noGrp="1"/>
              </p:cNvSpPr>
              <p:nvPr>
                <p:ph idx="1"/>
              </p:nvPr>
            </p:nvSpPr>
            <p:spPr>
              <a:xfrm>
                <a:off x="205221" y="1837656"/>
                <a:ext cx="9081837" cy="4602069"/>
              </a:xfrm>
            </p:spPr>
            <p:txBody>
              <a:bodyPr>
                <a:normAutofit fontScale="92500"/>
              </a:bodyPr>
              <a:lstStyle/>
              <a:p>
                <a:pPr marL="0" indent="0">
                  <a:buNone/>
                </a:pPr>
                <a:r>
                  <a:rPr lang="zh-TW" altLang="en-US" dirty="0"/>
                  <a:t>空間中兩點連線向量</a:t>
                </a:r>
                <a:endParaRPr lang="en-US" altLang="zh-TW" dirty="0"/>
              </a:p>
              <a:p>
                <a:pPr marL="0" indent="0">
                  <a:buNone/>
                </a:pPr>
                <a14:m>
                  <m:oMathPara xmlns:m="http://schemas.openxmlformats.org/officeDocument/2006/math">
                    <m:oMathParaPr>
                      <m:jc m:val="left"/>
                    </m:oMathParaPr>
                    <m:oMath xmlns:m="http://schemas.openxmlformats.org/officeDocument/2006/math">
                      <m:acc>
                        <m:accPr>
                          <m:chr m:val="⃑"/>
                          <m:ctrlPr>
                            <a:rPr lang="zh-TW" altLang="en-US" sz="3000" i="1" smtClean="0">
                              <a:latin typeface="Cambria Math" panose="02040503050406030204" pitchFamily="18" charset="0"/>
                            </a:rPr>
                          </m:ctrlPr>
                        </m:accPr>
                        <m:e>
                          <m:sSup>
                            <m:sSupPr>
                              <m:ctrlPr>
                                <a:rPr lang="en-US" altLang="zh-TW" sz="3000" b="0" i="1" smtClean="0">
                                  <a:latin typeface="Cambria Math" panose="02040503050406030204" pitchFamily="18" charset="0"/>
                                </a:rPr>
                              </m:ctrlPr>
                            </m:sSupPr>
                            <m:e>
                              <m:r>
                                <m:rPr>
                                  <m:sty m:val="p"/>
                                </m:rPr>
                                <a:rPr lang="en-US" altLang="zh-TW" sz="3000" b="0" i="0" smtClean="0">
                                  <a:latin typeface="Cambria Math" panose="02040503050406030204" pitchFamily="18" charset="0"/>
                                </a:rPr>
                                <m:t>B</m:t>
                              </m:r>
                            </m:e>
                            <m:sup>
                              <m:r>
                                <a:rPr lang="en-US" altLang="zh-TW" sz="3000" b="0" i="0" smtClean="0">
                                  <a:latin typeface="Cambria Math" panose="02040503050406030204" pitchFamily="18" charset="0"/>
                                </a:rPr>
                                <m:t>′′</m:t>
                              </m:r>
                            </m:sup>
                          </m:sSup>
                          <m:r>
                            <m:rPr>
                              <m:sty m:val="p"/>
                            </m:rPr>
                            <a:rPr lang="en-US" altLang="zh-TW" sz="3000" b="0" i="0" smtClean="0">
                              <a:latin typeface="Cambria Math" panose="02040503050406030204" pitchFamily="18" charset="0"/>
                            </a:rPr>
                            <m:t>C</m:t>
                          </m:r>
                          <m:r>
                            <a:rPr lang="en-US" altLang="zh-TW" sz="3000" b="0" i="0" smtClean="0">
                              <a:latin typeface="Cambria Math" panose="02040503050406030204" pitchFamily="18" charset="0"/>
                            </a:rPr>
                            <m:t>′′</m:t>
                          </m:r>
                        </m:e>
                      </m:acc>
                      <m:r>
                        <a:rPr lang="en-US" altLang="zh-TW" sz="3000" i="1" dirty="0" smtClean="0">
                          <a:latin typeface="Cambria Math" panose="02040503050406030204" pitchFamily="18" charset="0"/>
                        </a:rPr>
                        <m:t>=</m:t>
                      </m:r>
                      <m:r>
                        <a:rPr lang="en-US" altLang="zh-TW" sz="3000" b="0" i="1" dirty="0" smtClean="0">
                          <a:latin typeface="Cambria Math" panose="02040503050406030204" pitchFamily="18" charset="0"/>
                        </a:rPr>
                        <m:t>(</m:t>
                      </m:r>
                      <m:sSub>
                        <m:sSubPr>
                          <m:ctrlPr>
                            <a:rPr lang="en-US" altLang="zh-TW" sz="3000" b="0" i="1" dirty="0" smtClean="0">
                              <a:latin typeface="Cambria Math" panose="02040503050406030204" pitchFamily="18" charset="0"/>
                            </a:rPr>
                          </m:ctrlPr>
                        </m:sSubPr>
                        <m:e>
                          <m:r>
                            <a:rPr lang="en-US" altLang="zh-TW" sz="3000" b="0" i="1" dirty="0" smtClean="0">
                              <a:latin typeface="Cambria Math" panose="02040503050406030204" pitchFamily="18" charset="0"/>
                            </a:rPr>
                            <m:t>𝐶</m:t>
                          </m:r>
                          <m:r>
                            <a:rPr lang="en-US" altLang="zh-TW" sz="3000" b="0" i="1" dirty="0" smtClean="0">
                              <a:latin typeface="Cambria Math" panose="02040503050406030204" pitchFamily="18" charset="0"/>
                            </a:rPr>
                            <m:t>′′</m:t>
                          </m:r>
                        </m:e>
                        <m:sub>
                          <m:r>
                            <a:rPr lang="en-US" altLang="zh-TW" sz="3000" b="0" i="1" dirty="0" smtClean="0">
                              <a:latin typeface="Cambria Math" panose="02040503050406030204" pitchFamily="18" charset="0"/>
                            </a:rPr>
                            <m:t>𝑥</m:t>
                          </m:r>
                        </m:sub>
                      </m:sSub>
                      <m:r>
                        <a:rPr lang="en-US" altLang="zh-TW" sz="3000" b="0" i="1" dirty="0" smtClean="0">
                          <a:latin typeface="Cambria Math" panose="02040503050406030204" pitchFamily="18" charset="0"/>
                        </a:rPr>
                        <m:t>,</m:t>
                      </m:r>
                      <m:sSub>
                        <m:sSubPr>
                          <m:ctrlPr>
                            <a:rPr lang="en-US" altLang="zh-TW" sz="3000" b="0" i="1" dirty="0" smtClean="0">
                              <a:latin typeface="Cambria Math" panose="02040503050406030204" pitchFamily="18" charset="0"/>
                            </a:rPr>
                          </m:ctrlPr>
                        </m:sSubPr>
                        <m:e>
                          <m:r>
                            <a:rPr lang="en-US" altLang="zh-TW" sz="3000" b="0" i="1" dirty="0" smtClean="0">
                              <a:latin typeface="Cambria Math" panose="02040503050406030204" pitchFamily="18" charset="0"/>
                            </a:rPr>
                            <m:t>𝐶</m:t>
                          </m:r>
                          <m:r>
                            <a:rPr lang="en-US" altLang="zh-TW" sz="3000" b="0" i="1" dirty="0" smtClean="0">
                              <a:latin typeface="Cambria Math" panose="02040503050406030204" pitchFamily="18" charset="0"/>
                            </a:rPr>
                            <m:t>′′</m:t>
                          </m:r>
                        </m:e>
                        <m:sub>
                          <m:r>
                            <a:rPr lang="en-US" altLang="zh-TW" sz="3000" b="0" i="1" dirty="0" smtClean="0">
                              <a:latin typeface="Cambria Math" panose="02040503050406030204" pitchFamily="18" charset="0"/>
                            </a:rPr>
                            <m:t>𝑦</m:t>
                          </m:r>
                        </m:sub>
                      </m:sSub>
                      <m:r>
                        <a:rPr lang="en-US" altLang="zh-TW" sz="3000" b="0" i="1" dirty="0" smtClean="0">
                          <a:latin typeface="Cambria Math" panose="02040503050406030204" pitchFamily="18" charset="0"/>
                        </a:rPr>
                        <m:t>,</m:t>
                      </m:r>
                      <m:sSub>
                        <m:sSubPr>
                          <m:ctrlPr>
                            <a:rPr lang="en-US" altLang="zh-TW" sz="3000" b="0" i="1" dirty="0" smtClean="0">
                              <a:latin typeface="Cambria Math" panose="02040503050406030204" pitchFamily="18" charset="0"/>
                            </a:rPr>
                          </m:ctrlPr>
                        </m:sSubPr>
                        <m:e>
                          <m:r>
                            <a:rPr lang="en-US" altLang="zh-TW" sz="3000" b="0" i="1" dirty="0" smtClean="0">
                              <a:latin typeface="Cambria Math" panose="02040503050406030204" pitchFamily="18" charset="0"/>
                            </a:rPr>
                            <m:t>𝐶</m:t>
                          </m:r>
                          <m:r>
                            <a:rPr lang="en-US" altLang="zh-TW" sz="3000" b="0" i="1" dirty="0" smtClean="0">
                              <a:latin typeface="Cambria Math" panose="02040503050406030204" pitchFamily="18" charset="0"/>
                            </a:rPr>
                            <m:t>′′</m:t>
                          </m:r>
                        </m:e>
                        <m:sub>
                          <m:r>
                            <a:rPr lang="en-US" altLang="zh-TW" sz="3000" b="0" i="1" dirty="0" smtClean="0">
                              <a:latin typeface="Cambria Math" panose="02040503050406030204" pitchFamily="18" charset="0"/>
                            </a:rPr>
                            <m:t>𝑧</m:t>
                          </m:r>
                        </m:sub>
                      </m:sSub>
                      <m:r>
                        <a:rPr lang="en-US" altLang="zh-TW" sz="3000" b="0" i="1" dirty="0" smtClean="0">
                          <a:latin typeface="Cambria Math" panose="02040503050406030204" pitchFamily="18" charset="0"/>
                        </a:rPr>
                        <m:t>)−(</m:t>
                      </m:r>
                      <m:sSub>
                        <m:sSubPr>
                          <m:ctrlPr>
                            <a:rPr lang="en-US" altLang="zh-TW" sz="3000" i="1">
                              <a:latin typeface="Cambria Math" panose="02040503050406030204" pitchFamily="18" charset="0"/>
                            </a:rPr>
                          </m:ctrlPr>
                        </m:sSubPr>
                        <m:e>
                          <m:r>
                            <a:rPr lang="en-US" altLang="zh-TW" sz="3000" i="1">
                              <a:latin typeface="Cambria Math" panose="02040503050406030204" pitchFamily="18" charset="0"/>
                            </a:rPr>
                            <m:t>𝐵</m:t>
                          </m:r>
                          <m:r>
                            <a:rPr lang="en-US" altLang="zh-TW" sz="3000" i="1">
                              <a:latin typeface="Cambria Math" panose="02040503050406030204" pitchFamily="18" charset="0"/>
                            </a:rPr>
                            <m:t>′′</m:t>
                          </m:r>
                        </m:e>
                        <m:sub>
                          <m:r>
                            <a:rPr lang="en-US" altLang="zh-TW" sz="3000" i="1">
                              <a:latin typeface="Cambria Math" panose="02040503050406030204" pitchFamily="18" charset="0"/>
                            </a:rPr>
                            <m:t>𝑥</m:t>
                          </m:r>
                        </m:sub>
                      </m:sSub>
                      <m:r>
                        <a:rPr lang="en-US" altLang="zh-TW" sz="3000" i="1">
                          <a:latin typeface="Cambria Math" panose="02040503050406030204" pitchFamily="18" charset="0"/>
                        </a:rPr>
                        <m:t>,</m:t>
                      </m:r>
                      <m:sSub>
                        <m:sSubPr>
                          <m:ctrlPr>
                            <a:rPr lang="en-US" altLang="zh-TW" sz="3000" i="1">
                              <a:latin typeface="Cambria Math" panose="02040503050406030204" pitchFamily="18" charset="0"/>
                            </a:rPr>
                          </m:ctrlPr>
                        </m:sSubPr>
                        <m:e>
                          <m:r>
                            <a:rPr lang="en-US" altLang="zh-TW" sz="3000" i="1">
                              <a:latin typeface="Cambria Math" panose="02040503050406030204" pitchFamily="18" charset="0"/>
                            </a:rPr>
                            <m:t>𝐵</m:t>
                          </m:r>
                          <m:r>
                            <a:rPr lang="en-US" altLang="zh-TW" sz="3000" i="1">
                              <a:latin typeface="Cambria Math" panose="02040503050406030204" pitchFamily="18" charset="0"/>
                            </a:rPr>
                            <m:t>′′</m:t>
                          </m:r>
                        </m:e>
                        <m:sub>
                          <m:r>
                            <a:rPr lang="en-US" altLang="zh-TW" sz="3000" i="1">
                              <a:latin typeface="Cambria Math" panose="02040503050406030204" pitchFamily="18" charset="0"/>
                            </a:rPr>
                            <m:t>𝑦</m:t>
                          </m:r>
                        </m:sub>
                      </m:sSub>
                      <m:r>
                        <a:rPr lang="en-US" altLang="zh-TW" sz="3000" i="1">
                          <a:latin typeface="Cambria Math" panose="02040503050406030204" pitchFamily="18" charset="0"/>
                        </a:rPr>
                        <m:t>,</m:t>
                      </m:r>
                      <m:sSub>
                        <m:sSubPr>
                          <m:ctrlPr>
                            <a:rPr lang="en-US" altLang="zh-TW" sz="3000" i="1">
                              <a:latin typeface="Cambria Math" panose="02040503050406030204" pitchFamily="18" charset="0"/>
                            </a:rPr>
                          </m:ctrlPr>
                        </m:sSubPr>
                        <m:e>
                          <m:r>
                            <a:rPr lang="en-US" altLang="zh-TW" sz="3000" i="1">
                              <a:latin typeface="Cambria Math" panose="02040503050406030204" pitchFamily="18" charset="0"/>
                            </a:rPr>
                            <m:t>𝐵</m:t>
                          </m:r>
                          <m:r>
                            <a:rPr lang="en-US" altLang="zh-TW" sz="3000" i="1">
                              <a:latin typeface="Cambria Math" panose="02040503050406030204" pitchFamily="18" charset="0"/>
                            </a:rPr>
                            <m:t>′′</m:t>
                          </m:r>
                        </m:e>
                        <m:sub>
                          <m:r>
                            <a:rPr lang="en-US" altLang="zh-TW" sz="3000" i="1">
                              <a:latin typeface="Cambria Math" panose="02040503050406030204" pitchFamily="18" charset="0"/>
                            </a:rPr>
                            <m:t>𝑧</m:t>
                          </m:r>
                        </m:sub>
                      </m:sSub>
                      <m:r>
                        <a:rPr lang="en-US" altLang="zh-TW" sz="3000">
                          <a:latin typeface="Cambria Math" panose="02040503050406030204" pitchFamily="18" charset="0"/>
                        </a:rPr>
                        <m:t>)</m:t>
                      </m:r>
                    </m:oMath>
                  </m:oMathPara>
                </a14:m>
                <a:endParaRPr lang="en-US" altLang="zh-TW" sz="3000" dirty="0"/>
              </a:p>
              <a:p>
                <a:pPr marL="0" indent="0">
                  <a:buNone/>
                </a:pPr>
                <a:r>
                  <a:rPr lang="zh-TW" altLang="en-US" dirty="0"/>
                  <a:t>欲證明</a:t>
                </a:r>
                <a14:m>
                  <m:oMath xmlns:m="http://schemas.openxmlformats.org/officeDocument/2006/math">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oMath>
                </a14:m>
                <a:r>
                  <a:rPr lang="zh-TW" altLang="en-US" dirty="0"/>
                  <a:t>與</a:t>
                </a:r>
                <a:r>
                  <a:rPr lang="en-US" altLang="zh-TW" dirty="0"/>
                  <a:t>C</a:t>
                </a:r>
                <a:r>
                  <a:rPr lang="zh-TW" altLang="en-US" dirty="0"/>
                  <a:t>點到</a:t>
                </a:r>
                <a:r>
                  <a:rPr lang="en-US" altLang="zh-TW" dirty="0"/>
                  <a:t>x</a:t>
                </a:r>
                <a:r>
                  <a:rPr lang="zh-TW" altLang="en-US" dirty="0"/>
                  <a:t>軸距離為半徑形成</a:t>
                </a:r>
                <a:endParaRPr lang="en-US" altLang="zh-TW" dirty="0"/>
              </a:p>
              <a:p>
                <a:pPr marL="0" indent="0">
                  <a:buNone/>
                </a:pPr>
                <a:r>
                  <a:rPr lang="zh-TW" altLang="en-US" dirty="0"/>
                  <a:t>的圓之法向量</a:t>
                </a:r>
                <a:r>
                  <a:rPr lang="en-US" altLang="zh-TW" dirty="0"/>
                  <a:t>(</a:t>
                </a:r>
                <a:r>
                  <a:rPr lang="zh-TW" altLang="en-US" dirty="0"/>
                  <a:t>即</a:t>
                </a:r>
                <a:r>
                  <a:rPr lang="en-US" altLang="zh-TW" dirty="0"/>
                  <a:t>x</a:t>
                </a:r>
                <a:r>
                  <a:rPr lang="zh-TW" altLang="en-US" dirty="0"/>
                  <a:t>軸</a:t>
                </a:r>
                <a:r>
                  <a:rPr lang="en-US" altLang="zh-TW" dirty="0"/>
                  <a:t>)</a:t>
                </a:r>
                <a:r>
                  <a:rPr lang="zh-TW" altLang="en-US" dirty="0"/>
                  <a:t>單位向量相同</a:t>
                </a:r>
                <a:r>
                  <a:rPr lang="en-US" altLang="zh-TW" dirty="0"/>
                  <a:t>:</a:t>
                </a:r>
              </a:p>
              <a:p>
                <a:pPr marL="0" indent="0">
                  <a:buNone/>
                </a:pPr>
                <a14:m>
                  <m:oMathPara xmlns:m="http://schemas.openxmlformats.org/officeDocument/2006/math">
                    <m:oMathParaPr>
                      <m:jc m:val="centerGroup"/>
                    </m:oMathParaPr>
                    <m:oMath xmlns:m="http://schemas.openxmlformats.org/officeDocument/2006/math">
                      <m:r>
                        <a:rPr lang="en-US" altLang="zh-TW" i="1" dirty="0">
                          <a:latin typeface="Cambria Math" panose="02040503050406030204" pitchFamily="18" charset="0"/>
                        </a:rPr>
                        <m:t>|</m:t>
                      </m:r>
                      <m:r>
                        <a:rPr lang="en-US" altLang="zh-TW" b="0" i="1" dirty="0" smtClean="0">
                          <a:latin typeface="Cambria Math" panose="02040503050406030204" pitchFamily="18" charset="0"/>
                        </a:rPr>
                        <m:t>|</m:t>
                      </m:r>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r>
                        <a:rPr lang="en-US" altLang="zh-TW" b="0" i="1" smtClean="0">
                          <a:latin typeface="Cambria Math" panose="02040503050406030204" pitchFamily="18" charset="0"/>
                        </a:rPr>
                        <m:t>|</m:t>
                      </m:r>
                      <m:r>
                        <a:rPr lang="en-US" altLang="zh-TW" i="1" smtClean="0">
                          <a:latin typeface="Cambria Math" panose="02040503050406030204" pitchFamily="18" charset="0"/>
                        </a:rPr>
                        <m:t>|</m:t>
                      </m:r>
                      <m:r>
                        <a:rPr lang="en-US" altLang="zh-TW" i="1">
                          <a:latin typeface="Cambria Math" panose="02040503050406030204" pitchFamily="18" charset="0"/>
                        </a:rPr>
                        <m:t>=</m:t>
                      </m:r>
                      <m:rad>
                        <m:radPr>
                          <m:degHide m:val="on"/>
                          <m:ctrlPr>
                            <a:rPr lang="en-US" altLang="zh-TW" i="1" smtClean="0">
                              <a:latin typeface="Cambria Math" panose="02040503050406030204" pitchFamily="18" charset="0"/>
                            </a:rPr>
                          </m:ctrlPr>
                        </m:radPr>
                        <m:deg/>
                        <m:e>
                          <m:sSubSup>
                            <m:sSubSupPr>
                              <m:ctrlPr>
                                <a:rPr lang="en-US" altLang="zh-TW" i="1">
                                  <a:latin typeface="Cambria Math" panose="02040503050406030204" pitchFamily="18" charset="0"/>
                                </a:rPr>
                              </m:ctrlPr>
                            </m:sSubSupPr>
                            <m:e>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e>
                            <m:sub>
                              <m:r>
                                <a:rPr lang="en-US" altLang="zh-TW" b="0" i="1" smtClean="0">
                                  <a:latin typeface="Cambria Math" panose="02040503050406030204" pitchFamily="18" charset="0"/>
                                </a:rPr>
                                <m:t>𝑥</m:t>
                              </m:r>
                            </m:sub>
                            <m:sup>
                              <m:r>
                                <a:rPr lang="en-US" altLang="zh-TW" i="1" smtClean="0">
                                  <a:latin typeface="Cambria Math" panose="02040503050406030204" pitchFamily="18" charset="0"/>
                                </a:rPr>
                                <m:t>2</m:t>
                              </m:r>
                            </m:sup>
                          </m:sSubSup>
                          <m:r>
                            <a:rPr lang="en-US" altLang="zh-TW" b="0" i="1" smtClean="0">
                              <a:latin typeface="Cambria Math" panose="02040503050406030204" pitchFamily="18" charset="0"/>
                            </a:rPr>
                            <m:t>+</m:t>
                          </m:r>
                          <m:sSubSup>
                            <m:sSubSupPr>
                              <m:ctrlPr>
                                <a:rPr lang="en-US" altLang="zh-TW" i="1">
                                  <a:latin typeface="Cambria Math" panose="02040503050406030204" pitchFamily="18" charset="0"/>
                                </a:rPr>
                              </m:ctrlPr>
                            </m:sSubSupPr>
                            <m:e>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e>
                            <m:sub>
                              <m:r>
                                <a:rPr lang="en-US" altLang="zh-TW" b="0" i="1" smtClean="0">
                                  <a:latin typeface="Cambria Math" panose="02040503050406030204" pitchFamily="18" charset="0"/>
                                </a:rPr>
                                <m:t>𝑦</m:t>
                              </m:r>
                            </m:sub>
                            <m:sup>
                              <m:r>
                                <a:rPr lang="en-US" altLang="zh-TW" i="1" smtClean="0">
                                  <a:latin typeface="Cambria Math" panose="02040503050406030204" pitchFamily="18" charset="0"/>
                                </a:rPr>
                                <m:t>2</m:t>
                              </m:r>
                            </m:sup>
                          </m:sSubSup>
                          <m:r>
                            <a:rPr lang="en-US" altLang="zh-TW" b="0" i="1" smtClean="0">
                              <a:latin typeface="Cambria Math" panose="02040503050406030204" pitchFamily="18" charset="0"/>
                            </a:rPr>
                            <m:t>+</m:t>
                          </m:r>
                          <m:sSubSup>
                            <m:sSubSupPr>
                              <m:ctrlPr>
                                <a:rPr lang="en-US" altLang="zh-TW" i="1" smtClean="0">
                                  <a:latin typeface="Cambria Math" panose="02040503050406030204" pitchFamily="18" charset="0"/>
                                </a:rPr>
                              </m:ctrlPr>
                            </m:sSubSupPr>
                            <m:e>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e>
                            <m:sub>
                              <m:r>
                                <a:rPr lang="en-US" altLang="zh-TW" b="0" i="1" smtClean="0">
                                  <a:latin typeface="Cambria Math" panose="02040503050406030204" pitchFamily="18" charset="0"/>
                                </a:rPr>
                                <m:t>𝑧</m:t>
                              </m:r>
                            </m:sub>
                            <m:sup>
                              <m:r>
                                <a:rPr lang="en-US" altLang="zh-TW" i="1" smtClean="0">
                                  <a:latin typeface="Cambria Math" panose="02040503050406030204" pitchFamily="18" charset="0"/>
                                </a:rPr>
                                <m:t>2</m:t>
                              </m:r>
                            </m:sup>
                          </m:sSubSup>
                        </m:e>
                      </m:rad>
                    </m:oMath>
                  </m:oMathPara>
                </a14:m>
                <a:endParaRPr lang="en-US" altLang="zh-TW" dirty="0"/>
              </a:p>
              <a:p>
                <a:pPr marL="0" indent="0">
                  <a:buNone/>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𝑢</m:t>
                              </m:r>
                            </m:e>
                          </m:acc>
                        </m:e>
                        <m:sub>
                          <m:acc>
                            <m:accPr>
                              <m:chr m:val="⃑"/>
                              <m:ctrlPr>
                                <a:rPr lang="zh-TW" altLang="en-US" i="1">
                                  <a:latin typeface="Cambria Math" panose="02040503050406030204" pitchFamily="18" charset="0"/>
                                </a:rPr>
                              </m:ctrlPr>
                            </m:accPr>
                            <m:e>
                              <m:r>
                                <m:rPr>
                                  <m:sty m:val="p"/>
                                </m:rPr>
                                <a:rPr lang="en-US" altLang="zh-TW" i="1" smtClean="0">
                                  <a:latin typeface="Cambria Math" panose="02040503050406030204" pitchFamily="18" charset="0"/>
                                </a:rPr>
                                <m:t>B</m:t>
                              </m:r>
                              <m:r>
                                <a:rPr lang="en-US" altLang="zh-TW" i="1">
                                  <a:latin typeface="Cambria Math" panose="02040503050406030204" pitchFamily="18" charset="0"/>
                                </a:rPr>
                                <m:t>′</m:t>
                              </m:r>
                              <m:r>
                                <a:rPr lang="en-US" altLang="zh-TW" i="1" smtClean="0">
                                  <a:latin typeface="Cambria Math" panose="02040503050406030204" pitchFamily="18" charset="0"/>
                                </a:rPr>
                                <m:t>′</m:t>
                              </m:r>
                              <m:r>
                                <m:rPr>
                                  <m:sty m:val="p"/>
                                </m:rPr>
                                <a:rPr lang="en-US" altLang="zh-TW" i="1">
                                  <a:latin typeface="Cambria Math" panose="02040503050406030204" pitchFamily="18" charset="0"/>
                                </a:rPr>
                                <m:t>C</m:t>
                              </m:r>
                              <m:r>
                                <a:rPr lang="en-US" altLang="zh-TW" i="1" smtClean="0">
                                  <a:latin typeface="Cambria Math" panose="02040503050406030204" pitchFamily="18" charset="0"/>
                                </a:rPr>
                                <m:t>′</m:t>
                              </m:r>
                              <m:r>
                                <a:rPr lang="en-US" altLang="zh-TW" i="1">
                                  <a:latin typeface="Cambria Math" panose="02040503050406030204" pitchFamily="18" charset="0"/>
                                </a:rPr>
                                <m:t>′</m:t>
                              </m:r>
                            </m:e>
                          </m:acc>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num>
                        <m:den>
                          <m:r>
                            <a:rPr lang="en-US" altLang="zh-TW" i="1" dirty="0">
                              <a:latin typeface="Cambria Math" panose="02040503050406030204" pitchFamily="18" charset="0"/>
                            </a:rPr>
                            <m:t>||</m:t>
                          </m:r>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r>
                            <a:rPr lang="en-US" altLang="zh-TW" i="1">
                              <a:latin typeface="Cambria Math" panose="02040503050406030204" pitchFamily="18" charset="0"/>
                            </a:rPr>
                            <m:t>||</m:t>
                          </m:r>
                        </m:den>
                      </m:f>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f>
                            <m:fPr>
                              <m:ctrlPr>
                                <a:rPr lang="en-US" altLang="zh-TW" i="1">
                                  <a:latin typeface="Cambria Math" panose="02040503050406030204" pitchFamily="18" charset="0"/>
                                </a:rPr>
                              </m:ctrlPr>
                            </m:fPr>
                            <m:num>
                              <m:sSub>
                                <m:sSubPr>
                                  <m:ctrlPr>
                                    <a:rPr lang="en-US" altLang="zh-TW" i="1" smtClean="0">
                                      <a:latin typeface="Cambria Math" panose="02040503050406030204" pitchFamily="18" charset="0"/>
                                    </a:rPr>
                                  </m:ctrlPr>
                                </m:sSubPr>
                                <m:e>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e>
                                <m:sub>
                                  <m:r>
                                    <a:rPr lang="en-US" altLang="zh-TW" b="0" i="1" smtClean="0">
                                      <a:latin typeface="Cambria Math" panose="02040503050406030204" pitchFamily="18" charset="0"/>
                                    </a:rPr>
                                    <m:t>𝑥</m:t>
                                  </m:r>
                                </m:sub>
                              </m:sSub>
                            </m:num>
                            <m:den>
                              <m:d>
                                <m:dPr>
                                  <m:begChr m:val="|"/>
                                  <m:endChr m:val="|"/>
                                  <m:ctrlPr>
                                    <a:rPr lang="en-US" altLang="zh-TW" i="1" dirty="0">
                                      <a:latin typeface="Cambria Math" panose="02040503050406030204" pitchFamily="18" charset="0"/>
                                    </a:rPr>
                                  </m:ctrlPr>
                                </m:dPr>
                                <m:e>
                                  <m:d>
                                    <m:dPr>
                                      <m:begChr m:val="|"/>
                                      <m:endChr m:val="|"/>
                                      <m:ctrlPr>
                                        <a:rPr lang="en-US" altLang="zh-TW" i="1" dirty="0">
                                          <a:latin typeface="Cambria Math" panose="02040503050406030204" pitchFamily="18" charset="0"/>
                                        </a:rPr>
                                      </m:ctrlPr>
                                    </m:dPr>
                                    <m:e>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e>
                                  </m:d>
                                </m:e>
                              </m:d>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e>
                                <m:sub>
                                  <m:r>
                                    <a:rPr lang="en-US" altLang="zh-TW" b="0" i="1" smtClean="0">
                                      <a:latin typeface="Cambria Math" panose="02040503050406030204" pitchFamily="18" charset="0"/>
                                    </a:rPr>
                                    <m:t>𝑦</m:t>
                                  </m:r>
                                </m:sub>
                              </m:sSub>
                            </m:num>
                            <m:den>
                              <m:d>
                                <m:dPr>
                                  <m:begChr m:val="|"/>
                                  <m:endChr m:val="|"/>
                                  <m:ctrlPr>
                                    <a:rPr lang="en-US" altLang="zh-TW" i="1" dirty="0">
                                      <a:latin typeface="Cambria Math" panose="02040503050406030204" pitchFamily="18" charset="0"/>
                                    </a:rPr>
                                  </m:ctrlPr>
                                </m:dPr>
                                <m:e>
                                  <m:d>
                                    <m:dPr>
                                      <m:begChr m:val="|"/>
                                      <m:endChr m:val="|"/>
                                      <m:ctrlPr>
                                        <a:rPr lang="en-US" altLang="zh-TW" i="1" dirty="0">
                                          <a:latin typeface="Cambria Math" panose="02040503050406030204" pitchFamily="18" charset="0"/>
                                        </a:rPr>
                                      </m:ctrlPr>
                                    </m:dPr>
                                    <m:e>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e>
                                  </m:d>
                                </m:e>
                              </m:d>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e>
                                <m:sub>
                                  <m:r>
                                    <a:rPr lang="en-US" altLang="zh-TW" b="0" i="1" smtClean="0">
                                      <a:latin typeface="Cambria Math" panose="02040503050406030204" pitchFamily="18" charset="0"/>
                                    </a:rPr>
                                    <m:t>𝑧</m:t>
                                  </m:r>
                                </m:sub>
                              </m:sSub>
                            </m:num>
                            <m:den>
                              <m:d>
                                <m:dPr>
                                  <m:begChr m:val="|"/>
                                  <m:endChr m:val="|"/>
                                  <m:ctrlPr>
                                    <a:rPr lang="en-US" altLang="zh-TW" i="1" dirty="0">
                                      <a:latin typeface="Cambria Math" panose="02040503050406030204" pitchFamily="18" charset="0"/>
                                    </a:rPr>
                                  </m:ctrlPr>
                                </m:dPr>
                                <m:e>
                                  <m:d>
                                    <m:dPr>
                                      <m:begChr m:val="|"/>
                                      <m:endChr m:val="|"/>
                                      <m:ctrlPr>
                                        <a:rPr lang="en-US" altLang="zh-TW" i="1" dirty="0">
                                          <a:latin typeface="Cambria Math" panose="02040503050406030204" pitchFamily="18" charset="0"/>
                                        </a:rPr>
                                      </m:ctrlPr>
                                    </m:dPr>
                                    <m:e>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e>
                                  </m:d>
                                </m:e>
                              </m:d>
                            </m:den>
                          </m:f>
                        </m:e>
                      </m:d>
                      <m:r>
                        <a:rPr lang="en-US" altLang="zh-TW" b="0" i="0" smtClean="0">
                          <a:latin typeface="Cambria Math" panose="02040503050406030204" pitchFamily="18" charset="0"/>
                        </a:rPr>
                        <m:t>=(1,0,0)</m:t>
                      </m:r>
                    </m:oMath>
                  </m:oMathPara>
                </a14:m>
                <a:endParaRPr lang="en-US" altLang="zh-TW" dirty="0"/>
              </a:p>
              <a:p>
                <a:pPr marL="0" indent="0">
                  <a:buNone/>
                </a:pPr>
                <a:r>
                  <a:rPr lang="zh-TW" altLang="en-US" dirty="0"/>
                  <a:t>表示</a:t>
                </a:r>
                <a14:m>
                  <m:oMath xmlns:m="http://schemas.openxmlformats.org/officeDocument/2006/math">
                    <m:acc>
                      <m:accPr>
                        <m:chr m:val="⃑"/>
                        <m:ctrlPr>
                          <a:rPr lang="zh-TW" altLang="en-US" i="1">
                            <a:latin typeface="Cambria Math" panose="02040503050406030204" pitchFamily="18" charset="0"/>
                          </a:rPr>
                        </m:ctrlPr>
                      </m:accPr>
                      <m:e>
                        <m:sSup>
                          <m:sSupPr>
                            <m:ctrlPr>
                              <a:rPr lang="en-US" altLang="zh-TW" i="1">
                                <a:latin typeface="Cambria Math" panose="02040503050406030204" pitchFamily="18" charset="0"/>
                              </a:rPr>
                            </m:ctrlPr>
                          </m:sSupPr>
                          <m:e>
                            <m:r>
                              <m:rPr>
                                <m:sty m:val="p"/>
                              </m:rPr>
                              <a:rPr lang="en-US" altLang="zh-TW">
                                <a:latin typeface="Cambria Math" panose="02040503050406030204" pitchFamily="18" charset="0"/>
                              </a:rPr>
                              <m:t>B</m:t>
                            </m:r>
                          </m:e>
                          <m:sup>
                            <m:r>
                              <a:rPr lang="en-US" altLang="zh-TW">
                                <a:latin typeface="Cambria Math" panose="02040503050406030204" pitchFamily="18" charset="0"/>
                              </a:rPr>
                              <m:t>′′</m:t>
                            </m:r>
                          </m:sup>
                        </m:sSup>
                        <m:r>
                          <m:rPr>
                            <m:sty m:val="p"/>
                          </m:rPr>
                          <a:rPr lang="en-US" altLang="zh-TW">
                            <a:latin typeface="Cambria Math" panose="02040503050406030204" pitchFamily="18" charset="0"/>
                          </a:rPr>
                          <m:t>C</m:t>
                        </m:r>
                        <m:r>
                          <a:rPr lang="en-US" altLang="zh-TW">
                            <a:latin typeface="Cambria Math" panose="02040503050406030204" pitchFamily="18" charset="0"/>
                          </a:rPr>
                          <m:t>′′</m:t>
                        </m:r>
                      </m:e>
                    </m:acc>
                  </m:oMath>
                </a14:m>
                <a:r>
                  <a:rPr lang="zh-TW" altLang="en-US" dirty="0"/>
                  <a:t>與</a:t>
                </a:r>
                <a:r>
                  <a:rPr lang="en-US" altLang="zh-TW" dirty="0"/>
                  <a:t>x</a:t>
                </a:r>
                <a:r>
                  <a:rPr lang="zh-TW" altLang="en-US" dirty="0"/>
                  <a:t>軸對齊</a:t>
                </a:r>
              </a:p>
            </p:txBody>
          </p:sp>
        </mc:Choice>
        <mc:Fallback xmlns="">
          <p:sp>
            <p:nvSpPr>
              <p:cNvPr id="3" name="內容版面配置區 2">
                <a:extLst>
                  <a:ext uri="{FF2B5EF4-FFF2-40B4-BE49-F238E27FC236}">
                    <a16:creationId xmlns:a16="http://schemas.microsoft.com/office/drawing/2014/main" id="{DE95821C-283D-4501-BE08-78FB618DE974}"/>
                  </a:ext>
                </a:extLst>
              </p:cNvPr>
              <p:cNvSpPr>
                <a:spLocks noGrp="1" noRot="1" noChangeAspect="1" noMove="1" noResize="1" noEditPoints="1" noAdjustHandles="1" noChangeArrowheads="1" noChangeShapeType="1" noTextEdit="1"/>
              </p:cNvSpPr>
              <p:nvPr>
                <p:ph idx="1"/>
              </p:nvPr>
            </p:nvSpPr>
            <p:spPr>
              <a:xfrm>
                <a:off x="205221" y="1837656"/>
                <a:ext cx="9081837" cy="4602069"/>
              </a:xfrm>
              <a:blipFill>
                <a:blip r:embed="rId4"/>
                <a:stretch>
                  <a:fillRect l="-1209" t="-1987"/>
                </a:stretch>
              </a:blipFill>
            </p:spPr>
            <p:txBody>
              <a:bodyPr/>
              <a:lstStyle/>
              <a:p>
                <a:r>
                  <a:rPr lang="zh-TW" altLang="en-US">
                    <a:noFill/>
                  </a:rPr>
                  <a:t> </a:t>
                </a:r>
              </a:p>
            </p:txBody>
          </p:sp>
        </mc:Fallback>
      </mc:AlternateContent>
      <p:sp>
        <p:nvSpPr>
          <p:cNvPr id="9" name="文字方塊 8">
            <a:extLst>
              <a:ext uri="{FF2B5EF4-FFF2-40B4-BE49-F238E27FC236}">
                <a16:creationId xmlns:a16="http://schemas.microsoft.com/office/drawing/2014/main" id="{4DBDD4A5-98A4-418F-9806-429FDD43BB7F}"/>
              </a:ext>
            </a:extLst>
          </p:cNvPr>
          <p:cNvSpPr txBox="1"/>
          <p:nvPr/>
        </p:nvSpPr>
        <p:spPr>
          <a:xfrm>
            <a:off x="7146524" y="328133"/>
            <a:ext cx="1723549" cy="369332"/>
          </a:xfrm>
          <a:prstGeom prst="rect">
            <a:avLst/>
          </a:prstGeom>
          <a:noFill/>
        </p:spPr>
        <p:txBody>
          <a:bodyPr wrap="none" rtlCol="0">
            <a:spAutoFit/>
          </a:bodyPr>
          <a:lstStyle/>
          <a:p>
            <a:r>
              <a:rPr lang="zh-TW" altLang="en-US" dirty="0"/>
              <a:t>上視圖</a:t>
            </a:r>
            <a:r>
              <a:rPr lang="en-US" altLang="zh-TW" dirty="0"/>
              <a:t>(</a:t>
            </a:r>
            <a:r>
              <a:rPr lang="en-US" altLang="zh-TW" dirty="0" err="1"/>
              <a:t>xy</a:t>
            </a:r>
            <a:r>
              <a:rPr lang="zh-TW" altLang="en-US" dirty="0"/>
              <a:t>平面</a:t>
            </a:r>
            <a:r>
              <a:rPr lang="en-US" altLang="zh-TW" dirty="0"/>
              <a:t>)</a:t>
            </a:r>
            <a:endParaRPr lang="zh-TW" altLang="en-US" dirty="0"/>
          </a:p>
        </p:txBody>
      </p:sp>
      <p:sp>
        <p:nvSpPr>
          <p:cNvPr id="5" name="投影片編號版面配置區 4">
            <a:extLst>
              <a:ext uri="{FF2B5EF4-FFF2-40B4-BE49-F238E27FC236}">
                <a16:creationId xmlns:a16="http://schemas.microsoft.com/office/drawing/2014/main" id="{E165DE1B-6D35-4F84-B1A9-0E783F7D6383}"/>
              </a:ext>
            </a:extLst>
          </p:cNvPr>
          <p:cNvSpPr>
            <a:spLocks noGrp="1"/>
          </p:cNvSpPr>
          <p:nvPr>
            <p:ph type="sldNum" sz="quarter" idx="12"/>
          </p:nvPr>
        </p:nvSpPr>
        <p:spPr/>
        <p:txBody>
          <a:bodyPr/>
          <a:lstStyle/>
          <a:p>
            <a:fld id="{12DE3F29-1F68-43B4-BFC6-B027CAE8215F}" type="slidenum">
              <a:rPr lang="zh-TW" altLang="en-US" smtClean="0"/>
              <a:t>17</a:t>
            </a:fld>
            <a:endParaRPr lang="zh-TW" altLang="en-US"/>
          </a:p>
        </p:txBody>
      </p:sp>
      <p:pic>
        <p:nvPicPr>
          <p:cNvPr id="10" name="圖片 9">
            <a:extLst>
              <a:ext uri="{FF2B5EF4-FFF2-40B4-BE49-F238E27FC236}">
                <a16:creationId xmlns:a16="http://schemas.microsoft.com/office/drawing/2014/main" id="{576C5BD7-4EAE-4737-AF3B-9929BBEAAC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873447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實驗與驗證</a:t>
            </a:r>
          </a:p>
        </p:txBody>
      </p:sp>
      <p:pic>
        <p:nvPicPr>
          <p:cNvPr id="5" name="內容版面配置區 4">
            <a:extLst>
              <a:ext uri="{FF2B5EF4-FFF2-40B4-BE49-F238E27FC236}">
                <a16:creationId xmlns:a16="http://schemas.microsoft.com/office/drawing/2014/main" id="{B5C8A654-9683-4806-A6DD-C8C8AD841E7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13802" y="365125"/>
            <a:ext cx="5923847" cy="825033"/>
          </a:xfrm>
        </p:spPr>
      </p:pic>
      <p:pic>
        <p:nvPicPr>
          <p:cNvPr id="4" name="圖片 3">
            <a:extLst>
              <a:ext uri="{FF2B5EF4-FFF2-40B4-BE49-F238E27FC236}">
                <a16:creationId xmlns:a16="http://schemas.microsoft.com/office/drawing/2014/main" id="{EF5B61EF-6EC4-4219-A9AC-5037F51F85A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295608" y="1690688"/>
            <a:ext cx="6801263" cy="2064228"/>
          </a:xfrm>
          <a:prstGeom prst="rect">
            <a:avLst/>
          </a:prstGeom>
        </p:spPr>
      </p:pic>
      <p:sp>
        <p:nvSpPr>
          <p:cNvPr id="6" name="文字方塊 5">
            <a:extLst>
              <a:ext uri="{FF2B5EF4-FFF2-40B4-BE49-F238E27FC236}">
                <a16:creationId xmlns:a16="http://schemas.microsoft.com/office/drawing/2014/main" id="{EF49BEA5-7829-4C78-955C-5FEE73EB4DF3}"/>
              </a:ext>
            </a:extLst>
          </p:cNvPr>
          <p:cNvSpPr txBox="1"/>
          <p:nvPr/>
        </p:nvSpPr>
        <p:spPr>
          <a:xfrm>
            <a:off x="453842" y="2297767"/>
            <a:ext cx="4711148" cy="1938992"/>
          </a:xfrm>
          <a:prstGeom prst="rect">
            <a:avLst/>
          </a:prstGeom>
          <a:noFill/>
        </p:spPr>
        <p:txBody>
          <a:bodyPr wrap="square" rtlCol="0">
            <a:spAutoFit/>
          </a:bodyPr>
          <a:lstStyle/>
          <a:p>
            <a:r>
              <a:rPr lang="zh-TW" altLang="en-US" sz="2000" dirty="0"/>
              <a:t>將實際</a:t>
            </a:r>
            <a:r>
              <a:rPr lang="en-US" altLang="zh-TW" sz="2000" dirty="0"/>
              <a:t>TCP</a:t>
            </a:r>
            <a:r>
              <a:rPr lang="zh-TW" altLang="en-US" sz="2000" dirty="0"/>
              <a:t>、插件孔位座標、手臂</a:t>
            </a:r>
            <a:r>
              <a:rPr lang="en-US" altLang="zh-TW" sz="2000" dirty="0"/>
              <a:t>MDH</a:t>
            </a:r>
            <a:r>
              <a:rPr lang="zh-TW" altLang="en-US" sz="2000" dirty="0"/>
              <a:t>參數放入</a:t>
            </a:r>
            <a:r>
              <a:rPr lang="en-US" altLang="zh-TW" sz="2000" dirty="0"/>
              <a:t>MATLAB</a:t>
            </a:r>
            <a:r>
              <a:rPr lang="zh-TW" altLang="en-US" sz="2000" dirty="0"/>
              <a:t>以程式碼的方式計算與</a:t>
            </a:r>
            <a:r>
              <a:rPr lang="en-US" altLang="zh-TW" sz="2000" dirty="0" err="1"/>
              <a:t>Geogebra</a:t>
            </a:r>
            <a:r>
              <a:rPr lang="zh-TW" altLang="en-US" sz="2000" dirty="0"/>
              <a:t>上類似的計算方式，最後以逆運動學的函式求出軸</a:t>
            </a:r>
            <a:r>
              <a:rPr lang="en-US" altLang="zh-TW" sz="2000" dirty="0"/>
              <a:t>1~</a:t>
            </a:r>
            <a:r>
              <a:rPr lang="zh-TW" altLang="en-US" sz="2000" dirty="0"/>
              <a:t>軸</a:t>
            </a:r>
            <a:r>
              <a:rPr lang="en-US" altLang="zh-TW" sz="2000" dirty="0"/>
              <a:t>6</a:t>
            </a:r>
            <a:r>
              <a:rPr lang="zh-TW" altLang="en-US" sz="2000" dirty="0"/>
              <a:t>角度，右圖為特定歪斜角度情況下，</a:t>
            </a:r>
            <a:r>
              <a:rPr lang="en-US" altLang="zh-TW" sz="2000" dirty="0"/>
              <a:t>MATLAB</a:t>
            </a:r>
            <a:r>
              <a:rPr lang="zh-TW" altLang="en-US" sz="2000" dirty="0"/>
              <a:t>計算補償各軸新的角度並代入。</a:t>
            </a:r>
            <a:endParaRPr lang="en-US" altLang="zh-TW" sz="2000" dirty="0"/>
          </a:p>
        </p:txBody>
      </p:sp>
      <p:sp>
        <p:nvSpPr>
          <p:cNvPr id="7" name="文字方塊 6">
            <a:extLst>
              <a:ext uri="{FF2B5EF4-FFF2-40B4-BE49-F238E27FC236}">
                <a16:creationId xmlns:a16="http://schemas.microsoft.com/office/drawing/2014/main" id="{3AB8BA0F-B5D3-435F-83D0-C979C11EFE6F}"/>
              </a:ext>
            </a:extLst>
          </p:cNvPr>
          <p:cNvSpPr txBox="1"/>
          <p:nvPr/>
        </p:nvSpPr>
        <p:spPr>
          <a:xfrm>
            <a:off x="7579989" y="1190158"/>
            <a:ext cx="2991472" cy="369332"/>
          </a:xfrm>
          <a:prstGeom prst="rect">
            <a:avLst/>
          </a:prstGeom>
          <a:noFill/>
        </p:spPr>
        <p:txBody>
          <a:bodyPr wrap="square" rtlCol="0">
            <a:spAutoFit/>
          </a:bodyPr>
          <a:lstStyle/>
          <a:p>
            <a:r>
              <a:rPr lang="zh-TW" altLang="en-US" dirty="0"/>
              <a:t>步驟</a:t>
            </a:r>
            <a:r>
              <a:rPr lang="en-US" altLang="zh-TW" dirty="0"/>
              <a:t>4. </a:t>
            </a:r>
            <a:r>
              <a:rPr lang="zh-TW" altLang="en-US" dirty="0"/>
              <a:t>實驗結果與數學公式</a:t>
            </a:r>
          </a:p>
        </p:txBody>
      </p:sp>
      <p:sp>
        <p:nvSpPr>
          <p:cNvPr id="8" name="文字方塊 7">
            <a:extLst>
              <a:ext uri="{FF2B5EF4-FFF2-40B4-BE49-F238E27FC236}">
                <a16:creationId xmlns:a16="http://schemas.microsoft.com/office/drawing/2014/main" id="{B3C0673D-3C49-4113-B58E-3818638313BC}"/>
              </a:ext>
            </a:extLst>
          </p:cNvPr>
          <p:cNvSpPr txBox="1"/>
          <p:nvPr/>
        </p:nvSpPr>
        <p:spPr>
          <a:xfrm>
            <a:off x="453842" y="1690688"/>
            <a:ext cx="4711148" cy="461665"/>
          </a:xfrm>
          <a:prstGeom prst="rect">
            <a:avLst/>
          </a:prstGeom>
          <a:solidFill>
            <a:srgbClr val="92D050"/>
          </a:solidFill>
        </p:spPr>
        <p:txBody>
          <a:bodyPr wrap="square" rtlCol="0">
            <a:spAutoFit/>
          </a:bodyPr>
          <a:lstStyle/>
          <a:p>
            <a:pPr algn="ctr"/>
            <a:r>
              <a:rPr lang="zh-TW" altLang="en-US" sz="2400" dirty="0"/>
              <a:t>結果</a:t>
            </a:r>
          </a:p>
        </p:txBody>
      </p:sp>
      <p:sp>
        <p:nvSpPr>
          <p:cNvPr id="9" name="文字方塊 8">
            <a:extLst>
              <a:ext uri="{FF2B5EF4-FFF2-40B4-BE49-F238E27FC236}">
                <a16:creationId xmlns:a16="http://schemas.microsoft.com/office/drawing/2014/main" id="{A20F3EF2-559B-42CA-9EE0-485DB0D49B5F}"/>
              </a:ext>
            </a:extLst>
          </p:cNvPr>
          <p:cNvSpPr txBox="1"/>
          <p:nvPr/>
        </p:nvSpPr>
        <p:spPr>
          <a:xfrm>
            <a:off x="7212595" y="3761212"/>
            <a:ext cx="2967288" cy="369332"/>
          </a:xfrm>
          <a:prstGeom prst="rect">
            <a:avLst/>
          </a:prstGeom>
          <a:noFill/>
        </p:spPr>
        <p:txBody>
          <a:bodyPr wrap="square">
            <a:spAutoFit/>
          </a:bodyPr>
          <a:lstStyle/>
          <a:p>
            <a:r>
              <a:rPr lang="zh-TW" altLang="en-US" dirty="0"/>
              <a:t>角度補償結果帶入實體手臂</a:t>
            </a:r>
          </a:p>
        </p:txBody>
      </p:sp>
      <p:sp>
        <p:nvSpPr>
          <p:cNvPr id="11" name="投影片編號版面配置區 10">
            <a:extLst>
              <a:ext uri="{FF2B5EF4-FFF2-40B4-BE49-F238E27FC236}">
                <a16:creationId xmlns:a16="http://schemas.microsoft.com/office/drawing/2014/main" id="{89C40E06-EC0C-44B2-BF3D-442305AEF985}"/>
              </a:ext>
            </a:extLst>
          </p:cNvPr>
          <p:cNvSpPr>
            <a:spLocks noGrp="1"/>
          </p:cNvSpPr>
          <p:nvPr>
            <p:ph type="sldNum" sz="quarter" idx="12"/>
          </p:nvPr>
        </p:nvSpPr>
        <p:spPr/>
        <p:txBody>
          <a:bodyPr/>
          <a:lstStyle/>
          <a:p>
            <a:fld id="{12DE3F29-1F68-43B4-BFC6-B027CAE8215F}" type="slidenum">
              <a:rPr lang="zh-TW" altLang="en-US" smtClean="0"/>
              <a:t>18</a:t>
            </a:fld>
            <a:endParaRPr lang="zh-TW" altLang="en-US"/>
          </a:p>
        </p:txBody>
      </p:sp>
      <p:pic>
        <p:nvPicPr>
          <p:cNvPr id="12" name="圖片 11">
            <a:extLst>
              <a:ext uri="{FF2B5EF4-FFF2-40B4-BE49-F238E27FC236}">
                <a16:creationId xmlns:a16="http://schemas.microsoft.com/office/drawing/2014/main" id="{F12DAE34-A7D1-493E-91AB-2E10AE03D9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
        <p:nvSpPr>
          <p:cNvPr id="10" name="矩形 9">
            <a:extLst>
              <a:ext uri="{FF2B5EF4-FFF2-40B4-BE49-F238E27FC236}">
                <a16:creationId xmlns:a16="http://schemas.microsoft.com/office/drawing/2014/main" id="{6B39EFCA-ADBF-43EF-B813-0CC3DE2D3D1B}"/>
              </a:ext>
            </a:extLst>
          </p:cNvPr>
          <p:cNvSpPr/>
          <p:nvPr/>
        </p:nvSpPr>
        <p:spPr>
          <a:xfrm>
            <a:off x="6939154" y="4272337"/>
            <a:ext cx="3912449" cy="22205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t>實驗結果影片</a:t>
            </a:r>
          </a:p>
        </p:txBody>
      </p:sp>
      <p:pic>
        <p:nvPicPr>
          <p:cNvPr id="13" name="圖片 12">
            <a:extLst>
              <a:ext uri="{FF2B5EF4-FFF2-40B4-BE49-F238E27FC236}">
                <a16:creationId xmlns:a16="http://schemas.microsoft.com/office/drawing/2014/main" id="{2A94FF0E-E79F-4EA0-AD49-C6C3CD3A2B3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939154" y="4236759"/>
            <a:ext cx="4039235" cy="2268611"/>
          </a:xfrm>
          <a:prstGeom prst="rect">
            <a:avLst/>
          </a:prstGeom>
        </p:spPr>
      </p:pic>
    </p:spTree>
    <p:extLst>
      <p:ext uri="{BB962C8B-B14F-4D97-AF65-F5344CB8AC3E}">
        <p14:creationId xmlns:p14="http://schemas.microsoft.com/office/powerpoint/2010/main" val="4228217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89EFE4-DF86-4C64-A083-435B2E22804B}"/>
              </a:ext>
            </a:extLst>
          </p:cNvPr>
          <p:cNvSpPr>
            <a:spLocks noGrp="1"/>
          </p:cNvSpPr>
          <p:nvPr>
            <p:ph type="title"/>
          </p:nvPr>
        </p:nvSpPr>
        <p:spPr/>
        <p:txBody>
          <a:bodyPr/>
          <a:lstStyle/>
          <a:p>
            <a:r>
              <a:rPr lang="zh-TW" altLang="en-US" dirty="0"/>
              <a:t>結果檢視</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04869AF-9D79-4D83-941F-BD646795D1CC}"/>
                  </a:ext>
                </a:extLst>
              </p:cNvPr>
              <p:cNvSpPr>
                <a:spLocks noGrp="1"/>
              </p:cNvSpPr>
              <p:nvPr>
                <p:ph idx="1"/>
              </p:nvPr>
            </p:nvSpPr>
            <p:spPr>
              <a:xfrm>
                <a:off x="838200" y="1825625"/>
                <a:ext cx="10515600" cy="4667250"/>
              </a:xfrm>
            </p:spPr>
            <p:txBody>
              <a:bodyPr>
                <a:normAutofit lnSpcReduction="10000"/>
              </a:bodyPr>
              <a:lstStyle/>
              <a:p>
                <a:pPr marL="0" indent="0">
                  <a:lnSpc>
                    <a:spcPct val="110000"/>
                  </a:lnSpc>
                  <a:buNone/>
                </a:pPr>
                <a:r>
                  <a:rPr lang="zh-TW" altLang="en-US" dirty="0"/>
                  <a:t>經過計算</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𝑢</m:t>
                            </m:r>
                          </m:e>
                        </m:acc>
                      </m:e>
                      <m:sub>
                        <m:acc>
                          <m:accPr>
                            <m:chr m:val="⃑"/>
                            <m:ctrlPr>
                              <a:rPr lang="zh-TW" altLang="en-US" i="1">
                                <a:latin typeface="Cambria Math" panose="02040503050406030204" pitchFamily="18" charset="0"/>
                              </a:rPr>
                            </m:ctrlPr>
                          </m:accPr>
                          <m:e>
                            <m:r>
                              <m:rPr>
                                <m:sty m:val="p"/>
                              </m:rPr>
                              <a:rPr lang="en-US" altLang="zh-TW" i="1" smtClean="0">
                                <a:latin typeface="Cambria Math" panose="02040503050406030204" pitchFamily="18" charset="0"/>
                              </a:rPr>
                              <m:t>B</m:t>
                            </m:r>
                            <m:r>
                              <a:rPr lang="en-US" altLang="zh-TW" i="1">
                                <a:latin typeface="Cambria Math" panose="02040503050406030204" pitchFamily="18" charset="0"/>
                              </a:rPr>
                              <m:t>′</m:t>
                            </m:r>
                            <m:r>
                              <a:rPr lang="en-US" altLang="zh-TW" i="1" smtClean="0">
                                <a:latin typeface="Cambria Math" panose="02040503050406030204" pitchFamily="18" charset="0"/>
                              </a:rPr>
                              <m:t>′</m:t>
                            </m:r>
                            <m:r>
                              <m:rPr>
                                <m:sty m:val="p"/>
                              </m:rPr>
                              <a:rPr lang="en-US" altLang="zh-TW" i="1">
                                <a:latin typeface="Cambria Math" panose="02040503050406030204" pitchFamily="18" charset="0"/>
                              </a:rPr>
                              <m:t>C</m:t>
                            </m:r>
                            <m:r>
                              <a:rPr lang="en-US" altLang="zh-TW" i="1" smtClean="0">
                                <a:latin typeface="Cambria Math" panose="02040503050406030204" pitchFamily="18" charset="0"/>
                              </a:rPr>
                              <m:t>′</m:t>
                            </m:r>
                            <m:r>
                              <a:rPr lang="en-US" altLang="zh-TW" i="1">
                                <a:latin typeface="Cambria Math" panose="02040503050406030204" pitchFamily="18" charset="0"/>
                              </a:rPr>
                              <m:t>′</m:t>
                            </m:r>
                          </m:e>
                        </m:acc>
                      </m:sub>
                    </m:sSub>
                  </m:oMath>
                </a14:m>
                <a:r>
                  <a:rPr lang="zh-TW" altLang="en-US" dirty="0"/>
                  <a:t>，受到空間中旋轉的影響，此算法雖然可以扳回大角度的影響，但旋轉過後依然存在微小角度的趨勢並不能說完全與</a:t>
                </a:r>
                <a:r>
                  <a:rPr lang="en-US" altLang="zh-TW" dirty="0"/>
                  <a:t>x</a:t>
                </a:r>
                <a:r>
                  <a:rPr lang="zh-TW" altLang="en-US" dirty="0"/>
                  <a:t>軸同向共線</a:t>
                </a:r>
                <a:r>
                  <a:rPr lang="en-US" altLang="zh-TW" dirty="0"/>
                  <a:t>(</a:t>
                </a:r>
                <a:r>
                  <a:rPr lang="zh-TW" altLang="en-US" dirty="0"/>
                  <a:t>對齊</a:t>
                </a:r>
                <a:r>
                  <a:rPr lang="en-US" altLang="zh-TW" dirty="0"/>
                  <a:t>)</a:t>
                </a:r>
                <a:r>
                  <a:rPr lang="zh-TW" altLang="en-US" dirty="0"/>
                  <a:t>。</a:t>
                </a:r>
                <a:endParaRPr lang="en-US" altLang="zh-TW" dirty="0"/>
              </a:p>
              <a:p>
                <a:pPr marL="0" indent="0">
                  <a:buNone/>
                </a:pPr>
                <a:r>
                  <a:rPr lang="zh-TW" altLang="en-US" dirty="0"/>
                  <a:t>計算</a:t>
                </a:r>
                <a:r>
                  <a:rPr lang="en-US" altLang="zh-TW" dirty="0" err="1"/>
                  <a:t>xy</a:t>
                </a:r>
                <a:r>
                  <a:rPr lang="zh-TW" altLang="en-US" dirty="0"/>
                  <a:t>平面上的斜率</a:t>
                </a:r>
                <a:r>
                  <a:rPr lang="en-US" altLang="zh-TW" dirty="0"/>
                  <a:t>:</a:t>
                </a:r>
              </a:p>
              <a:p>
                <a:pPr marL="0" indent="0">
                  <a:buNone/>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𝑥𝑦</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𝑦</m:t>
                          </m:r>
                        </m:num>
                        <m:den>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𝑥</m:t>
                          </m:r>
                        </m:den>
                      </m:f>
                      <m:r>
                        <a:rPr lang="en-US" altLang="zh-TW" b="0" i="1" smtClean="0">
                          <a:latin typeface="Cambria Math" panose="02040503050406030204" pitchFamily="18" charset="0"/>
                        </a:rPr>
                        <m:t>=</m:t>
                      </m:r>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tan</m:t>
                          </m:r>
                        </m:fName>
                        <m:e>
                          <m:r>
                            <a:rPr lang="zh-TW" altLang="en-US" b="0" i="1" smtClean="0">
                              <a:latin typeface="Cambria Math" panose="02040503050406030204" pitchFamily="18" charset="0"/>
                            </a:rPr>
                            <m:t>𝜃</m:t>
                          </m:r>
                        </m:e>
                      </m:func>
                    </m:oMath>
                  </m:oMathPara>
                </a14:m>
                <a:endParaRPr lang="en-US" altLang="zh-TW" b="0" dirty="0"/>
              </a:p>
              <a:p>
                <a:pPr marL="0" indent="0">
                  <a:buNone/>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𝜃</m:t>
                      </m:r>
                      <m:r>
                        <a:rPr lang="en-US" altLang="zh-TW" b="0" i="1" smtClean="0">
                          <a:latin typeface="Cambria Math" panose="02040503050406030204" pitchFamily="18" charset="0"/>
                        </a:rPr>
                        <m:t>=</m:t>
                      </m:r>
                      <m:func>
                        <m:funcPr>
                          <m:ctrlPr>
                            <a:rPr lang="en-US" altLang="zh-TW" b="0" i="1" smtClean="0">
                              <a:latin typeface="Cambria Math" panose="02040503050406030204" pitchFamily="18" charset="0"/>
                            </a:rPr>
                          </m:ctrlPr>
                        </m:funcPr>
                        <m:fName>
                          <m:sSup>
                            <m:sSupPr>
                              <m:ctrlPr>
                                <a:rPr lang="en-US" altLang="zh-TW" b="0" i="1" smtClean="0">
                                  <a:latin typeface="Cambria Math" panose="02040503050406030204" pitchFamily="18" charset="0"/>
                                </a:rPr>
                              </m:ctrlPr>
                            </m:sSupPr>
                            <m:e>
                              <m:r>
                                <m:rPr>
                                  <m:sty m:val="p"/>
                                </m:rPr>
                                <a:rPr lang="en-US" altLang="zh-TW" b="0" i="0" smtClean="0">
                                  <a:latin typeface="Cambria Math" panose="02040503050406030204" pitchFamily="18" charset="0"/>
                                </a:rPr>
                                <m:t>tan</m:t>
                              </m:r>
                            </m:e>
                            <m:sup>
                              <m:r>
                                <a:rPr lang="en-US" altLang="zh-TW" b="0" i="1" smtClean="0">
                                  <a:latin typeface="Cambria Math" panose="02040503050406030204" pitchFamily="18" charset="0"/>
                                </a:rPr>
                                <m:t>−1</m:t>
                              </m:r>
                            </m:sup>
                          </m:sSup>
                        </m:fName>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𝑥𝑦</m:t>
                              </m:r>
                            </m:sub>
                          </m:sSub>
                        </m:e>
                      </m:func>
                    </m:oMath>
                  </m:oMathPara>
                </a14:m>
                <a:endParaRPr lang="en-US" altLang="zh-TW" dirty="0"/>
              </a:p>
              <a:p>
                <a:pPr marL="0" indent="0">
                  <a:buNone/>
                </a:pPr>
                <a:r>
                  <a:rPr lang="zh-TW" altLang="en-US" dirty="0"/>
                  <a:t>極端狀況下</a:t>
                </a:r>
                <a14:m>
                  <m:oMath xmlns:m="http://schemas.openxmlformats.org/officeDocument/2006/math">
                    <m:r>
                      <a:rPr lang="zh-TW" altLang="en-US" i="1" smtClean="0">
                        <a:latin typeface="Cambria Math" panose="02040503050406030204" pitchFamily="18" charset="0"/>
                      </a:rPr>
                      <m:t>𝜃</m:t>
                    </m:r>
                  </m:oMath>
                </a14:m>
                <a:r>
                  <a:rPr lang="zh-TW" altLang="en-US" dirty="0"/>
                  <a:t>皆不超過</a:t>
                </a:r>
                <a14:m>
                  <m:oMath xmlns:m="http://schemas.openxmlformats.org/officeDocument/2006/math">
                    <m:r>
                      <a:rPr lang="en-US" altLang="zh-TW" i="1" dirty="0">
                        <a:latin typeface="Cambria Math" panose="02040503050406030204" pitchFamily="18" charset="0"/>
                        <a:ea typeface="Cambria Math" panose="02040503050406030204" pitchFamily="18" charset="0"/>
                      </a:rPr>
                      <m:t>1</m:t>
                    </m:r>
                    <m:r>
                      <a:rPr lang="en-US" altLang="zh-TW" i="1" smtClean="0">
                        <a:latin typeface="Cambria Math" panose="02040503050406030204" pitchFamily="18" charset="0"/>
                        <a:ea typeface="Cambria Math" panose="02040503050406030204" pitchFamily="18" charset="0"/>
                      </a:rPr>
                      <m:t>°</m:t>
                    </m:r>
                  </m:oMath>
                </a14:m>
                <a:r>
                  <a:rPr lang="zh-TW" altLang="en-US" dirty="0"/>
                  <a:t>，實際移動距離夠近，則必定不會超出插線孔範圍。</a:t>
                </a:r>
                <a:endParaRPr lang="en-US" altLang="zh-TW" dirty="0"/>
              </a:p>
              <a:p>
                <a:pPr marL="0" indent="0">
                  <a:buNone/>
                </a:pPr>
                <a:r>
                  <a:rPr lang="en-US" altLang="zh-TW" dirty="0" err="1"/>
                  <a:t>xz</a:t>
                </a:r>
                <a:r>
                  <a:rPr lang="zh-TW" altLang="en-US" dirty="0"/>
                  <a:t>平面以及</a:t>
                </a:r>
                <a:r>
                  <a:rPr lang="en-US" altLang="zh-TW" dirty="0" err="1"/>
                  <a:t>yz</a:t>
                </a:r>
                <a:r>
                  <a:rPr lang="zh-TW" altLang="en-US" dirty="0"/>
                  <a:t>平面上斜率為</a:t>
                </a:r>
                <a:r>
                  <a:rPr lang="en-US" altLang="zh-TW" dirty="0"/>
                  <a:t>0</a:t>
                </a:r>
                <a:r>
                  <a:rPr lang="zh-TW" altLang="en-US" dirty="0"/>
                  <a:t>或無限大，表示不會因為一定距離出現角度偏移。</a:t>
                </a:r>
                <a:endParaRPr lang="en-US" altLang="zh-TW" dirty="0"/>
              </a:p>
              <a:p>
                <a:pPr marL="0" indent="0">
                  <a:buNone/>
                </a:pPr>
                <a:endParaRPr lang="zh-TW" altLang="en-US" dirty="0"/>
              </a:p>
            </p:txBody>
          </p:sp>
        </mc:Choice>
        <mc:Fallback xmlns="">
          <p:sp>
            <p:nvSpPr>
              <p:cNvPr id="3" name="內容版面配置區 2">
                <a:extLst>
                  <a:ext uri="{FF2B5EF4-FFF2-40B4-BE49-F238E27FC236}">
                    <a16:creationId xmlns:a16="http://schemas.microsoft.com/office/drawing/2014/main" id="{C04869AF-9D79-4D83-941F-BD646795D1CC}"/>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3"/>
                <a:stretch>
                  <a:fillRect l="-1217" t="-1305" r="-696" b="-3264"/>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925DFD10-BBCE-4A00-895F-1D8AC519E77B}"/>
              </a:ext>
            </a:extLst>
          </p:cNvPr>
          <p:cNvSpPr>
            <a:spLocks noGrp="1"/>
          </p:cNvSpPr>
          <p:nvPr>
            <p:ph type="sldNum" sz="quarter" idx="12"/>
          </p:nvPr>
        </p:nvSpPr>
        <p:spPr/>
        <p:txBody>
          <a:bodyPr/>
          <a:lstStyle/>
          <a:p>
            <a:fld id="{12DE3F29-1F68-43B4-BFC6-B027CAE8215F}" type="slidenum">
              <a:rPr lang="zh-TW" altLang="en-US" smtClean="0"/>
              <a:t>19</a:t>
            </a:fld>
            <a:endParaRPr lang="zh-TW" altLang="en-US"/>
          </a:p>
        </p:txBody>
      </p:sp>
      <p:pic>
        <p:nvPicPr>
          <p:cNvPr id="6" name="圖片 5">
            <a:extLst>
              <a:ext uri="{FF2B5EF4-FFF2-40B4-BE49-F238E27FC236}">
                <a16:creationId xmlns:a16="http://schemas.microsoft.com/office/drawing/2014/main" id="{10F7D909-71B7-426D-B303-68D1B02724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2036593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45B481-EF95-4D19-A5DB-0F461C6A9E16}"/>
              </a:ext>
            </a:extLst>
          </p:cNvPr>
          <p:cNvSpPr>
            <a:spLocks noGrp="1"/>
          </p:cNvSpPr>
          <p:nvPr>
            <p:ph type="title"/>
          </p:nvPr>
        </p:nvSpPr>
        <p:spPr/>
        <p:txBody>
          <a:bodyPr/>
          <a:lstStyle/>
          <a:p>
            <a:r>
              <a:rPr lang="zh-TW" altLang="en-US" dirty="0"/>
              <a:t>極端範例展示</a:t>
            </a:r>
          </a:p>
        </p:txBody>
      </p:sp>
      <p:pic>
        <p:nvPicPr>
          <p:cNvPr id="7" name="內容版面配置區 6">
            <a:extLst>
              <a:ext uri="{FF2B5EF4-FFF2-40B4-BE49-F238E27FC236}">
                <a16:creationId xmlns:a16="http://schemas.microsoft.com/office/drawing/2014/main" id="{A5D35CE6-965C-4584-8684-598ECD8231E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6473433" y="309705"/>
            <a:ext cx="5512379" cy="4199681"/>
          </a:xfrm>
        </p:spPr>
      </p:pic>
      <p:cxnSp>
        <p:nvCxnSpPr>
          <p:cNvPr id="9" name="直線單箭頭接點 8">
            <a:extLst>
              <a:ext uri="{FF2B5EF4-FFF2-40B4-BE49-F238E27FC236}">
                <a16:creationId xmlns:a16="http://schemas.microsoft.com/office/drawing/2014/main" id="{3FA81FE2-787C-4A4E-B5D6-851BC6D5BA43}"/>
              </a:ext>
            </a:extLst>
          </p:cNvPr>
          <p:cNvCxnSpPr>
            <a:cxnSpLocks/>
            <a:stCxn id="5" idx="0"/>
            <a:endCxn id="15" idx="2"/>
          </p:cNvCxnSpPr>
          <p:nvPr/>
        </p:nvCxnSpPr>
        <p:spPr>
          <a:xfrm flipV="1">
            <a:off x="9747060" y="4295104"/>
            <a:ext cx="978359" cy="619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2368C146-E5BF-4560-88CC-BA24B516FFA9}"/>
                  </a:ext>
                </a:extLst>
              </p:cNvPr>
              <p:cNvSpPr txBox="1"/>
              <p:nvPr/>
            </p:nvSpPr>
            <p:spPr>
              <a:xfrm>
                <a:off x="986118" y="1690688"/>
                <a:ext cx="5897448" cy="128208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rPr>
                          </m:ctrlPr>
                        </m:sSubPr>
                        <m:e>
                          <m:r>
                            <a:rPr lang="en-US" altLang="zh-TW" sz="2800" i="1">
                              <a:latin typeface="Cambria Math" panose="02040503050406030204" pitchFamily="18" charset="0"/>
                            </a:rPr>
                            <m:t>𝑚</m:t>
                          </m:r>
                        </m:e>
                        <m:sub>
                          <m:r>
                            <a:rPr lang="en-US" altLang="zh-TW" sz="2800" i="1">
                              <a:latin typeface="Cambria Math" panose="02040503050406030204" pitchFamily="18" charset="0"/>
                            </a:rPr>
                            <m:t>𝑥𝑦</m:t>
                          </m:r>
                        </m:sub>
                      </m:sSub>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r>
                            <a:rPr lang="en-US" altLang="zh-TW" sz="2800" i="1">
                              <a:latin typeface="Cambria Math" panose="02040503050406030204" pitchFamily="18" charset="0"/>
                              <a:ea typeface="Cambria Math" panose="02040503050406030204" pitchFamily="18" charset="0"/>
                            </a:rPr>
                            <m:t>∆</m:t>
                          </m:r>
                          <m:r>
                            <a:rPr lang="en-US" altLang="zh-TW" sz="2800" i="1">
                              <a:latin typeface="Cambria Math" panose="02040503050406030204" pitchFamily="18" charset="0"/>
                              <a:ea typeface="Cambria Math" panose="02040503050406030204" pitchFamily="18" charset="0"/>
                            </a:rPr>
                            <m:t>𝑦</m:t>
                          </m:r>
                        </m:num>
                        <m:den>
                          <m:r>
                            <a:rPr lang="en-US" altLang="zh-TW" sz="2800" i="1">
                              <a:latin typeface="Cambria Math" panose="02040503050406030204" pitchFamily="18" charset="0"/>
                              <a:ea typeface="Cambria Math" panose="02040503050406030204" pitchFamily="18" charset="0"/>
                            </a:rPr>
                            <m:t>∆</m:t>
                          </m:r>
                          <m:r>
                            <a:rPr lang="en-US" altLang="zh-TW" sz="2800" i="1">
                              <a:latin typeface="Cambria Math" panose="02040503050406030204" pitchFamily="18" charset="0"/>
                              <a:ea typeface="Cambria Math" panose="02040503050406030204" pitchFamily="18" charset="0"/>
                            </a:rPr>
                            <m:t>𝑥</m:t>
                          </m:r>
                        </m:den>
                      </m:f>
                      <m:r>
                        <a:rPr lang="en-US" altLang="zh-TW" sz="2800" i="1" smtClean="0">
                          <a:latin typeface="Cambria Math" panose="02040503050406030204" pitchFamily="18" charset="0"/>
                          <a:ea typeface="Cambria Math" panose="02040503050406030204" pitchFamily="18" charset="0"/>
                        </a:rPr>
                        <m:t>=</m:t>
                      </m:r>
                      <m:func>
                        <m:funcPr>
                          <m:ctrlPr>
                            <a:rPr lang="en-US" altLang="zh-TW" sz="2800" i="1">
                              <a:latin typeface="Cambria Math" panose="02040503050406030204" pitchFamily="18" charset="0"/>
                            </a:rPr>
                          </m:ctrlPr>
                        </m:funcPr>
                        <m:fName>
                          <m:r>
                            <m:rPr>
                              <m:sty m:val="p"/>
                            </m:rPr>
                            <a:rPr lang="en-US" altLang="zh-TW" sz="2800">
                              <a:latin typeface="Cambria Math" panose="02040503050406030204" pitchFamily="18" charset="0"/>
                            </a:rPr>
                            <m:t>tan</m:t>
                          </m:r>
                        </m:fName>
                        <m:e>
                          <m:r>
                            <a:rPr lang="zh-TW" altLang="en-US" sz="2800" i="1">
                              <a:latin typeface="Cambria Math" panose="02040503050406030204" pitchFamily="18" charset="0"/>
                            </a:rPr>
                            <m:t>𝜃</m:t>
                          </m:r>
                          <m:r>
                            <a:rPr lang="en-US" altLang="zh-TW" sz="2800" i="1">
                              <a:latin typeface="Cambria Math" panose="02040503050406030204" pitchFamily="18" charset="0"/>
                            </a:rPr>
                            <m:t>=</m:t>
                          </m:r>
                        </m:e>
                      </m:func>
                      <m:f>
                        <m:fPr>
                          <m:ctrlPr>
                            <a:rPr lang="en-US" altLang="zh-TW" sz="2800" i="1" smtClean="0">
                              <a:latin typeface="Cambria Math" panose="02040503050406030204" pitchFamily="18" charset="0"/>
                              <a:ea typeface="Cambria Math" panose="02040503050406030204" pitchFamily="18" charset="0"/>
                            </a:rPr>
                          </m:ctrlPr>
                        </m:fPr>
                        <m:num>
                          <m:r>
                            <a:rPr lang="en-US" altLang="zh-TW" sz="2800" i="1">
                              <a:latin typeface="Cambria Math" panose="02040503050406030204" pitchFamily="18" charset="0"/>
                              <a:ea typeface="Cambria Math" panose="02040503050406030204" pitchFamily="18" charset="0"/>
                            </a:rPr>
                            <m:t>0</m:t>
                          </m:r>
                          <m:r>
                            <a:rPr lang="en-US" altLang="zh-TW" sz="2800" i="1" smtClean="0">
                              <a:latin typeface="Cambria Math" panose="02040503050406030204" pitchFamily="18" charset="0"/>
                              <a:ea typeface="Cambria Math" panose="02040503050406030204" pitchFamily="18" charset="0"/>
                            </a:rPr>
                            <m:t>.</m:t>
                          </m:r>
                          <m:r>
                            <a:rPr lang="en-US" altLang="zh-TW" sz="2800" i="1">
                              <a:latin typeface="Cambria Math" panose="02040503050406030204" pitchFamily="18" charset="0"/>
                              <a:ea typeface="Cambria Math" panose="02040503050406030204" pitchFamily="18" charset="0"/>
                            </a:rPr>
                            <m:t>1</m:t>
                          </m:r>
                          <m:r>
                            <a:rPr lang="en-US" altLang="zh-TW" sz="2800" i="1" smtClean="0">
                              <a:latin typeface="Cambria Math" panose="02040503050406030204" pitchFamily="18" charset="0"/>
                              <a:ea typeface="Cambria Math" panose="02040503050406030204" pitchFamily="18" charset="0"/>
                            </a:rPr>
                            <m:t>9</m:t>
                          </m:r>
                          <m:r>
                            <a:rPr lang="en-US" altLang="zh-TW" sz="2800" i="1">
                              <a:latin typeface="Cambria Math" panose="02040503050406030204" pitchFamily="18" charset="0"/>
                              <a:ea typeface="Cambria Math" panose="02040503050406030204" pitchFamily="18" charset="0"/>
                            </a:rPr>
                            <m:t>3</m:t>
                          </m:r>
                        </m:num>
                        <m:den>
                          <m:r>
                            <a:rPr lang="en-US" altLang="zh-TW" sz="2800" i="1">
                              <a:latin typeface="Cambria Math" panose="02040503050406030204" pitchFamily="18" charset="0"/>
                              <a:ea typeface="Cambria Math" panose="02040503050406030204" pitchFamily="18" charset="0"/>
                            </a:rPr>
                            <m:t>1</m:t>
                          </m:r>
                          <m:r>
                            <a:rPr lang="en-US" altLang="zh-TW" sz="2800" i="1" smtClean="0">
                              <a:latin typeface="Cambria Math" panose="02040503050406030204" pitchFamily="18" charset="0"/>
                              <a:ea typeface="Cambria Math" panose="02040503050406030204" pitchFamily="18" charset="0"/>
                            </a:rPr>
                            <m:t>5</m:t>
                          </m:r>
                          <m:r>
                            <a:rPr lang="en-US" altLang="zh-TW" sz="2800" i="1">
                              <a:latin typeface="Cambria Math" panose="02040503050406030204" pitchFamily="18" charset="0"/>
                              <a:ea typeface="Cambria Math" panose="02040503050406030204" pitchFamily="18" charset="0"/>
                            </a:rPr>
                            <m:t>.</m:t>
                          </m:r>
                          <m:r>
                            <a:rPr lang="en-US" altLang="zh-TW" sz="2800" i="1" smtClean="0">
                              <a:latin typeface="Cambria Math" panose="02040503050406030204" pitchFamily="18" charset="0"/>
                              <a:ea typeface="Cambria Math" panose="02040503050406030204" pitchFamily="18" charset="0"/>
                            </a:rPr>
                            <m:t>3</m:t>
                          </m:r>
                          <m:r>
                            <a:rPr lang="en-US" altLang="zh-TW" sz="2800" i="1">
                              <a:latin typeface="Cambria Math" panose="02040503050406030204" pitchFamily="18" charset="0"/>
                              <a:ea typeface="Cambria Math" panose="02040503050406030204" pitchFamily="18" charset="0"/>
                            </a:rPr>
                            <m:t>1</m:t>
                          </m:r>
                          <m:r>
                            <a:rPr lang="en-US" altLang="zh-TW" sz="2800" i="1" smtClean="0">
                              <a:latin typeface="Cambria Math" panose="02040503050406030204" pitchFamily="18" charset="0"/>
                              <a:ea typeface="Cambria Math" panose="02040503050406030204" pitchFamily="18" charset="0"/>
                            </a:rPr>
                            <m:t>8</m:t>
                          </m:r>
                        </m:den>
                      </m:f>
                      <m:r>
                        <a:rPr lang="en-US" altLang="zh-TW" sz="2800" i="1">
                          <a:latin typeface="Cambria Math" panose="02040503050406030204" pitchFamily="18" charset="0"/>
                          <a:ea typeface="Cambria Math" panose="02040503050406030204" pitchFamily="18" charset="0"/>
                        </a:rPr>
                        <m:t>=</m:t>
                      </m:r>
                      <m:r>
                        <a:rPr lang="en-US" altLang="zh-TW" sz="2800" i="1" dirty="0">
                          <a:latin typeface="Cambria Math" panose="02040503050406030204" pitchFamily="18" charset="0"/>
                          <a:ea typeface="Cambria Math" panose="02040503050406030204" pitchFamily="18" charset="0"/>
                        </a:rPr>
                        <m:t>0.0126</m:t>
                      </m:r>
                    </m:oMath>
                  </m:oMathPara>
                </a14:m>
                <a:endParaRPr lang="en-US" altLang="zh-TW" sz="280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zh-TW" altLang="en-US" sz="2800" i="1" smtClean="0">
                          <a:latin typeface="Cambria Math" panose="02040503050406030204" pitchFamily="18" charset="0"/>
                        </a:rPr>
                        <m:t>𝜃</m:t>
                      </m:r>
                      <m:r>
                        <a:rPr lang="en-US" altLang="zh-TW" sz="2800" b="0" i="1" smtClean="0">
                          <a:latin typeface="Cambria Math" panose="02040503050406030204" pitchFamily="18" charset="0"/>
                        </a:rPr>
                        <m:t>=</m:t>
                      </m:r>
                      <m:func>
                        <m:funcPr>
                          <m:ctrlPr>
                            <a:rPr lang="en-US" altLang="zh-TW" sz="2800" b="0" i="1" smtClean="0">
                              <a:latin typeface="Cambria Math" panose="02040503050406030204" pitchFamily="18" charset="0"/>
                            </a:rPr>
                          </m:ctrlPr>
                        </m:funcPr>
                        <m:fName>
                          <m:sSup>
                            <m:sSupPr>
                              <m:ctrlPr>
                                <a:rPr lang="en-US" altLang="zh-TW" sz="2800" b="0" i="1" smtClean="0">
                                  <a:latin typeface="Cambria Math" panose="02040503050406030204" pitchFamily="18" charset="0"/>
                                </a:rPr>
                              </m:ctrlPr>
                            </m:sSupPr>
                            <m:e>
                              <m:r>
                                <m:rPr>
                                  <m:sty m:val="p"/>
                                </m:rPr>
                                <a:rPr lang="en-US" altLang="zh-TW" sz="2800" b="0" i="0" smtClean="0">
                                  <a:latin typeface="Cambria Math" panose="02040503050406030204" pitchFamily="18" charset="0"/>
                                </a:rPr>
                                <m:t>tan</m:t>
                              </m:r>
                            </m:e>
                            <m:sup>
                              <m:r>
                                <a:rPr lang="en-US" altLang="zh-TW" sz="2800" b="0" i="1" smtClean="0">
                                  <a:latin typeface="Cambria Math" panose="02040503050406030204" pitchFamily="18" charset="0"/>
                                </a:rPr>
                                <m:t>−1</m:t>
                              </m:r>
                            </m:sup>
                          </m:sSup>
                        </m:fName>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𝑚</m:t>
                              </m:r>
                            </m:e>
                            <m:sub>
                              <m:r>
                                <a:rPr lang="en-US" altLang="zh-TW" sz="2800" b="0" i="1" smtClean="0">
                                  <a:latin typeface="Cambria Math" panose="02040503050406030204" pitchFamily="18" charset="0"/>
                                </a:rPr>
                                <m:t>𝑥𝑦</m:t>
                              </m:r>
                            </m:sub>
                          </m:sSub>
                        </m:e>
                      </m:func>
                      <m:r>
                        <a:rPr lang="en-US" altLang="zh-TW" sz="2800" i="1">
                          <a:latin typeface="Cambria Math" panose="02040503050406030204" pitchFamily="18" charset="0"/>
                        </a:rPr>
                        <m:t>=</m:t>
                      </m:r>
                      <m:r>
                        <a:rPr lang="en-US" altLang="zh-TW" sz="2800" i="1" dirty="0" smtClean="0">
                          <a:latin typeface="Cambria Math" panose="02040503050406030204" pitchFamily="18" charset="0"/>
                        </a:rPr>
                        <m:t>0</m:t>
                      </m:r>
                      <m:r>
                        <a:rPr lang="en-US" altLang="zh-TW" sz="2800" i="1" dirty="0" smtClean="0">
                          <a:latin typeface="Cambria Math" panose="02040503050406030204" pitchFamily="18" charset="0"/>
                          <a:ea typeface="Cambria Math" panose="02040503050406030204" pitchFamily="18" charset="0"/>
                        </a:rPr>
                        <m:t>.72186°</m:t>
                      </m:r>
                    </m:oMath>
                  </m:oMathPara>
                </a14:m>
                <a:endParaRPr lang="en-US" altLang="zh-TW" sz="2800" dirty="0">
                  <a:ea typeface="Cambria Math" panose="02040503050406030204" pitchFamily="18" charset="0"/>
                </a:endParaRPr>
              </a:p>
            </p:txBody>
          </p:sp>
        </mc:Choice>
        <mc:Fallback xmlns="">
          <p:sp>
            <p:nvSpPr>
              <p:cNvPr id="12" name="文字方塊 11">
                <a:extLst>
                  <a:ext uri="{FF2B5EF4-FFF2-40B4-BE49-F238E27FC236}">
                    <a16:creationId xmlns:a16="http://schemas.microsoft.com/office/drawing/2014/main" id="{2368C146-E5BF-4560-88CC-BA24B516FFA9}"/>
                  </a:ext>
                </a:extLst>
              </p:cNvPr>
              <p:cNvSpPr txBox="1">
                <a:spLocks noRot="1" noChangeAspect="1" noMove="1" noResize="1" noEditPoints="1" noAdjustHandles="1" noChangeArrowheads="1" noChangeShapeType="1" noTextEdit="1"/>
              </p:cNvSpPr>
              <p:nvPr/>
            </p:nvSpPr>
            <p:spPr>
              <a:xfrm>
                <a:off x="986118" y="1690688"/>
                <a:ext cx="5897448" cy="128208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17002508-428D-48C2-BCB7-AD033DBEBF99}"/>
                  </a:ext>
                </a:extLst>
              </p:cNvPr>
              <p:cNvSpPr txBox="1"/>
              <p:nvPr/>
            </p:nvSpPr>
            <p:spPr>
              <a:xfrm>
                <a:off x="548171" y="3377635"/>
                <a:ext cx="8172430" cy="2677656"/>
              </a:xfrm>
              <a:prstGeom prst="rect">
                <a:avLst/>
              </a:prstGeom>
              <a:noFill/>
            </p:spPr>
            <p:txBody>
              <a:bodyPr wrap="square" rtlCol="0">
                <a:spAutoFit/>
              </a:bodyPr>
              <a:lstStyle/>
              <a:p>
                <a:r>
                  <a:rPr lang="zh-TW" altLang="en-US" sz="2400" dirty="0"/>
                  <a:t>當線材幾乎彎折</a:t>
                </a:r>
                <a:r>
                  <a:rPr lang="en-US" altLang="zh-TW" sz="2400" dirty="0"/>
                  <a:t>90</a:t>
                </a:r>
                <a:r>
                  <a:rPr lang="zh-TW" altLang="en-US" sz="2400" dirty="0"/>
                  <a:t>度時，產生極端狀況。</a:t>
                </a:r>
                <a:br>
                  <a:rPr lang="en-US" altLang="zh-TW" sz="2400" dirty="0"/>
                </a:br>
                <a:r>
                  <a:rPr lang="zh-TW" altLang="en-US" sz="2400" dirty="0"/>
                  <a:t>實驗時，線材尖端與插件孔面距離為</a:t>
                </a:r>
                <a:r>
                  <a:rPr lang="en-US" altLang="zh-TW" sz="2400" dirty="0"/>
                  <a:t>15mm</a:t>
                </a:r>
              </a:p>
              <a:p>
                <a:r>
                  <a:rPr lang="zh-TW" altLang="en-US" sz="2400" dirty="0"/>
                  <a:t>斜率意義表明</a:t>
                </a:r>
                <a:r>
                  <a:rPr lang="en-US" altLang="zh-TW" sz="2400" dirty="0"/>
                  <a:t>x</a:t>
                </a:r>
                <a:r>
                  <a:rPr lang="zh-TW" altLang="en-US" sz="2400" dirty="0"/>
                  <a:t>軸方向每前進</a:t>
                </a:r>
                <a:r>
                  <a:rPr lang="en-US" altLang="zh-TW" sz="2400" dirty="0"/>
                  <a:t>1mm</a:t>
                </a:r>
                <a:r>
                  <a:rPr lang="zh-TW" altLang="en-US" sz="2400" dirty="0"/>
                  <a:t>，</a:t>
                </a:r>
                <a:r>
                  <a:rPr lang="en-US" altLang="zh-TW" sz="2400" dirty="0"/>
                  <a:t>y</a:t>
                </a:r>
                <a:r>
                  <a:rPr lang="zh-TW" altLang="en-US" sz="2400" dirty="0"/>
                  <a:t>軸方向偏移</a:t>
                </a:r>
                <a:r>
                  <a:rPr lang="en-US" altLang="zh-TW" sz="2400" dirty="0"/>
                  <a:t>0.0126mm</a:t>
                </a:r>
              </a:p>
              <a:p>
                <a:r>
                  <a:rPr lang="zh-TW" altLang="en-US" sz="2400" dirty="0"/>
                  <a:t>則到插線孔面前為</a:t>
                </a:r>
                <a:endParaRPr lang="en-US" altLang="zh-TW" sz="24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TW" sz="2400" i="1" dirty="0" smtClean="0">
                          <a:latin typeface="Cambria Math" panose="02040503050406030204" pitchFamily="18" charset="0"/>
                        </a:rPr>
                        <m:t>0.0126</m:t>
                      </m:r>
                      <m:r>
                        <a:rPr lang="zh-TW" altLang="en-US" sz="2400" i="1" dirty="0" smtClean="0">
                          <a:latin typeface="Cambria Math" panose="02040503050406030204" pitchFamily="18" charset="0"/>
                        </a:rPr>
                        <m:t>∗</m:t>
                      </m:r>
                      <m:r>
                        <a:rPr lang="en-US" altLang="zh-TW" sz="2400" i="1" dirty="0" smtClean="0">
                          <a:latin typeface="Cambria Math" panose="02040503050406030204" pitchFamily="18" charset="0"/>
                        </a:rPr>
                        <m:t>15=0.189</m:t>
                      </m:r>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𝑚𝑚</m:t>
                      </m:r>
                    </m:oMath>
                  </m:oMathPara>
                </a14:m>
                <a:endParaRPr lang="en-US" altLang="zh-TW" sz="2400" dirty="0"/>
              </a:p>
              <a:p>
                <a:r>
                  <a:rPr lang="zh-TW" altLang="en-US" sz="2400" dirty="0"/>
                  <a:t>而實驗環境下的線材與插件孔面間的公差為</a:t>
                </a:r>
                <a:r>
                  <a:rPr lang="en-US" altLang="zh-TW" sz="2400" dirty="0"/>
                  <a:t>1.15mm</a:t>
                </a:r>
              </a:p>
              <a:p>
                <a:r>
                  <a:rPr lang="zh-TW" altLang="en-US" sz="2400" dirty="0"/>
                  <a:t>為其</a:t>
                </a:r>
                <a:r>
                  <a:rPr lang="en-US" altLang="zh-TW" sz="2400" dirty="0"/>
                  <a:t>6.1</a:t>
                </a:r>
                <a:r>
                  <a:rPr lang="zh-TW" altLang="en-US" sz="2400" dirty="0"/>
                  <a:t>倍差距，相較之下依然不影響實驗結果</a:t>
                </a:r>
                <a:endParaRPr lang="en-US" altLang="zh-TW" sz="2400" dirty="0"/>
              </a:p>
            </p:txBody>
          </p:sp>
        </mc:Choice>
        <mc:Fallback xmlns="">
          <p:sp>
            <p:nvSpPr>
              <p:cNvPr id="13" name="文字方塊 12">
                <a:extLst>
                  <a:ext uri="{FF2B5EF4-FFF2-40B4-BE49-F238E27FC236}">
                    <a16:creationId xmlns:a16="http://schemas.microsoft.com/office/drawing/2014/main" id="{17002508-428D-48C2-BCB7-AD033DBEBF99}"/>
                  </a:ext>
                </a:extLst>
              </p:cNvPr>
              <p:cNvSpPr txBox="1">
                <a:spLocks noRot="1" noChangeAspect="1" noMove="1" noResize="1" noEditPoints="1" noAdjustHandles="1" noChangeArrowheads="1" noChangeShapeType="1" noTextEdit="1"/>
              </p:cNvSpPr>
              <p:nvPr/>
            </p:nvSpPr>
            <p:spPr>
              <a:xfrm>
                <a:off x="548171" y="3377635"/>
                <a:ext cx="8172430" cy="2677656"/>
              </a:xfrm>
              <a:prstGeom prst="rect">
                <a:avLst/>
              </a:prstGeom>
              <a:blipFill>
                <a:blip r:embed="rId6"/>
                <a:stretch>
                  <a:fillRect l="-1193" t="-1595" b="-4556"/>
                </a:stretch>
              </a:blipFill>
            </p:spPr>
            <p:txBody>
              <a:bodyPr/>
              <a:lstStyle/>
              <a:p>
                <a:r>
                  <a:rPr lang="zh-TW" altLang="en-US">
                    <a:noFill/>
                  </a:rPr>
                  <a:t> </a:t>
                </a:r>
              </a:p>
            </p:txBody>
          </p:sp>
        </mc:Fallback>
      </mc:AlternateContent>
      <p:sp>
        <p:nvSpPr>
          <p:cNvPr id="14" name="文字方塊 13">
            <a:extLst>
              <a:ext uri="{FF2B5EF4-FFF2-40B4-BE49-F238E27FC236}">
                <a16:creationId xmlns:a16="http://schemas.microsoft.com/office/drawing/2014/main" id="{36AF028B-F084-41EA-A0D5-E704CDE19A73}"/>
              </a:ext>
            </a:extLst>
          </p:cNvPr>
          <p:cNvSpPr txBox="1"/>
          <p:nvPr/>
        </p:nvSpPr>
        <p:spPr>
          <a:xfrm>
            <a:off x="6617838" y="412231"/>
            <a:ext cx="941283" cy="369332"/>
          </a:xfrm>
          <a:prstGeom prst="rect">
            <a:avLst/>
          </a:prstGeom>
          <a:noFill/>
        </p:spPr>
        <p:txBody>
          <a:bodyPr wrap="none" rtlCol="0">
            <a:spAutoFit/>
          </a:bodyPr>
          <a:lstStyle/>
          <a:p>
            <a:r>
              <a:rPr lang="en-US" altLang="zh-TW" dirty="0"/>
              <a:t>3D</a:t>
            </a:r>
            <a:r>
              <a:rPr lang="zh-TW" altLang="en-US" dirty="0"/>
              <a:t>視圖</a:t>
            </a:r>
          </a:p>
        </p:txBody>
      </p:sp>
      <p:sp>
        <p:nvSpPr>
          <p:cNvPr id="15" name="矩形 14">
            <a:extLst>
              <a:ext uri="{FF2B5EF4-FFF2-40B4-BE49-F238E27FC236}">
                <a16:creationId xmlns:a16="http://schemas.microsoft.com/office/drawing/2014/main" id="{39A662BC-C66F-42E6-8C4D-89C95C5A0541}"/>
              </a:ext>
            </a:extLst>
          </p:cNvPr>
          <p:cNvSpPr/>
          <p:nvPr/>
        </p:nvSpPr>
        <p:spPr>
          <a:xfrm>
            <a:off x="9982200" y="3675650"/>
            <a:ext cx="1486437" cy="619454"/>
          </a:xfrm>
          <a:prstGeom prst="rect">
            <a:avLst/>
          </a:prstGeom>
          <a:solidFill>
            <a:schemeClr val="accent1">
              <a:alpha val="34000"/>
            </a:schemeClr>
          </a:solidFill>
          <a:ln>
            <a:noFill/>
          </a:ln>
          <a:effectLst>
            <a:outerShdw blurRad="50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投影片編號版面配置區 3">
            <a:extLst>
              <a:ext uri="{FF2B5EF4-FFF2-40B4-BE49-F238E27FC236}">
                <a16:creationId xmlns:a16="http://schemas.microsoft.com/office/drawing/2014/main" id="{843A45E9-DC4C-4B23-849C-01D7DBF24272}"/>
              </a:ext>
            </a:extLst>
          </p:cNvPr>
          <p:cNvSpPr>
            <a:spLocks noGrp="1"/>
          </p:cNvSpPr>
          <p:nvPr>
            <p:ph type="sldNum" sz="quarter" idx="12"/>
          </p:nvPr>
        </p:nvSpPr>
        <p:spPr/>
        <p:txBody>
          <a:bodyPr/>
          <a:lstStyle/>
          <a:p>
            <a:fld id="{12DE3F29-1F68-43B4-BFC6-B027CAE8215F}" type="slidenum">
              <a:rPr lang="zh-TW" altLang="en-US" smtClean="0"/>
              <a:t>20</a:t>
            </a:fld>
            <a:endParaRPr lang="zh-TW" altLang="en-US"/>
          </a:p>
        </p:txBody>
      </p:sp>
      <p:pic>
        <p:nvPicPr>
          <p:cNvPr id="16" name="圖片 15">
            <a:extLst>
              <a:ext uri="{FF2B5EF4-FFF2-40B4-BE49-F238E27FC236}">
                <a16:creationId xmlns:a16="http://schemas.microsoft.com/office/drawing/2014/main" id="{9417C24D-50CF-429B-B7A5-651EBD26396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grpSp>
        <p:nvGrpSpPr>
          <p:cNvPr id="3" name="群組 2">
            <a:extLst>
              <a:ext uri="{FF2B5EF4-FFF2-40B4-BE49-F238E27FC236}">
                <a16:creationId xmlns:a16="http://schemas.microsoft.com/office/drawing/2014/main" id="{3B1E0535-993A-4800-B02B-470CA0590E97}"/>
              </a:ext>
            </a:extLst>
          </p:cNvPr>
          <p:cNvGrpSpPr/>
          <p:nvPr/>
        </p:nvGrpSpPr>
        <p:grpSpPr>
          <a:xfrm>
            <a:off x="6473432" y="309705"/>
            <a:ext cx="5512379" cy="6309759"/>
            <a:chOff x="6473432" y="309705"/>
            <a:chExt cx="5512379" cy="6309759"/>
          </a:xfrm>
        </p:grpSpPr>
        <p:grpSp>
          <p:nvGrpSpPr>
            <p:cNvPr id="11" name="群組 10">
              <a:extLst>
                <a:ext uri="{FF2B5EF4-FFF2-40B4-BE49-F238E27FC236}">
                  <a16:creationId xmlns:a16="http://schemas.microsoft.com/office/drawing/2014/main" id="{95BBFE0B-80E3-4992-B5DD-C07EEDD06C5B}"/>
                </a:ext>
              </a:extLst>
            </p:cNvPr>
            <p:cNvGrpSpPr/>
            <p:nvPr/>
          </p:nvGrpSpPr>
          <p:grpSpPr>
            <a:xfrm>
              <a:off x="8672500" y="4914251"/>
              <a:ext cx="2101019" cy="1705213"/>
              <a:chOff x="8672500" y="4914251"/>
              <a:chExt cx="2101019" cy="1705213"/>
            </a:xfrm>
          </p:grpSpPr>
          <p:pic>
            <p:nvPicPr>
              <p:cNvPr id="5" name="圖片 4">
                <a:extLst>
                  <a:ext uri="{FF2B5EF4-FFF2-40B4-BE49-F238E27FC236}">
                    <a16:creationId xmlns:a16="http://schemas.microsoft.com/office/drawing/2014/main" id="{6701F9B5-B7D6-48DE-AC59-AADD3F243949}"/>
                  </a:ext>
                </a:extLst>
              </p:cNvPr>
              <p:cNvPicPr>
                <a:picLocks noChangeAspect="1"/>
              </p:cNvPicPr>
              <p:nvPr/>
            </p:nvPicPr>
            <p:blipFill rotWithShape="1">
              <a:blip r:embed="rId8"/>
              <a:srcRect l="9553" r="61559"/>
              <a:stretch/>
            </p:blipFill>
            <p:spPr>
              <a:xfrm>
                <a:off x="8720601" y="4914251"/>
                <a:ext cx="2052918" cy="1705213"/>
              </a:xfrm>
              <a:prstGeom prst="rect">
                <a:avLst/>
              </a:prstGeom>
            </p:spPr>
          </p:pic>
          <p:pic>
            <p:nvPicPr>
              <p:cNvPr id="10" name="圖片 9">
                <a:extLst>
                  <a:ext uri="{FF2B5EF4-FFF2-40B4-BE49-F238E27FC236}">
                    <a16:creationId xmlns:a16="http://schemas.microsoft.com/office/drawing/2014/main" id="{A1E3A379-FE3C-4FC9-B524-C4226F499803}"/>
                  </a:ext>
                </a:extLst>
              </p:cNvPr>
              <p:cNvPicPr>
                <a:picLocks noChangeAspect="1"/>
              </p:cNvPicPr>
              <p:nvPr/>
            </p:nvPicPr>
            <p:blipFill>
              <a:blip r:embed="rId9"/>
              <a:stretch>
                <a:fillRect/>
              </a:stretch>
            </p:blipFill>
            <p:spPr>
              <a:xfrm>
                <a:off x="8672500" y="5092771"/>
                <a:ext cx="2052918" cy="430306"/>
              </a:xfrm>
              <a:prstGeom prst="rect">
                <a:avLst/>
              </a:prstGeom>
            </p:spPr>
          </p:pic>
        </p:grpSp>
        <p:pic>
          <p:nvPicPr>
            <p:cNvPr id="17" name="內容版面配置區 6">
              <a:extLst>
                <a:ext uri="{FF2B5EF4-FFF2-40B4-BE49-F238E27FC236}">
                  <a16:creationId xmlns:a16="http://schemas.microsoft.com/office/drawing/2014/main" id="{13857A3B-CC79-4482-A0E7-F13E36ED824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473432" y="309705"/>
              <a:ext cx="5512379" cy="4199681"/>
            </a:xfrm>
            <a:prstGeom prst="rect">
              <a:avLst/>
            </a:prstGeom>
          </p:spPr>
        </p:pic>
        <p:cxnSp>
          <p:nvCxnSpPr>
            <p:cNvPr id="18" name="直線單箭頭接點 17">
              <a:extLst>
                <a:ext uri="{FF2B5EF4-FFF2-40B4-BE49-F238E27FC236}">
                  <a16:creationId xmlns:a16="http://schemas.microsoft.com/office/drawing/2014/main" id="{42232079-8446-42AF-A1A0-F6C7D76C6C45}"/>
                </a:ext>
              </a:extLst>
            </p:cNvPr>
            <p:cNvCxnSpPr>
              <a:cxnSpLocks/>
            </p:cNvCxnSpPr>
            <p:nvPr/>
          </p:nvCxnSpPr>
          <p:spPr>
            <a:xfrm flipV="1">
              <a:off x="9747059" y="4295104"/>
              <a:ext cx="978359" cy="619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9905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2106B-D814-4CD8-A40D-DAC14B25014D}"/>
              </a:ext>
            </a:extLst>
          </p:cNvPr>
          <p:cNvSpPr>
            <a:spLocks noGrp="1"/>
          </p:cNvSpPr>
          <p:nvPr>
            <p:ph type="title"/>
          </p:nvPr>
        </p:nvSpPr>
        <p:spPr/>
        <p:txBody>
          <a:bodyPr/>
          <a:lstStyle/>
          <a:p>
            <a:r>
              <a:rPr lang="zh-TW" altLang="en-US" dirty="0"/>
              <a:t>未來展望</a:t>
            </a:r>
          </a:p>
        </p:txBody>
      </p:sp>
      <p:pic>
        <p:nvPicPr>
          <p:cNvPr id="7" name="圖片 6">
            <a:extLst>
              <a:ext uri="{FF2B5EF4-FFF2-40B4-BE49-F238E27FC236}">
                <a16:creationId xmlns:a16="http://schemas.microsoft.com/office/drawing/2014/main" id="{5245BA45-F8E3-485B-8258-EEBC2EE219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2817" y="696804"/>
            <a:ext cx="7023652" cy="982457"/>
          </a:xfrm>
          <a:prstGeom prst="rect">
            <a:avLst/>
          </a:prstGeom>
          <a:effectLst>
            <a:outerShdw blurRad="50800" dist="38100" dir="2700000" algn="tl" rotWithShape="0">
              <a:prstClr val="black">
                <a:alpha val="40000"/>
              </a:prstClr>
            </a:outerShdw>
          </a:effectLst>
        </p:spPr>
      </p:pic>
      <p:sp>
        <p:nvSpPr>
          <p:cNvPr id="8" name="文字方塊 7">
            <a:extLst>
              <a:ext uri="{FF2B5EF4-FFF2-40B4-BE49-F238E27FC236}">
                <a16:creationId xmlns:a16="http://schemas.microsoft.com/office/drawing/2014/main" id="{9B462526-D87B-47F0-8816-7DEBA867027E}"/>
              </a:ext>
            </a:extLst>
          </p:cNvPr>
          <p:cNvSpPr txBox="1"/>
          <p:nvPr/>
        </p:nvSpPr>
        <p:spPr>
          <a:xfrm>
            <a:off x="616226" y="1875354"/>
            <a:ext cx="4432852" cy="4524315"/>
          </a:xfrm>
          <a:prstGeom prst="rect">
            <a:avLst/>
          </a:prstGeom>
          <a:noFill/>
        </p:spPr>
        <p:txBody>
          <a:bodyPr wrap="square" rtlCol="0">
            <a:spAutoFit/>
          </a:bodyPr>
          <a:lstStyle/>
          <a:p>
            <a:pPr marL="457200" indent="-457200">
              <a:buFont typeface="Arial" panose="020B0604020202020204" pitchFamily="34" charset="0"/>
              <a:buChar char="•"/>
            </a:pPr>
            <a:r>
              <a:rPr lang="zh-TW" altLang="en-US" sz="2400" dirty="0"/>
              <a:t>現行研究以固定角度夾爪手指代替視覺判斷線材彎折角度。</a:t>
            </a:r>
            <a:endParaRPr lang="en-US" altLang="zh-TW" sz="2400" dirty="0"/>
          </a:p>
          <a:p>
            <a:pPr marL="457200" indent="-457200">
              <a:buFont typeface="Arial" panose="020B0604020202020204" pitchFamily="34" charset="0"/>
              <a:buChar char="•"/>
            </a:pPr>
            <a:r>
              <a:rPr lang="zh-TW" altLang="en-US" sz="2400" dirty="0"/>
              <a:t>未來加入相機以視覺方式辨識線材彎折角度，搭配原有夾爪治具，目標是實現能每次都進行彎折修正的自動化插件，搭配手眼協調並且可以應用於各式各樣的六軸手臂上，也能基於柔性線性插件產品的長度等參數修正模擬時的模型。</a:t>
            </a:r>
            <a:endParaRPr lang="en-US" altLang="zh-TW" sz="2400" dirty="0"/>
          </a:p>
        </p:txBody>
      </p:sp>
      <p:sp>
        <p:nvSpPr>
          <p:cNvPr id="26" name="文字方塊 25">
            <a:extLst>
              <a:ext uri="{FF2B5EF4-FFF2-40B4-BE49-F238E27FC236}">
                <a16:creationId xmlns:a16="http://schemas.microsoft.com/office/drawing/2014/main" id="{EEDDD20E-2290-4A24-B2C8-A7BA6B7E0E70}"/>
              </a:ext>
            </a:extLst>
          </p:cNvPr>
          <p:cNvSpPr txBox="1"/>
          <p:nvPr/>
        </p:nvSpPr>
        <p:spPr>
          <a:xfrm>
            <a:off x="7575273" y="1690688"/>
            <a:ext cx="1838739" cy="369332"/>
          </a:xfrm>
          <a:prstGeom prst="rect">
            <a:avLst/>
          </a:prstGeom>
          <a:noFill/>
        </p:spPr>
        <p:txBody>
          <a:bodyPr wrap="square" rtlCol="0">
            <a:spAutoFit/>
          </a:bodyPr>
          <a:lstStyle/>
          <a:p>
            <a:r>
              <a:rPr lang="zh-TW" altLang="en-US" dirty="0"/>
              <a:t>步驟</a:t>
            </a:r>
            <a:r>
              <a:rPr lang="en-US" altLang="zh-TW" dirty="0"/>
              <a:t>5.</a:t>
            </a:r>
            <a:r>
              <a:rPr lang="zh-TW" altLang="en-US" dirty="0"/>
              <a:t> 未來目標</a:t>
            </a:r>
          </a:p>
        </p:txBody>
      </p:sp>
      <p:pic>
        <p:nvPicPr>
          <p:cNvPr id="34" name="內容版面配置區 33">
            <a:extLst>
              <a:ext uri="{FF2B5EF4-FFF2-40B4-BE49-F238E27FC236}">
                <a16:creationId xmlns:a16="http://schemas.microsoft.com/office/drawing/2014/main" id="{46B7ED27-D9FE-4AF2-AAC7-C9B7C08EEE7D}"/>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p:blipFill>
        <p:spPr>
          <a:xfrm>
            <a:off x="5958607" y="2162372"/>
            <a:ext cx="5072070" cy="4169488"/>
          </a:xfrm>
        </p:spPr>
      </p:pic>
      <p:sp>
        <p:nvSpPr>
          <p:cNvPr id="35" name="文字方塊 34">
            <a:extLst>
              <a:ext uri="{FF2B5EF4-FFF2-40B4-BE49-F238E27FC236}">
                <a16:creationId xmlns:a16="http://schemas.microsoft.com/office/drawing/2014/main" id="{789173F1-7AF0-49E0-836E-B5846A9AABCB}"/>
              </a:ext>
            </a:extLst>
          </p:cNvPr>
          <p:cNvSpPr txBox="1"/>
          <p:nvPr/>
        </p:nvSpPr>
        <p:spPr>
          <a:xfrm>
            <a:off x="7712349" y="6331860"/>
            <a:ext cx="1564586" cy="369332"/>
          </a:xfrm>
          <a:prstGeom prst="rect">
            <a:avLst/>
          </a:prstGeom>
          <a:noFill/>
        </p:spPr>
        <p:txBody>
          <a:bodyPr wrap="square" rtlCol="0">
            <a:spAutoFit/>
          </a:bodyPr>
          <a:lstStyle/>
          <a:p>
            <a:r>
              <a:rPr lang="zh-TW" altLang="en-US" dirty="0"/>
              <a:t>研究成果運用</a:t>
            </a:r>
          </a:p>
        </p:txBody>
      </p:sp>
      <p:sp>
        <p:nvSpPr>
          <p:cNvPr id="4" name="投影片編號版面配置區 3">
            <a:extLst>
              <a:ext uri="{FF2B5EF4-FFF2-40B4-BE49-F238E27FC236}">
                <a16:creationId xmlns:a16="http://schemas.microsoft.com/office/drawing/2014/main" id="{5021C01F-474A-4881-AEE2-226752FA1F85}"/>
              </a:ext>
            </a:extLst>
          </p:cNvPr>
          <p:cNvSpPr>
            <a:spLocks noGrp="1"/>
          </p:cNvSpPr>
          <p:nvPr>
            <p:ph type="sldNum" sz="quarter" idx="12"/>
          </p:nvPr>
        </p:nvSpPr>
        <p:spPr/>
        <p:txBody>
          <a:bodyPr/>
          <a:lstStyle/>
          <a:p>
            <a:fld id="{12DE3F29-1F68-43B4-BFC6-B027CAE8215F}" type="slidenum">
              <a:rPr lang="zh-TW" altLang="en-US" smtClean="0"/>
              <a:t>21</a:t>
            </a:fld>
            <a:endParaRPr lang="zh-TW" altLang="en-US"/>
          </a:p>
        </p:txBody>
      </p:sp>
      <p:pic>
        <p:nvPicPr>
          <p:cNvPr id="10" name="圖片 9">
            <a:extLst>
              <a:ext uri="{FF2B5EF4-FFF2-40B4-BE49-F238E27FC236}">
                <a16:creationId xmlns:a16="http://schemas.microsoft.com/office/drawing/2014/main" id="{53F11E08-7533-4354-AEBC-EDFA8432BD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484043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A1101C-A438-4498-9EE9-D600A4C6173A}"/>
              </a:ext>
            </a:extLst>
          </p:cNvPr>
          <p:cNvSpPr>
            <a:spLocks noGrp="1"/>
          </p:cNvSpPr>
          <p:nvPr>
            <p:ph type="title"/>
          </p:nvPr>
        </p:nvSpPr>
        <p:spPr>
          <a:xfrm>
            <a:off x="838200" y="1378136"/>
            <a:ext cx="10515600" cy="1325563"/>
          </a:xfrm>
        </p:spPr>
        <p:txBody>
          <a:bodyPr/>
          <a:lstStyle/>
          <a:p>
            <a:pPr algn="ctr"/>
            <a:r>
              <a:rPr lang="en-US" altLang="zh-TW" dirty="0"/>
              <a:t>Thank you for listening</a:t>
            </a:r>
            <a:endParaRPr lang="zh-TW" altLang="en-US" dirty="0"/>
          </a:p>
        </p:txBody>
      </p:sp>
      <p:sp>
        <p:nvSpPr>
          <p:cNvPr id="3" name="內容版面配置區 2">
            <a:extLst>
              <a:ext uri="{FF2B5EF4-FFF2-40B4-BE49-F238E27FC236}">
                <a16:creationId xmlns:a16="http://schemas.microsoft.com/office/drawing/2014/main" id="{80E31C65-6E3A-423C-B19A-CF79581301C6}"/>
              </a:ext>
            </a:extLst>
          </p:cNvPr>
          <p:cNvSpPr>
            <a:spLocks noGrp="1"/>
          </p:cNvSpPr>
          <p:nvPr>
            <p:ph idx="1"/>
          </p:nvPr>
        </p:nvSpPr>
        <p:spPr/>
        <p:txBody>
          <a:bodyPr>
            <a:normAutofit/>
          </a:bodyPr>
          <a:lstStyle/>
          <a:p>
            <a:pPr marL="0" indent="0" algn="ctr">
              <a:buNone/>
            </a:pPr>
            <a:br>
              <a:rPr lang="en-US" altLang="zh-TW" sz="8800" dirty="0"/>
            </a:br>
            <a:r>
              <a:rPr lang="en-US" altLang="zh-TW" sz="8800" dirty="0"/>
              <a:t>Q&amp;A</a:t>
            </a:r>
            <a:endParaRPr lang="zh-TW" altLang="en-US" sz="8800" dirty="0"/>
          </a:p>
        </p:txBody>
      </p:sp>
      <p:sp>
        <p:nvSpPr>
          <p:cNvPr id="4" name="投影片編號版面配置區 3">
            <a:extLst>
              <a:ext uri="{FF2B5EF4-FFF2-40B4-BE49-F238E27FC236}">
                <a16:creationId xmlns:a16="http://schemas.microsoft.com/office/drawing/2014/main" id="{9ABF8977-576B-41F2-8F84-683A04FB524A}"/>
              </a:ext>
            </a:extLst>
          </p:cNvPr>
          <p:cNvSpPr>
            <a:spLocks noGrp="1"/>
          </p:cNvSpPr>
          <p:nvPr>
            <p:ph type="sldNum" sz="quarter" idx="12"/>
          </p:nvPr>
        </p:nvSpPr>
        <p:spPr/>
        <p:txBody>
          <a:bodyPr/>
          <a:lstStyle/>
          <a:p>
            <a:fld id="{12DE3F29-1F68-43B4-BFC6-B027CAE8215F}" type="slidenum">
              <a:rPr lang="zh-TW" altLang="en-US" smtClean="0"/>
              <a:t>22</a:t>
            </a:fld>
            <a:endParaRPr lang="zh-TW" altLang="en-US"/>
          </a:p>
        </p:txBody>
      </p:sp>
      <p:pic>
        <p:nvPicPr>
          <p:cNvPr id="5" name="圖片 4">
            <a:extLst>
              <a:ext uri="{FF2B5EF4-FFF2-40B4-BE49-F238E27FC236}">
                <a16:creationId xmlns:a16="http://schemas.microsoft.com/office/drawing/2014/main" id="{9C2F9BEE-8B48-413E-A91D-8CBBCA1D77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25379916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30753D09-82B5-4982-B8CC-A087232501AC}"/>
              </a:ext>
            </a:extLst>
          </p:cNvPr>
          <p:cNvPicPr>
            <a:picLocks noChangeAspect="1"/>
          </p:cNvPicPr>
          <p:nvPr/>
        </p:nvPicPr>
        <p:blipFill rotWithShape="1">
          <a:blip r:embed="rId3">
            <a:extLst>
              <a:ext uri="{28A0092B-C50C-407E-A947-70E740481C1C}">
                <a14:useLocalDpi xmlns:a14="http://schemas.microsoft.com/office/drawing/2010/main" val="0"/>
              </a:ext>
            </a:extLst>
          </a:blip>
          <a:srcRect l="35702" t="8859" r="16929" b="39650"/>
          <a:stretch/>
        </p:blipFill>
        <p:spPr>
          <a:xfrm>
            <a:off x="7664115" y="530183"/>
            <a:ext cx="4331369" cy="3531269"/>
          </a:xfrm>
          <a:prstGeom prst="rect">
            <a:avLst/>
          </a:prstGeom>
          <a:ln>
            <a:solidFill>
              <a:schemeClr val="tx1"/>
            </a:solidFill>
          </a:ln>
        </p:spPr>
      </p:pic>
      <p:sp>
        <p:nvSpPr>
          <p:cNvPr id="2" name="標題 1">
            <a:extLst>
              <a:ext uri="{FF2B5EF4-FFF2-40B4-BE49-F238E27FC236}">
                <a16:creationId xmlns:a16="http://schemas.microsoft.com/office/drawing/2014/main" id="{1260C69A-F062-4C7C-A55C-D3C9F50EE52E}"/>
              </a:ext>
            </a:extLst>
          </p:cNvPr>
          <p:cNvSpPr>
            <a:spLocks noGrp="1"/>
          </p:cNvSpPr>
          <p:nvPr>
            <p:ph type="title"/>
          </p:nvPr>
        </p:nvSpPr>
        <p:spPr/>
        <p:txBody>
          <a:bodyPr/>
          <a:lstStyle/>
          <a:p>
            <a:r>
              <a:rPr lang="zh-TW" altLang="en-US" dirty="0"/>
              <a:t>附錄</a:t>
            </a:r>
            <a:r>
              <a:rPr lang="en-US" altLang="zh-TW" dirty="0"/>
              <a:t>1:</a:t>
            </a:r>
            <a:r>
              <a:rPr lang="zh-TW" altLang="en-US" dirty="0"/>
              <a:t> 齊次變換方程式</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8F6C9B39-005E-4AA0-B74F-DE32079E3A4E}"/>
                  </a:ext>
                </a:extLst>
              </p:cNvPr>
              <p:cNvSpPr>
                <a:spLocks noGrp="1"/>
              </p:cNvSpPr>
              <p:nvPr>
                <p:ph idx="1"/>
              </p:nvPr>
            </p:nvSpPr>
            <p:spPr>
              <a:xfrm>
                <a:off x="417095" y="1855746"/>
                <a:ext cx="10515600" cy="4351338"/>
              </a:xfrm>
            </p:spPr>
            <p:txBody>
              <a:bodyPr/>
              <a:lstStyle/>
              <a:p>
                <a:pPr marL="0" indent="0">
                  <a:buNone/>
                </a:pPr>
                <a:r>
                  <a:rPr lang="zh-TW" altLang="en-US" dirty="0"/>
                  <a:t>為了描述從手臂到線材尖端位置的方程式</a:t>
                </a:r>
                <a:endParaRPr lang="en-US" altLang="zh-TW" dirty="0"/>
              </a:p>
              <a:p>
                <a:pPr marL="0" indent="0">
                  <a:buNone/>
                </a:pPr>
                <a:r>
                  <a:rPr lang="zh-TW" altLang="en-US" dirty="0"/>
                  <a:t>稱作齊次變換方程式</a:t>
                </a:r>
                <a:r>
                  <a:rPr lang="en-US" altLang="zh-TW" dirty="0"/>
                  <a:t>:</a:t>
                </a:r>
              </a:p>
              <a:p>
                <a:pPr marL="0" indent="0">
                  <a:buNone/>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8</m:t>
                          </m:r>
                        </m:sub>
                        <m:sup>
                          <m:r>
                            <a:rPr lang="en-US" altLang="zh-TW" i="1" smtClean="0">
                              <a:latin typeface="Cambria Math" panose="02040503050406030204" pitchFamily="18" charset="0"/>
                            </a:rPr>
                            <m:t>1</m:t>
                          </m:r>
                        </m:sup>
                        <m:e>
                          <m:r>
                            <m:rPr>
                              <m:sty m:val="p"/>
                            </m:rPr>
                            <a:rPr lang="en-US" altLang="zh-TW" i="1" smtClean="0">
                              <a:latin typeface="Cambria Math" panose="02040503050406030204" pitchFamily="18" charset="0"/>
                            </a:rPr>
                            <m:t>T</m:t>
                          </m:r>
                          <m:r>
                            <a:rPr lang="en-US" altLang="zh-TW" i="1">
                              <a:latin typeface="Cambria Math" panose="02040503050406030204" pitchFamily="18" charset="0"/>
                            </a:rPr>
                            <m:t>=</m:t>
                          </m:r>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2</m:t>
                              </m:r>
                            </m:sub>
                            <m:sup>
                              <m:r>
                                <a:rPr lang="en-US" altLang="zh-TW" i="1" smtClean="0">
                                  <a:latin typeface="Cambria Math" panose="02040503050406030204" pitchFamily="18" charset="0"/>
                                </a:rPr>
                                <m:t>1</m:t>
                              </m:r>
                            </m:sup>
                            <m:e>
                              <m:r>
                                <m:rPr>
                                  <m:sty m:val="p"/>
                                </m:rPr>
                                <a:rPr lang="en-US" altLang="zh-TW" i="1" smtClean="0">
                                  <a:latin typeface="Cambria Math" panose="02040503050406030204" pitchFamily="18" charset="0"/>
                                </a:rPr>
                                <m:t>T</m:t>
                              </m:r>
                            </m:e>
                          </m:sPre>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3</m:t>
                              </m:r>
                            </m:sub>
                            <m:sup>
                              <m:r>
                                <a:rPr lang="en-US" altLang="zh-TW" i="1" smtClean="0">
                                  <a:latin typeface="Cambria Math" panose="02040503050406030204" pitchFamily="18" charset="0"/>
                                </a:rPr>
                                <m:t>2</m:t>
                              </m:r>
                            </m:sup>
                            <m:e>
                              <m:r>
                                <m:rPr>
                                  <m:sty m:val="p"/>
                                </m:rPr>
                                <a:rPr lang="en-US" altLang="zh-TW" i="1" smtClean="0">
                                  <a:latin typeface="Cambria Math" panose="02040503050406030204" pitchFamily="18" charset="0"/>
                                </a:rPr>
                                <m:t>T</m:t>
                              </m:r>
                            </m:e>
                          </m:sPre>
                          <m:r>
                            <a:rPr lang="en-US" altLang="zh-TW" i="1" smtClean="0">
                              <a:latin typeface="Cambria Math" panose="02040503050406030204" pitchFamily="18" charset="0"/>
                            </a:rPr>
                            <m:t>.</m:t>
                          </m:r>
                          <m:r>
                            <a:rPr lang="en-US" altLang="zh-TW" i="1">
                              <a:latin typeface="Cambria Math" panose="02040503050406030204" pitchFamily="18" charset="0"/>
                            </a:rPr>
                            <m:t>.</m:t>
                          </m:r>
                          <m:r>
                            <a:rPr lang="en-US" altLang="zh-TW" i="1" smtClean="0">
                              <a:latin typeface="Cambria Math" panose="02040503050406030204" pitchFamily="18" charset="0"/>
                            </a:rPr>
                            <m:t>.</m:t>
                          </m:r>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7</m:t>
                              </m:r>
                            </m:sub>
                            <m:sup>
                              <m:r>
                                <a:rPr lang="en-US" altLang="zh-TW" i="1" smtClean="0">
                                  <a:latin typeface="Cambria Math" panose="02040503050406030204" pitchFamily="18" charset="0"/>
                                </a:rPr>
                                <m:t>6</m:t>
                              </m:r>
                            </m:sup>
                            <m:e>
                              <m:r>
                                <m:rPr>
                                  <m:sty m:val="p"/>
                                </m:rPr>
                                <a:rPr lang="en-US" altLang="zh-TW" i="1" smtClean="0">
                                  <a:latin typeface="Cambria Math" panose="02040503050406030204" pitchFamily="18" charset="0"/>
                                </a:rPr>
                                <m:t>T</m:t>
                              </m:r>
                            </m:e>
                          </m:sPre>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8</m:t>
                              </m:r>
                            </m:sub>
                            <m:sup>
                              <m:r>
                                <a:rPr lang="en-US" altLang="zh-TW" i="1" smtClean="0">
                                  <a:latin typeface="Cambria Math" panose="02040503050406030204" pitchFamily="18" charset="0"/>
                                </a:rPr>
                                <m:t>7</m:t>
                              </m:r>
                            </m:sup>
                            <m:e>
                              <m:r>
                                <m:rPr>
                                  <m:sty m:val="p"/>
                                </m:rPr>
                                <a:rPr lang="en-US" altLang="zh-TW" i="1" smtClean="0">
                                  <a:latin typeface="Cambria Math" panose="02040503050406030204" pitchFamily="18" charset="0"/>
                                </a:rPr>
                                <m:t>T</m:t>
                              </m:r>
                            </m:e>
                          </m:sPre>
                        </m:e>
                      </m:sPre>
                    </m:oMath>
                  </m:oMathPara>
                </a14:m>
                <a:endParaRPr lang="en-US" altLang="zh-TW" dirty="0"/>
              </a:p>
              <a:p>
                <a:pPr marL="0" indent="0">
                  <a:buNone/>
                </a:pPr>
                <a:r>
                  <a:rPr lang="zh-TW" altLang="en-US" dirty="0"/>
                  <a:t>本研究首先對手臂本體建模，找出</a:t>
                </a:r>
                <a:endParaRPr lang="en-US" altLang="zh-TW" dirty="0"/>
              </a:p>
              <a:p>
                <a:pPr marL="0" indent="0">
                  <a:buNone/>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6</m:t>
                          </m:r>
                        </m:sub>
                        <m:sup>
                          <m:r>
                            <a:rPr lang="en-US" altLang="zh-TW" i="1" smtClean="0">
                              <a:latin typeface="Cambria Math" panose="02040503050406030204" pitchFamily="18" charset="0"/>
                            </a:rPr>
                            <m:t>1</m:t>
                          </m:r>
                        </m:sup>
                        <m:e>
                          <m:r>
                            <m:rPr>
                              <m:sty m:val="p"/>
                            </m:rPr>
                            <a:rPr lang="en-US" altLang="zh-TW" i="1" smtClean="0">
                              <a:latin typeface="Cambria Math" panose="02040503050406030204" pitchFamily="18" charset="0"/>
                            </a:rPr>
                            <m:t>T</m:t>
                          </m:r>
                          <m:r>
                            <a:rPr lang="en-US" altLang="zh-TW" i="1">
                              <a:latin typeface="Cambria Math" panose="02040503050406030204" pitchFamily="18" charset="0"/>
                            </a:rPr>
                            <m:t>=</m:t>
                          </m:r>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2</m:t>
                              </m:r>
                            </m:sub>
                            <m:sup>
                              <m:r>
                                <a:rPr lang="en-US" altLang="zh-TW" i="1" smtClean="0">
                                  <a:latin typeface="Cambria Math" panose="02040503050406030204" pitchFamily="18" charset="0"/>
                                </a:rPr>
                                <m:t>1</m:t>
                              </m:r>
                            </m:sup>
                            <m:e>
                              <m:r>
                                <m:rPr>
                                  <m:sty m:val="p"/>
                                </m:rPr>
                                <a:rPr lang="en-US" altLang="zh-TW" i="1" smtClean="0">
                                  <a:latin typeface="Cambria Math" panose="02040503050406030204" pitchFamily="18" charset="0"/>
                                </a:rPr>
                                <m:t>T</m:t>
                              </m:r>
                            </m:e>
                          </m:sPre>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3</m:t>
                              </m:r>
                            </m:sub>
                            <m:sup>
                              <m:r>
                                <a:rPr lang="en-US" altLang="zh-TW" i="1" smtClean="0">
                                  <a:latin typeface="Cambria Math" panose="02040503050406030204" pitchFamily="18" charset="0"/>
                                </a:rPr>
                                <m:t>2</m:t>
                              </m:r>
                            </m:sup>
                            <m:e>
                              <m:r>
                                <m:rPr>
                                  <m:sty m:val="p"/>
                                </m:rPr>
                                <a:rPr lang="en-US" altLang="zh-TW" i="1" smtClean="0">
                                  <a:latin typeface="Cambria Math" panose="02040503050406030204" pitchFamily="18" charset="0"/>
                                </a:rPr>
                                <m:t>T</m:t>
                              </m:r>
                            </m:e>
                          </m:sPre>
                          <m:r>
                            <a:rPr lang="en-US" altLang="zh-TW" i="1" smtClean="0">
                              <a:latin typeface="Cambria Math" panose="02040503050406030204" pitchFamily="18" charset="0"/>
                            </a:rPr>
                            <m:t>.</m:t>
                          </m:r>
                          <m:r>
                            <a:rPr lang="en-US" altLang="zh-TW" i="1">
                              <a:latin typeface="Cambria Math" panose="02040503050406030204" pitchFamily="18" charset="0"/>
                            </a:rPr>
                            <m:t>.</m:t>
                          </m:r>
                          <m:r>
                            <a:rPr lang="en-US" altLang="zh-TW" i="1" smtClean="0">
                              <a:latin typeface="Cambria Math" panose="02040503050406030204" pitchFamily="18" charset="0"/>
                            </a:rPr>
                            <m:t>.</m:t>
                          </m:r>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5</m:t>
                              </m:r>
                            </m:sub>
                            <m:sup>
                              <m:r>
                                <a:rPr lang="en-US" altLang="zh-TW" i="1">
                                  <a:latin typeface="Cambria Math" panose="02040503050406030204" pitchFamily="18" charset="0"/>
                                </a:rPr>
                                <m:t>4</m:t>
                              </m:r>
                            </m:sup>
                            <m:e>
                              <m:r>
                                <m:rPr>
                                  <m:sty m:val="p"/>
                                </m:rPr>
                                <a:rPr lang="en-US" altLang="zh-TW" i="1" smtClean="0">
                                  <a:latin typeface="Cambria Math" panose="02040503050406030204" pitchFamily="18" charset="0"/>
                                </a:rPr>
                                <m:t>T</m:t>
                              </m:r>
                            </m:e>
                          </m:sPre>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6</m:t>
                              </m:r>
                            </m:sub>
                            <m:sup>
                              <m:r>
                                <a:rPr lang="en-US" altLang="zh-TW" i="1">
                                  <a:latin typeface="Cambria Math" panose="02040503050406030204" pitchFamily="18" charset="0"/>
                                </a:rPr>
                                <m:t>5</m:t>
                              </m:r>
                            </m:sup>
                            <m:e>
                              <m:r>
                                <m:rPr>
                                  <m:sty m:val="p"/>
                                </m:rPr>
                                <a:rPr lang="en-US" altLang="zh-TW" i="1" smtClean="0">
                                  <a:latin typeface="Cambria Math" panose="02040503050406030204" pitchFamily="18" charset="0"/>
                                </a:rPr>
                                <m:t>T</m:t>
                              </m:r>
                            </m:e>
                          </m:sPre>
                        </m:e>
                      </m:sPre>
                    </m:oMath>
                  </m:oMathPara>
                </a14:m>
                <a:endParaRPr lang="en-US" altLang="zh-TW" dirty="0"/>
              </a:p>
              <a:p>
                <a:pPr marL="0" indent="0">
                  <a:buNone/>
                </a:pPr>
                <a:r>
                  <a:rPr lang="zh-TW" altLang="en-US" dirty="0"/>
                  <a:t>再針對夾爪手指與線材尖端旋轉角度與位置，找出</a:t>
                </a:r>
                <a:endParaRPr lang="en-US" altLang="zh-TW" dirty="0"/>
              </a:p>
              <a:p>
                <a:pPr marL="0" indent="0">
                  <a:buNone/>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8</m:t>
                          </m:r>
                        </m:sub>
                        <m:sup>
                          <m:r>
                            <a:rPr lang="en-US" altLang="zh-TW" i="1">
                              <a:latin typeface="Cambria Math" panose="02040503050406030204" pitchFamily="18" charset="0"/>
                            </a:rPr>
                            <m:t>6</m:t>
                          </m:r>
                        </m:sup>
                        <m:e>
                          <m:r>
                            <m:rPr>
                              <m:sty m:val="p"/>
                            </m:rPr>
                            <a:rPr lang="en-US" altLang="zh-TW" i="1" smtClean="0">
                              <a:latin typeface="Cambria Math" panose="02040503050406030204" pitchFamily="18" charset="0"/>
                            </a:rPr>
                            <m:t>T</m:t>
                          </m:r>
                          <m:r>
                            <a:rPr lang="en-US" altLang="zh-TW" i="1">
                              <a:latin typeface="Cambria Math" panose="02040503050406030204" pitchFamily="18" charset="0"/>
                            </a:rPr>
                            <m:t>=</m:t>
                          </m:r>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7</m:t>
                              </m:r>
                            </m:sub>
                            <m:sup>
                              <m:r>
                                <a:rPr lang="en-US" altLang="zh-TW" i="1" smtClean="0">
                                  <a:latin typeface="Cambria Math" panose="02040503050406030204" pitchFamily="18" charset="0"/>
                                </a:rPr>
                                <m:t>6</m:t>
                              </m:r>
                            </m:sup>
                            <m:e>
                              <m:r>
                                <m:rPr>
                                  <m:sty m:val="p"/>
                                </m:rPr>
                                <a:rPr lang="en-US" altLang="zh-TW" i="1" smtClean="0">
                                  <a:latin typeface="Cambria Math" panose="02040503050406030204" pitchFamily="18" charset="0"/>
                                </a:rPr>
                                <m:t>T</m:t>
                              </m:r>
                            </m:e>
                          </m:sPre>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8</m:t>
                              </m:r>
                            </m:sub>
                            <m:sup>
                              <m:r>
                                <a:rPr lang="en-US" altLang="zh-TW" i="1" smtClean="0">
                                  <a:latin typeface="Cambria Math" panose="02040503050406030204" pitchFamily="18" charset="0"/>
                                </a:rPr>
                                <m:t>7</m:t>
                              </m:r>
                            </m:sup>
                            <m:e>
                              <m:r>
                                <m:rPr>
                                  <m:sty m:val="p"/>
                                </m:rPr>
                                <a:rPr lang="en-US" altLang="zh-TW" i="1" smtClean="0">
                                  <a:latin typeface="Cambria Math" panose="02040503050406030204" pitchFamily="18" charset="0"/>
                                </a:rPr>
                                <m:t>T</m:t>
                              </m:r>
                            </m:e>
                          </m:sPre>
                        </m:e>
                      </m:sPre>
                    </m:oMath>
                  </m:oMathPara>
                </a14:m>
                <a:endParaRPr lang="en-US" altLang="zh-TW" dirty="0"/>
              </a:p>
              <a:p>
                <a:pPr marL="0" indent="0">
                  <a:buNone/>
                </a:pPr>
                <a:r>
                  <a:rPr lang="zh-TW" altLang="en-US" dirty="0"/>
                  <a:t>將兩者合併相乘即為</a:t>
                </a:r>
                <a14:m>
                  <m:oMath xmlns:m="http://schemas.openxmlformats.org/officeDocument/2006/math">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8</m:t>
                        </m:r>
                      </m:sub>
                      <m:sup>
                        <m:r>
                          <a:rPr lang="en-US" altLang="zh-TW" i="1" smtClean="0">
                            <a:latin typeface="Cambria Math" panose="02040503050406030204" pitchFamily="18" charset="0"/>
                          </a:rPr>
                          <m:t>1</m:t>
                        </m:r>
                      </m:sup>
                      <m:e>
                        <m:r>
                          <m:rPr>
                            <m:sty m:val="p"/>
                          </m:rPr>
                          <a:rPr lang="en-US" altLang="zh-TW" i="1" smtClean="0">
                            <a:latin typeface="Cambria Math" panose="02040503050406030204" pitchFamily="18" charset="0"/>
                          </a:rPr>
                          <m:t>T</m:t>
                        </m:r>
                      </m:e>
                    </m:sPre>
                  </m:oMath>
                </a14:m>
                <a:endParaRPr lang="en-US" altLang="zh-TW" dirty="0"/>
              </a:p>
            </p:txBody>
          </p:sp>
        </mc:Choice>
        <mc:Fallback xmlns="">
          <p:sp>
            <p:nvSpPr>
              <p:cNvPr id="3" name="內容版面配置區 2">
                <a:extLst>
                  <a:ext uri="{FF2B5EF4-FFF2-40B4-BE49-F238E27FC236}">
                    <a16:creationId xmlns:a16="http://schemas.microsoft.com/office/drawing/2014/main" id="{8F6C9B39-005E-4AA0-B74F-DE32079E3A4E}"/>
                  </a:ext>
                </a:extLst>
              </p:cNvPr>
              <p:cNvSpPr>
                <a:spLocks noGrp="1" noRot="1" noChangeAspect="1" noMove="1" noResize="1" noEditPoints="1" noAdjustHandles="1" noChangeArrowheads="1" noChangeShapeType="1" noTextEdit="1"/>
              </p:cNvSpPr>
              <p:nvPr>
                <p:ph idx="1"/>
              </p:nvPr>
            </p:nvSpPr>
            <p:spPr>
              <a:xfrm>
                <a:off x="417095" y="1855746"/>
                <a:ext cx="10515600" cy="4351338"/>
              </a:xfrm>
              <a:blipFill>
                <a:blip r:embed="rId4"/>
                <a:stretch>
                  <a:fillRect l="-1159" t="-2241"/>
                </a:stretch>
              </a:blipFill>
            </p:spPr>
            <p:txBody>
              <a:bodyPr/>
              <a:lstStyle/>
              <a:p>
                <a:r>
                  <a:rPr lang="zh-TW" altLang="en-US">
                    <a:noFill/>
                  </a:rPr>
                  <a:t> </a:t>
                </a:r>
              </a:p>
            </p:txBody>
          </p:sp>
        </mc:Fallback>
      </mc:AlternateContent>
      <p:sp>
        <p:nvSpPr>
          <p:cNvPr id="6" name="文字方塊 5">
            <a:extLst>
              <a:ext uri="{FF2B5EF4-FFF2-40B4-BE49-F238E27FC236}">
                <a16:creationId xmlns:a16="http://schemas.microsoft.com/office/drawing/2014/main" id="{5C25E9F5-FD94-495A-A10B-D13BAA8A398E}"/>
              </a:ext>
            </a:extLst>
          </p:cNvPr>
          <p:cNvSpPr txBox="1"/>
          <p:nvPr/>
        </p:nvSpPr>
        <p:spPr>
          <a:xfrm>
            <a:off x="9083841" y="4061452"/>
            <a:ext cx="1491916" cy="369332"/>
          </a:xfrm>
          <a:prstGeom prst="rect">
            <a:avLst/>
          </a:prstGeom>
          <a:noFill/>
        </p:spPr>
        <p:txBody>
          <a:bodyPr wrap="square" rtlCol="0">
            <a:spAutoFit/>
          </a:bodyPr>
          <a:lstStyle/>
          <a:p>
            <a:r>
              <a:rPr lang="en-US" altLang="zh-TW" dirty="0"/>
              <a:t>(a) </a:t>
            </a:r>
            <a:r>
              <a:rPr lang="zh-TW" altLang="en-US" dirty="0"/>
              <a:t>環境整體</a:t>
            </a:r>
          </a:p>
        </p:txBody>
      </p:sp>
      <p:sp>
        <p:nvSpPr>
          <p:cNvPr id="7" name="投影片編號版面配置區 6">
            <a:extLst>
              <a:ext uri="{FF2B5EF4-FFF2-40B4-BE49-F238E27FC236}">
                <a16:creationId xmlns:a16="http://schemas.microsoft.com/office/drawing/2014/main" id="{5300DC81-0933-4CC2-84D6-3BE3B53F3CD1}"/>
              </a:ext>
            </a:extLst>
          </p:cNvPr>
          <p:cNvSpPr>
            <a:spLocks noGrp="1"/>
          </p:cNvSpPr>
          <p:nvPr>
            <p:ph type="sldNum" sz="quarter" idx="12"/>
          </p:nvPr>
        </p:nvSpPr>
        <p:spPr/>
        <p:txBody>
          <a:bodyPr/>
          <a:lstStyle/>
          <a:p>
            <a:fld id="{12DE3F29-1F68-43B4-BFC6-B027CAE8215F}" type="slidenum">
              <a:rPr lang="zh-TW" altLang="en-US" smtClean="0"/>
              <a:t>23</a:t>
            </a:fld>
            <a:endParaRPr lang="zh-TW" altLang="en-US"/>
          </a:p>
        </p:txBody>
      </p:sp>
      <p:pic>
        <p:nvPicPr>
          <p:cNvPr id="8" name="圖片 7">
            <a:extLst>
              <a:ext uri="{FF2B5EF4-FFF2-40B4-BE49-F238E27FC236}">
                <a16:creationId xmlns:a16="http://schemas.microsoft.com/office/drawing/2014/main" id="{51779700-AC11-4D39-B1C3-323B02DED3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3311475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7D98B8-43C5-41AC-B518-724AADE7813B}"/>
              </a:ext>
            </a:extLst>
          </p:cNvPr>
          <p:cNvSpPr>
            <a:spLocks noGrp="1"/>
          </p:cNvSpPr>
          <p:nvPr>
            <p:ph type="title"/>
          </p:nvPr>
        </p:nvSpPr>
        <p:spPr/>
        <p:txBody>
          <a:bodyPr/>
          <a:lstStyle/>
          <a:p>
            <a:r>
              <a:rPr lang="zh-TW" altLang="en-US" dirty="0"/>
              <a:t>附錄</a:t>
            </a:r>
            <a:r>
              <a:rPr lang="en-US" altLang="zh-TW" dirty="0"/>
              <a:t>2:</a:t>
            </a:r>
            <a:r>
              <a:rPr lang="zh-TW" altLang="en-US" dirty="0"/>
              <a:t> 齊次變換方程式計算方法</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01AC95E-1EEA-4E2D-B428-5614E6094AF9}"/>
                  </a:ext>
                </a:extLst>
              </p:cNvPr>
              <p:cNvSpPr>
                <a:spLocks noGrp="1"/>
              </p:cNvSpPr>
              <p:nvPr>
                <p:ph idx="1"/>
              </p:nvPr>
            </p:nvSpPr>
            <p:spPr/>
            <p:txBody>
              <a:bodyPr/>
              <a:lstStyle/>
              <a:p>
                <a:pPr marL="0" indent="0">
                  <a:buNone/>
                </a:pPr>
                <a:r>
                  <a:rPr lang="zh-TW" altLang="en-US" dirty="0"/>
                  <a:t>加入旋轉修正方法後</a:t>
                </a:r>
                <a:endParaRPr lang="en-US" altLang="zh-TW" dirty="0"/>
              </a:p>
              <a:p>
                <a:pPr marL="0" indent="0">
                  <a:buNone/>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8</m:t>
                          </m:r>
                        </m:sub>
                        <m:sup>
                          <m:r>
                            <a:rPr lang="en-US" altLang="zh-TW" i="1" smtClean="0">
                              <a:latin typeface="Cambria Math" panose="02040503050406030204" pitchFamily="18" charset="0"/>
                            </a:rPr>
                            <m:t>6</m:t>
                          </m:r>
                        </m:sup>
                        <m:e>
                          <m:r>
                            <m:rPr>
                              <m:sty m:val="p"/>
                            </m:rPr>
                            <a:rPr lang="en-US" altLang="zh-TW" i="1" smtClean="0">
                              <a:latin typeface="Cambria Math" panose="02040503050406030204" pitchFamily="18" charset="0"/>
                            </a:rPr>
                            <m:t>T</m:t>
                          </m:r>
                        </m:e>
                      </m:sPre>
                      <m:r>
                        <a:rPr lang="en-US" altLang="zh-TW" i="1" smtClean="0">
                          <a:latin typeface="Cambria Math" panose="02040503050406030204" pitchFamily="18" charset="0"/>
                        </a:rPr>
                        <m:t>=</m:t>
                      </m:r>
                      <m:sSub>
                        <m:sSubPr>
                          <m:ctrlPr>
                            <a:rPr lang="en-US" altLang="zh-TW" i="1" dirty="0" smtClean="0">
                              <a:latin typeface="Cambria Math" panose="02040503050406030204" pitchFamily="18" charset="0"/>
                            </a:rPr>
                          </m:ctrlPr>
                        </m:sSubPr>
                        <m:e>
                          <m:d>
                            <m:dPr>
                              <m:begChr m:val="["/>
                              <m:endChr m:val="]"/>
                              <m:ctrlPr>
                                <a:rPr lang="en-US" altLang="zh-TW" i="1" dirty="0">
                                  <a:solidFill>
                                    <a:srgbClr val="836967"/>
                                  </a:solidFill>
                                  <a:latin typeface="Cambria Math" panose="02040503050406030204" pitchFamily="18" charset="0"/>
                                </a:rPr>
                              </m:ctrlPr>
                            </m:dPr>
                            <m:e>
                              <m:m>
                                <m:mPr>
                                  <m:plcHide m:val="on"/>
                                  <m:mcs>
                                    <m:mc>
                                      <m:mcPr>
                                        <m:count m:val="4"/>
                                        <m:mcJc m:val="center"/>
                                      </m:mcPr>
                                    </m:mc>
                                  </m:mcs>
                                  <m:ctrlPr>
                                    <a:rPr lang="en-US" altLang="zh-TW" i="1" dirty="0">
                                      <a:solidFill>
                                        <a:srgbClr val="836967"/>
                                      </a:solidFill>
                                      <a:latin typeface="Cambria Math" panose="02040503050406030204" pitchFamily="18" charset="0"/>
                                    </a:rPr>
                                  </m:ctrlPr>
                                </m:mPr>
                                <m:mr>
                                  <m:e>
                                    <m:sSub>
                                      <m:sSubPr>
                                        <m:ctrlPr>
                                          <a:rPr lang="en-US" altLang="zh-TW" i="1" dirty="0">
                                            <a:latin typeface="Cambria Math" panose="02040503050406030204" pitchFamily="18" charset="0"/>
                                          </a:rPr>
                                        </m:ctrlPr>
                                      </m:sSubPr>
                                      <m:e>
                                        <m:r>
                                          <m:rPr>
                                            <m:sty m:val="p"/>
                                          </m:rPr>
                                          <a:rPr lang="en-US" altLang="zh-TW" i="1" dirty="0">
                                            <a:latin typeface="Cambria Math" panose="02040503050406030204" pitchFamily="18" charset="0"/>
                                          </a:rPr>
                                          <m:t>R</m:t>
                                        </m:r>
                                      </m:e>
                                      <m:sub>
                                        <m:r>
                                          <a:rPr lang="en-US" altLang="zh-TW" i="1" dirty="0">
                                            <a:latin typeface="Cambria Math" panose="02040503050406030204" pitchFamily="18" charset="0"/>
                                          </a:rPr>
                                          <m:t>𝑦</m:t>
                                        </m:r>
                                      </m:sub>
                                    </m:sSub>
                                    <m:r>
                                      <a:rPr lang="en-US" altLang="zh-TW" i="1" dirty="0">
                                        <a:latin typeface="Cambria Math" panose="02040503050406030204" pitchFamily="18" charset="0"/>
                                      </a:rPr>
                                      <m:t>(−</m:t>
                                    </m:r>
                                    <m:r>
                                      <a:rPr lang="en-US" altLang="zh-TW" i="1" dirty="0">
                                        <a:latin typeface="Cambria Math" panose="02040503050406030204" pitchFamily="18" charset="0"/>
                                      </a:rPr>
                                      <m:t>𝑟</m:t>
                                    </m:r>
                                    <m:r>
                                      <a:rPr lang="en-US" altLang="zh-TW" i="1" dirty="0">
                                        <a:latin typeface="Cambria Math" panose="02040503050406030204" pitchFamily="18" charset="0"/>
                                      </a:rPr>
                                      <m:t>)</m:t>
                                    </m:r>
                                  </m:e>
                                  <m:e>
                                    <m:r>
                                      <a:rPr lang="zh-TW" altLang="en-US" i="1" dirty="0">
                                        <a:latin typeface="Cambria Math" panose="02040503050406030204" pitchFamily="18" charset="0"/>
                                      </a:rPr>
                                      <m:t>∗</m:t>
                                    </m:r>
                                  </m:e>
                                  <m:e>
                                    <m:sSub>
                                      <m:sSubPr>
                                        <m:ctrlPr>
                                          <a:rPr lang="en-US" altLang="zh-TW" i="1" dirty="0">
                                            <a:latin typeface="Cambria Math" panose="02040503050406030204" pitchFamily="18" charset="0"/>
                                          </a:rPr>
                                        </m:ctrlPr>
                                      </m:sSubPr>
                                      <m:e>
                                        <m:r>
                                          <m:rPr>
                                            <m:sty m:val="p"/>
                                          </m:rPr>
                                          <a:rPr lang="en-US" altLang="zh-TW" dirty="0">
                                            <a:latin typeface="Cambria Math" panose="02040503050406030204" pitchFamily="18" charset="0"/>
                                          </a:rPr>
                                          <m:t>R</m:t>
                                        </m:r>
                                      </m:e>
                                      <m:sub>
                                        <m:r>
                                          <a:rPr lang="en-US" altLang="zh-TW" i="1" dirty="0">
                                            <a:latin typeface="Cambria Math" panose="02040503050406030204" pitchFamily="18" charset="0"/>
                                          </a:rPr>
                                          <m:t>𝑧</m:t>
                                        </m:r>
                                      </m:sub>
                                    </m:sSub>
                                    <m:r>
                                      <a:rPr lang="en-US" altLang="zh-TW" i="1" dirty="0">
                                        <a:latin typeface="Cambria Math" panose="02040503050406030204" pitchFamily="18" charset="0"/>
                                      </a:rPr>
                                      <m:t>(</m:t>
                                    </m:r>
                                    <m:r>
                                      <a:rPr lang="en-US" altLang="zh-TW" i="1" dirty="0">
                                        <a:latin typeface="Cambria Math" panose="02040503050406030204" pitchFamily="18" charset="0"/>
                                      </a:rPr>
                                      <m:t>𝑠</m:t>
                                    </m:r>
                                    <m:r>
                                      <a:rPr lang="en-US" altLang="zh-TW" i="1" dirty="0">
                                        <a:latin typeface="Cambria Math" panose="02040503050406030204" pitchFamily="18" charset="0"/>
                                      </a:rPr>
                                      <m:t>)</m:t>
                                    </m:r>
                                  </m:e>
                                  <m:e>
                                    <m:acc>
                                      <m:accPr>
                                        <m:chr m:val="⃑"/>
                                        <m:ctrlPr>
                                          <a:rPr lang="en-US" altLang="zh-TW" i="1" dirty="0">
                                            <a:latin typeface="Cambria Math" panose="02040503050406030204" pitchFamily="18" charset="0"/>
                                          </a:rPr>
                                        </m:ctrlPr>
                                      </m:accPr>
                                      <m:e>
                                        <m:r>
                                          <m:rPr>
                                            <m:sty m:val="p"/>
                                          </m:rPr>
                                          <a:rPr lang="en-US" altLang="zh-TW" dirty="0">
                                            <a:latin typeface="Cambria Math" panose="02040503050406030204" pitchFamily="18" charset="0"/>
                                          </a:rPr>
                                          <m:t>A</m:t>
                                        </m:r>
                                        <m:r>
                                          <m:rPr>
                                            <m:sty m:val="p"/>
                                          </m:rPr>
                                          <a:rPr lang="en-US" altLang="zh-TW" b="0" i="0" dirty="0" smtClean="0">
                                            <a:latin typeface="Cambria Math" panose="02040503050406030204" pitchFamily="18" charset="0"/>
                                          </a:rPr>
                                          <m:t>B</m:t>
                                        </m:r>
                                      </m:e>
                                    </m:acc>
                                  </m:e>
                                </m:mr>
                                <m:mr>
                                  <m:e>
                                    <m:r>
                                      <a:rPr lang="en-US" altLang="zh-TW" dirty="0">
                                        <a:latin typeface="Cambria Math" panose="02040503050406030204" pitchFamily="18" charset="0"/>
                                      </a:rPr>
                                      <m:t>0</m:t>
                                    </m:r>
                                  </m:e>
                                  <m:e>
                                    <m:r>
                                      <a:rPr lang="en-US" altLang="zh-TW" dirty="0">
                                        <a:latin typeface="Cambria Math" panose="02040503050406030204" pitchFamily="18" charset="0"/>
                                      </a:rPr>
                                      <m:t>0</m:t>
                                    </m:r>
                                  </m:e>
                                  <m:e>
                                    <m:r>
                                      <a:rPr lang="en-US" altLang="zh-TW" dirty="0">
                                        <a:latin typeface="Cambria Math" panose="02040503050406030204" pitchFamily="18" charset="0"/>
                                      </a:rPr>
                                      <m:t>0</m:t>
                                    </m:r>
                                  </m:e>
                                  <m:e>
                                    <m:r>
                                      <a:rPr lang="en-US" altLang="zh-TW" dirty="0">
                                        <a:latin typeface="Cambria Math" panose="02040503050406030204" pitchFamily="18" charset="0"/>
                                      </a:rPr>
                                      <m:t>1</m:t>
                                    </m:r>
                                  </m:e>
                                </m:mr>
                              </m:m>
                            </m:e>
                          </m:d>
                        </m:e>
                        <m:sub>
                          <m:r>
                            <a:rPr lang="en-US" altLang="zh-TW" i="1" dirty="0">
                              <a:latin typeface="Cambria Math" panose="02040503050406030204" pitchFamily="18" charset="0"/>
                            </a:rPr>
                            <m:t>4</m:t>
                          </m:r>
                          <m:r>
                            <a:rPr lang="en-US" altLang="zh-TW" i="1" dirty="0" smtClean="0">
                              <a:latin typeface="Cambria Math" panose="02040503050406030204" pitchFamily="18" charset="0"/>
                              <a:ea typeface="Cambria Math" panose="02040503050406030204" pitchFamily="18" charset="0"/>
                            </a:rPr>
                            <m:t>×</m:t>
                          </m:r>
                          <m:r>
                            <a:rPr lang="en-US" altLang="zh-TW" i="1" dirty="0">
                              <a:latin typeface="Cambria Math" panose="02040503050406030204" pitchFamily="18" charset="0"/>
                              <a:ea typeface="Cambria Math" panose="02040503050406030204" pitchFamily="18" charset="0"/>
                            </a:rPr>
                            <m:t>4</m:t>
                          </m:r>
                        </m:sub>
                      </m:sSub>
                      <m:r>
                        <a:rPr lang="en-US" altLang="zh-TW" b="0" i="1" dirty="0" smtClean="0">
                          <a:latin typeface="Cambria Math" panose="02040503050406030204" pitchFamily="18" charset="0"/>
                        </a:rPr>
                        <m:t>∗</m:t>
                      </m:r>
                      <m:sSub>
                        <m:sSubPr>
                          <m:ctrlPr>
                            <a:rPr lang="en-US" altLang="zh-TW" b="0" i="1" dirty="0" smtClean="0">
                              <a:latin typeface="Cambria Math" panose="02040503050406030204" pitchFamily="18" charset="0"/>
                            </a:rPr>
                          </m:ctrlPr>
                        </m:sSubPr>
                        <m:e>
                          <m:d>
                            <m:dPr>
                              <m:begChr m:val="["/>
                              <m:endChr m:val="]"/>
                              <m:ctrlPr>
                                <a:rPr lang="en-US" altLang="zh-TW" i="1" dirty="0">
                                  <a:solidFill>
                                    <a:srgbClr val="836967"/>
                                  </a:solidFill>
                                  <a:latin typeface="Cambria Math" panose="02040503050406030204" pitchFamily="18" charset="0"/>
                                </a:rPr>
                              </m:ctrlPr>
                            </m:dPr>
                            <m:e>
                              <m:m>
                                <m:mPr>
                                  <m:plcHide m:val="on"/>
                                  <m:mcs>
                                    <m:mc>
                                      <m:mcPr>
                                        <m:count m:val="4"/>
                                        <m:mcJc m:val="center"/>
                                      </m:mcPr>
                                    </m:mc>
                                  </m:mcs>
                                  <m:ctrlPr>
                                    <a:rPr lang="en-US" altLang="zh-TW" i="1" dirty="0">
                                      <a:solidFill>
                                        <a:srgbClr val="836967"/>
                                      </a:solidFill>
                                      <a:latin typeface="Cambria Math" panose="02040503050406030204" pitchFamily="18" charset="0"/>
                                    </a:rPr>
                                  </m:ctrlPr>
                                </m:mPr>
                                <m:mr>
                                  <m:e>
                                    <m:sSub>
                                      <m:sSubPr>
                                        <m:ctrlPr>
                                          <a:rPr lang="en-US" altLang="zh-TW" i="1" dirty="0">
                                            <a:latin typeface="Cambria Math" panose="02040503050406030204" pitchFamily="18" charset="0"/>
                                          </a:rPr>
                                        </m:ctrlPr>
                                      </m:sSubPr>
                                      <m:e>
                                        <m:r>
                                          <m:rPr>
                                            <m:sty m:val="p"/>
                                          </m:rPr>
                                          <a:rPr lang="en-US" altLang="zh-TW" i="1" dirty="0">
                                            <a:latin typeface="Cambria Math" panose="02040503050406030204" pitchFamily="18" charset="0"/>
                                          </a:rPr>
                                          <m:t>R</m:t>
                                        </m:r>
                                      </m:e>
                                      <m:sub>
                                        <m:r>
                                          <a:rPr lang="en-US" altLang="zh-TW" i="1" dirty="0">
                                            <a:latin typeface="Cambria Math" panose="02040503050406030204" pitchFamily="18" charset="0"/>
                                          </a:rPr>
                                          <m:t>𝑦</m:t>
                                        </m:r>
                                      </m:sub>
                                    </m:sSub>
                                    <m:r>
                                      <a:rPr lang="en-US" altLang="zh-TW" i="1" dirty="0">
                                        <a:latin typeface="Cambria Math" panose="02040503050406030204" pitchFamily="18" charset="0"/>
                                      </a:rPr>
                                      <m:t>(</m:t>
                                    </m:r>
                                    <m:r>
                                      <a:rPr lang="en-US" altLang="zh-TW" i="1" dirty="0">
                                        <a:latin typeface="Cambria Math" panose="02040503050406030204" pitchFamily="18" charset="0"/>
                                      </a:rPr>
                                      <m:t>𝑟</m:t>
                                    </m:r>
                                    <m:r>
                                      <a:rPr lang="en-US" altLang="zh-TW" i="1" dirty="0">
                                        <a:latin typeface="Cambria Math" panose="02040503050406030204" pitchFamily="18" charset="0"/>
                                      </a:rPr>
                                      <m:t>)</m:t>
                                    </m:r>
                                  </m:e>
                                  <m:e>
                                    <m:r>
                                      <a:rPr lang="zh-TW" altLang="en-US" i="1" dirty="0">
                                        <a:latin typeface="Cambria Math" panose="02040503050406030204" pitchFamily="18" charset="0"/>
                                      </a:rPr>
                                      <m:t>∗</m:t>
                                    </m:r>
                                  </m:e>
                                  <m:e>
                                    <m:sSub>
                                      <m:sSubPr>
                                        <m:ctrlPr>
                                          <a:rPr lang="en-US" altLang="zh-TW" i="1" dirty="0">
                                            <a:latin typeface="Cambria Math" panose="02040503050406030204" pitchFamily="18" charset="0"/>
                                          </a:rPr>
                                        </m:ctrlPr>
                                      </m:sSubPr>
                                      <m:e>
                                        <m:r>
                                          <m:rPr>
                                            <m:sty m:val="p"/>
                                          </m:rPr>
                                          <a:rPr lang="en-US" altLang="zh-TW" dirty="0">
                                            <a:latin typeface="Cambria Math" panose="02040503050406030204" pitchFamily="18" charset="0"/>
                                          </a:rPr>
                                          <m:t>R</m:t>
                                        </m:r>
                                      </m:e>
                                      <m:sub>
                                        <m:r>
                                          <a:rPr lang="en-US" altLang="zh-TW" i="1" dirty="0">
                                            <a:latin typeface="Cambria Math" panose="02040503050406030204" pitchFamily="18" charset="0"/>
                                          </a:rPr>
                                          <m:t>𝑧</m:t>
                                        </m:r>
                                      </m:sub>
                                    </m:sSub>
                                    <m:r>
                                      <a:rPr lang="en-US" altLang="zh-TW" i="1" dirty="0">
                                        <a:latin typeface="Cambria Math" panose="02040503050406030204" pitchFamily="18" charset="0"/>
                                      </a:rPr>
                                      <m:t>(−</m:t>
                                    </m:r>
                                    <m:r>
                                      <a:rPr lang="en-US" altLang="zh-TW" i="1" dirty="0">
                                        <a:latin typeface="Cambria Math" panose="02040503050406030204" pitchFamily="18" charset="0"/>
                                      </a:rPr>
                                      <m:t>𝑠</m:t>
                                    </m:r>
                                    <m:r>
                                      <a:rPr lang="en-US" altLang="zh-TW" i="1" dirty="0">
                                        <a:latin typeface="Cambria Math" panose="02040503050406030204" pitchFamily="18" charset="0"/>
                                      </a:rPr>
                                      <m:t>)</m:t>
                                    </m:r>
                                  </m:e>
                                  <m:e>
                                    <m:acc>
                                      <m:accPr>
                                        <m:chr m:val="⃑"/>
                                        <m:ctrlPr>
                                          <a:rPr lang="en-US" altLang="zh-TW" i="1" dirty="0">
                                            <a:latin typeface="Cambria Math" panose="02040503050406030204" pitchFamily="18" charset="0"/>
                                          </a:rPr>
                                        </m:ctrlPr>
                                      </m:accPr>
                                      <m:e>
                                        <m:r>
                                          <m:rPr>
                                            <m:sty m:val="p"/>
                                          </m:rPr>
                                          <a:rPr lang="en-US" altLang="zh-TW" b="0" i="0" dirty="0" smtClean="0">
                                            <a:latin typeface="Cambria Math" panose="02040503050406030204" pitchFamily="18" charset="0"/>
                                          </a:rPr>
                                          <m:t>BC</m:t>
                                        </m:r>
                                      </m:e>
                                    </m:acc>
                                  </m:e>
                                </m:mr>
                                <m:mr>
                                  <m:e>
                                    <m:r>
                                      <a:rPr lang="en-US" altLang="zh-TW" dirty="0">
                                        <a:latin typeface="Cambria Math" panose="02040503050406030204" pitchFamily="18" charset="0"/>
                                      </a:rPr>
                                      <m:t>0</m:t>
                                    </m:r>
                                  </m:e>
                                  <m:e>
                                    <m:r>
                                      <a:rPr lang="en-US" altLang="zh-TW" dirty="0">
                                        <a:latin typeface="Cambria Math" panose="02040503050406030204" pitchFamily="18" charset="0"/>
                                      </a:rPr>
                                      <m:t>0</m:t>
                                    </m:r>
                                  </m:e>
                                  <m:e>
                                    <m:r>
                                      <a:rPr lang="en-US" altLang="zh-TW" dirty="0">
                                        <a:latin typeface="Cambria Math" panose="02040503050406030204" pitchFamily="18" charset="0"/>
                                      </a:rPr>
                                      <m:t>0</m:t>
                                    </m:r>
                                  </m:e>
                                  <m:e>
                                    <m:r>
                                      <a:rPr lang="en-US" altLang="zh-TW" dirty="0">
                                        <a:latin typeface="Cambria Math" panose="02040503050406030204" pitchFamily="18" charset="0"/>
                                      </a:rPr>
                                      <m:t>1</m:t>
                                    </m:r>
                                  </m:e>
                                </m:mr>
                              </m:m>
                            </m:e>
                          </m:d>
                        </m:e>
                        <m:sub>
                          <m:r>
                            <a:rPr lang="en-US" altLang="zh-TW" i="1" dirty="0">
                              <a:latin typeface="Cambria Math" panose="02040503050406030204" pitchFamily="18" charset="0"/>
                            </a:rPr>
                            <m:t>4</m:t>
                          </m:r>
                          <m:r>
                            <a:rPr lang="en-US" altLang="zh-TW" i="1" dirty="0" smtClean="0">
                              <a:latin typeface="Cambria Math" panose="02040503050406030204" pitchFamily="18" charset="0"/>
                              <a:ea typeface="Cambria Math" panose="02040503050406030204" pitchFamily="18" charset="0"/>
                            </a:rPr>
                            <m:t>×</m:t>
                          </m:r>
                          <m:r>
                            <a:rPr lang="en-US" altLang="zh-TW" i="1" dirty="0">
                              <a:latin typeface="Cambria Math" panose="02040503050406030204" pitchFamily="18" charset="0"/>
                              <a:ea typeface="Cambria Math" panose="02040503050406030204" pitchFamily="18" charset="0"/>
                            </a:rPr>
                            <m:t>4</m:t>
                          </m:r>
                        </m:sub>
                      </m:sSub>
                    </m:oMath>
                  </m:oMathPara>
                </a14:m>
                <a:endParaRPr lang="en-US" altLang="zh-TW" dirty="0"/>
              </a:p>
              <a:p>
                <a:pPr marL="0" indent="0">
                  <a:buNone/>
                </a:pPr>
                <a:endParaRPr lang="en-US" altLang="zh-TW" dirty="0"/>
              </a:p>
              <a:p>
                <a:pPr marL="0" indent="0">
                  <a:buNone/>
                </a:pPr>
                <a:endParaRPr lang="en-US" altLang="zh-TW" dirty="0"/>
              </a:p>
              <a:p>
                <a:pPr marL="0" indent="0">
                  <a:buNone/>
                </a:pPr>
                <a:r>
                  <a:rPr lang="zh-TW" altLang="en-US" dirty="0"/>
                  <a:t>經過</a:t>
                </a:r>
                <a:endParaRPr lang="en-US" altLang="zh-TW" dirty="0"/>
              </a:p>
              <a:p>
                <a:pPr marL="0" indent="0">
                  <a:buNone/>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8</m:t>
                          </m:r>
                        </m:sub>
                        <m:sup>
                          <m:r>
                            <a:rPr lang="en-US" altLang="zh-TW" i="1" smtClean="0">
                              <a:latin typeface="Cambria Math" panose="02040503050406030204" pitchFamily="18" charset="0"/>
                            </a:rPr>
                            <m:t>1</m:t>
                          </m:r>
                        </m:sup>
                        <m:e>
                          <m:r>
                            <m:rPr>
                              <m:sty m:val="p"/>
                            </m:rPr>
                            <a:rPr lang="en-US" altLang="zh-TW" i="1" smtClean="0">
                              <a:latin typeface="Cambria Math" panose="02040503050406030204" pitchFamily="18" charset="0"/>
                            </a:rPr>
                            <m:t>T</m:t>
                          </m:r>
                          <m:r>
                            <a:rPr lang="en-US" altLang="zh-TW" i="1">
                              <a:latin typeface="Cambria Math" panose="02040503050406030204" pitchFamily="18" charset="0"/>
                            </a:rPr>
                            <m:t>=</m:t>
                          </m:r>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2</m:t>
                              </m:r>
                            </m:sub>
                            <m:sup>
                              <m:r>
                                <a:rPr lang="en-US" altLang="zh-TW" i="1" smtClean="0">
                                  <a:latin typeface="Cambria Math" panose="02040503050406030204" pitchFamily="18" charset="0"/>
                                </a:rPr>
                                <m:t>1</m:t>
                              </m:r>
                            </m:sup>
                            <m:e>
                              <m:r>
                                <m:rPr>
                                  <m:sty m:val="p"/>
                                </m:rPr>
                                <a:rPr lang="en-US" altLang="zh-TW" i="1" smtClean="0">
                                  <a:latin typeface="Cambria Math" panose="02040503050406030204" pitchFamily="18" charset="0"/>
                                </a:rPr>
                                <m:t>T</m:t>
                              </m:r>
                            </m:e>
                          </m:sPre>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3</m:t>
                              </m:r>
                            </m:sub>
                            <m:sup>
                              <m:r>
                                <a:rPr lang="en-US" altLang="zh-TW" i="1" smtClean="0">
                                  <a:latin typeface="Cambria Math" panose="02040503050406030204" pitchFamily="18" charset="0"/>
                                </a:rPr>
                                <m:t>2</m:t>
                              </m:r>
                            </m:sup>
                            <m:e>
                              <m:r>
                                <m:rPr>
                                  <m:sty m:val="p"/>
                                </m:rPr>
                                <a:rPr lang="en-US" altLang="zh-TW" i="1" smtClean="0">
                                  <a:latin typeface="Cambria Math" panose="02040503050406030204" pitchFamily="18" charset="0"/>
                                </a:rPr>
                                <m:t>T</m:t>
                              </m:r>
                            </m:e>
                          </m:sPre>
                          <m:r>
                            <a:rPr lang="en-US" altLang="zh-TW" i="1" smtClean="0">
                              <a:latin typeface="Cambria Math" panose="02040503050406030204" pitchFamily="18" charset="0"/>
                            </a:rPr>
                            <m:t>.</m:t>
                          </m:r>
                          <m:r>
                            <a:rPr lang="en-US" altLang="zh-TW" i="1">
                              <a:latin typeface="Cambria Math" panose="02040503050406030204" pitchFamily="18" charset="0"/>
                            </a:rPr>
                            <m:t>.</m:t>
                          </m:r>
                          <m:r>
                            <a:rPr lang="en-US" altLang="zh-TW" i="1" smtClean="0">
                              <a:latin typeface="Cambria Math" panose="02040503050406030204" pitchFamily="18" charset="0"/>
                            </a:rPr>
                            <m:t>.</m:t>
                          </m:r>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7</m:t>
                              </m:r>
                            </m:sub>
                            <m:sup>
                              <m:r>
                                <a:rPr lang="en-US" altLang="zh-TW" i="1" smtClean="0">
                                  <a:latin typeface="Cambria Math" panose="02040503050406030204" pitchFamily="18" charset="0"/>
                                </a:rPr>
                                <m:t>6</m:t>
                              </m:r>
                            </m:sup>
                            <m:e>
                              <m:r>
                                <m:rPr>
                                  <m:sty m:val="p"/>
                                </m:rPr>
                                <a:rPr lang="en-US" altLang="zh-TW" i="1" smtClean="0">
                                  <a:latin typeface="Cambria Math" panose="02040503050406030204" pitchFamily="18" charset="0"/>
                                </a:rPr>
                                <m:t>T</m:t>
                              </m:r>
                            </m:e>
                          </m:sPre>
                          <m:sPre>
                            <m:sPrePr>
                              <m:ctrlPr>
                                <a:rPr lang="en-US" altLang="zh-TW" i="1" smtClean="0">
                                  <a:latin typeface="Cambria Math" panose="02040503050406030204" pitchFamily="18" charset="0"/>
                                </a:rPr>
                              </m:ctrlPr>
                            </m:sPrePr>
                            <m:sub>
                              <m:r>
                                <a:rPr lang="en-US" altLang="zh-TW" i="1">
                                  <a:latin typeface="Cambria Math" panose="02040503050406030204" pitchFamily="18" charset="0"/>
                                </a:rPr>
                                <m:t>8</m:t>
                              </m:r>
                            </m:sub>
                            <m:sup>
                              <m:r>
                                <a:rPr lang="en-US" altLang="zh-TW" i="1" smtClean="0">
                                  <a:latin typeface="Cambria Math" panose="02040503050406030204" pitchFamily="18" charset="0"/>
                                </a:rPr>
                                <m:t>7</m:t>
                              </m:r>
                            </m:sup>
                            <m:e>
                              <m:r>
                                <m:rPr>
                                  <m:sty m:val="p"/>
                                </m:rPr>
                                <a:rPr lang="en-US" altLang="zh-TW" i="1" smtClean="0">
                                  <a:latin typeface="Cambria Math" panose="02040503050406030204" pitchFamily="18" charset="0"/>
                                </a:rPr>
                                <m:t>T</m:t>
                              </m:r>
                            </m:e>
                          </m:sPre>
                        </m:e>
                      </m:sPre>
                    </m:oMath>
                  </m:oMathPara>
                </a14:m>
                <a:endParaRPr lang="en-US" altLang="zh-TW" dirty="0"/>
              </a:p>
              <a:p>
                <a:pPr marL="0" indent="0">
                  <a:buNone/>
                </a:pPr>
                <a:r>
                  <a:rPr lang="zh-TW" altLang="en-US" dirty="0"/>
                  <a:t>可以得知</a:t>
                </a:r>
                <a:r>
                  <a:rPr lang="en-US" altLang="zh-TW" dirty="0"/>
                  <a:t>D</a:t>
                </a:r>
                <a:r>
                  <a:rPr lang="zh-TW" altLang="en-US" dirty="0"/>
                  <a:t>點位置於手臂世界座標中的位置</a:t>
                </a:r>
                <a:r>
                  <a:rPr lang="en-US" altLang="zh-TW" dirty="0"/>
                  <a:t>(</a:t>
                </a:r>
                <a:r>
                  <a:rPr lang="zh-TW" altLang="en-US" dirty="0"/>
                  <a:t>基座座標</a:t>
                </a:r>
                <a:r>
                  <a:rPr lang="en-US" altLang="zh-TW" dirty="0"/>
                  <a:t>)</a:t>
                </a:r>
              </a:p>
            </p:txBody>
          </p:sp>
        </mc:Choice>
        <mc:Fallback xmlns="">
          <p:sp>
            <p:nvSpPr>
              <p:cNvPr id="3" name="內容版面配置區 2">
                <a:extLst>
                  <a:ext uri="{FF2B5EF4-FFF2-40B4-BE49-F238E27FC236}">
                    <a16:creationId xmlns:a16="http://schemas.microsoft.com/office/drawing/2014/main" id="{A01AC95E-1EEA-4E2D-B428-5614E6094AF9}"/>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zh-TW" altLang="en-US">
                    <a:noFill/>
                  </a:rPr>
                  <a:t> </a:t>
                </a:r>
              </a:p>
            </p:txBody>
          </p:sp>
        </mc:Fallback>
      </mc:AlternateContent>
      <p:sp>
        <p:nvSpPr>
          <p:cNvPr id="4" name="左大括弧 3">
            <a:extLst>
              <a:ext uri="{FF2B5EF4-FFF2-40B4-BE49-F238E27FC236}">
                <a16:creationId xmlns:a16="http://schemas.microsoft.com/office/drawing/2014/main" id="{472B2914-C27F-4934-B031-72A8303FCA6C}"/>
              </a:ext>
            </a:extLst>
          </p:cNvPr>
          <p:cNvSpPr/>
          <p:nvPr/>
        </p:nvSpPr>
        <p:spPr>
          <a:xfrm rot="16200000">
            <a:off x="3750375" y="1432998"/>
            <a:ext cx="233549" cy="3758454"/>
          </a:xfrm>
          <a:prstGeom prst="lef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782E9CCA-72A5-48E4-AD29-E92C7F4748E1}"/>
              </a:ext>
            </a:extLst>
          </p:cNvPr>
          <p:cNvSpPr txBox="1"/>
          <p:nvPr/>
        </p:nvSpPr>
        <p:spPr>
          <a:xfrm>
            <a:off x="2082045" y="3462431"/>
            <a:ext cx="3570208" cy="369332"/>
          </a:xfrm>
          <a:prstGeom prst="rect">
            <a:avLst/>
          </a:prstGeom>
          <a:noFill/>
        </p:spPr>
        <p:txBody>
          <a:bodyPr wrap="none" rtlCol="0">
            <a:spAutoFit/>
          </a:bodyPr>
          <a:lstStyle/>
          <a:p>
            <a:r>
              <a:rPr lang="zh-TW" altLang="en-US" dirty="0"/>
              <a:t>第一段</a:t>
            </a:r>
            <a:r>
              <a:rPr lang="en-US" altLang="zh-TW" dirty="0"/>
              <a:t>:</a:t>
            </a:r>
            <a:r>
              <a:rPr lang="zh-TW" altLang="en-US" dirty="0"/>
              <a:t>從點</a:t>
            </a:r>
            <a:r>
              <a:rPr lang="en-US" altLang="zh-TW" dirty="0"/>
              <a:t>C</a:t>
            </a:r>
            <a:r>
              <a:rPr lang="zh-TW" altLang="en-US" dirty="0"/>
              <a:t>到點</a:t>
            </a:r>
            <a:r>
              <a:rPr lang="en-US" altLang="zh-TW" dirty="0"/>
              <a:t>A</a:t>
            </a:r>
            <a:r>
              <a:rPr lang="zh-TW" altLang="en-US" dirty="0"/>
              <a:t>的移動與旋轉</a:t>
            </a:r>
            <a:endParaRPr lang="en-US" altLang="zh-TW" dirty="0"/>
          </a:p>
        </p:txBody>
      </p:sp>
      <p:sp>
        <p:nvSpPr>
          <p:cNvPr id="7" name="文字方塊 6">
            <a:extLst>
              <a:ext uri="{FF2B5EF4-FFF2-40B4-BE49-F238E27FC236}">
                <a16:creationId xmlns:a16="http://schemas.microsoft.com/office/drawing/2014/main" id="{C5845221-5D63-4564-B091-A2682266841B}"/>
              </a:ext>
            </a:extLst>
          </p:cNvPr>
          <p:cNvSpPr txBox="1"/>
          <p:nvPr/>
        </p:nvSpPr>
        <p:spPr>
          <a:xfrm>
            <a:off x="6902807" y="3462431"/>
            <a:ext cx="3570208" cy="369332"/>
          </a:xfrm>
          <a:prstGeom prst="rect">
            <a:avLst/>
          </a:prstGeom>
          <a:noFill/>
        </p:spPr>
        <p:txBody>
          <a:bodyPr wrap="square">
            <a:spAutoFit/>
          </a:bodyPr>
          <a:lstStyle/>
          <a:p>
            <a:r>
              <a:rPr lang="zh-TW" altLang="en-US" dirty="0"/>
              <a:t>第二段</a:t>
            </a:r>
            <a:r>
              <a:rPr lang="en-US" altLang="zh-TW" dirty="0"/>
              <a:t>:</a:t>
            </a:r>
            <a:r>
              <a:rPr lang="zh-TW" altLang="en-US" dirty="0"/>
              <a:t>從點</a:t>
            </a:r>
            <a:r>
              <a:rPr lang="en-US" altLang="zh-TW" dirty="0"/>
              <a:t>A</a:t>
            </a:r>
            <a:r>
              <a:rPr lang="zh-TW" altLang="en-US" dirty="0"/>
              <a:t>到點</a:t>
            </a:r>
            <a:r>
              <a:rPr lang="en-US" altLang="zh-TW" dirty="0"/>
              <a:t>D</a:t>
            </a:r>
            <a:r>
              <a:rPr lang="zh-TW" altLang="en-US" dirty="0"/>
              <a:t>的移動與旋轉</a:t>
            </a:r>
          </a:p>
        </p:txBody>
      </p:sp>
      <p:sp>
        <p:nvSpPr>
          <p:cNvPr id="8" name="左大括弧 7">
            <a:extLst>
              <a:ext uri="{FF2B5EF4-FFF2-40B4-BE49-F238E27FC236}">
                <a16:creationId xmlns:a16="http://schemas.microsoft.com/office/drawing/2014/main" id="{AE117274-B526-4414-AD1C-250DCC62FCEF}"/>
              </a:ext>
            </a:extLst>
          </p:cNvPr>
          <p:cNvSpPr/>
          <p:nvPr/>
        </p:nvSpPr>
        <p:spPr>
          <a:xfrm rot="16200000">
            <a:off x="8571137" y="1432998"/>
            <a:ext cx="233549" cy="3758454"/>
          </a:xfrm>
          <a:prstGeom prst="lef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9" name="投影片編號版面配置區 8">
            <a:extLst>
              <a:ext uri="{FF2B5EF4-FFF2-40B4-BE49-F238E27FC236}">
                <a16:creationId xmlns:a16="http://schemas.microsoft.com/office/drawing/2014/main" id="{EAFF1C84-B8DA-4561-83C5-6BE774E94689}"/>
              </a:ext>
            </a:extLst>
          </p:cNvPr>
          <p:cNvSpPr>
            <a:spLocks noGrp="1"/>
          </p:cNvSpPr>
          <p:nvPr>
            <p:ph type="sldNum" sz="quarter" idx="12"/>
          </p:nvPr>
        </p:nvSpPr>
        <p:spPr/>
        <p:txBody>
          <a:bodyPr/>
          <a:lstStyle/>
          <a:p>
            <a:fld id="{12DE3F29-1F68-43B4-BFC6-B027CAE8215F}" type="slidenum">
              <a:rPr lang="zh-TW" altLang="en-US" smtClean="0"/>
              <a:t>24</a:t>
            </a:fld>
            <a:endParaRPr lang="zh-TW" altLang="en-US"/>
          </a:p>
        </p:txBody>
      </p:sp>
      <p:pic>
        <p:nvPicPr>
          <p:cNvPr id="10" name="圖片 9">
            <a:extLst>
              <a:ext uri="{FF2B5EF4-FFF2-40B4-BE49-F238E27FC236}">
                <a16:creationId xmlns:a16="http://schemas.microsoft.com/office/drawing/2014/main" id="{A6A6A634-20B2-4333-9E99-59CB85395F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509403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D8A9AD-2A23-4CA4-B95E-B39D4B582729}"/>
              </a:ext>
            </a:extLst>
          </p:cNvPr>
          <p:cNvSpPr>
            <a:spLocks noGrp="1"/>
          </p:cNvSpPr>
          <p:nvPr>
            <p:ph type="title"/>
          </p:nvPr>
        </p:nvSpPr>
        <p:spPr/>
        <p:txBody>
          <a:bodyPr/>
          <a:lstStyle/>
          <a:p>
            <a:r>
              <a:rPr lang="zh-TW" altLang="en-US" dirty="0"/>
              <a:t>附錄</a:t>
            </a:r>
            <a:r>
              <a:rPr lang="en-US" altLang="zh-TW" dirty="0"/>
              <a:t>3:</a:t>
            </a:r>
            <a:r>
              <a:rPr lang="zh-TW" altLang="en-US" dirty="0"/>
              <a:t> 齊次變換方程式計算方法</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360D645-B6B9-4B48-BEF9-67EAF6302A26}"/>
                  </a:ext>
                </a:extLst>
              </p:cNvPr>
              <p:cNvSpPr>
                <a:spLocks noGrp="1"/>
              </p:cNvSpPr>
              <p:nvPr>
                <p:ph idx="1"/>
              </p:nvPr>
            </p:nvSpPr>
            <p:spPr/>
            <p:txBody>
              <a:bodyPr/>
              <a:lstStyle/>
              <a:p>
                <a:pPr marL="0" indent="0">
                  <a:buNone/>
                </a:pPr>
                <a:r>
                  <a:rPr lang="en-US" altLang="zh-TW" dirty="0"/>
                  <a:t>J1~J6</a:t>
                </a:r>
                <a:r>
                  <a:rPr lang="zh-TW" altLang="en-US" dirty="0"/>
                  <a:t>為手臂本身是固定值，由前面所述</a:t>
                </a:r>
                <a:r>
                  <a:rPr lang="en-US" altLang="zh-TW" dirty="0"/>
                  <a:t>J6~J7</a:t>
                </a:r>
                <a:r>
                  <a:rPr lang="zh-TW" altLang="en-US" dirty="0"/>
                  <a:t>為</a:t>
                </a:r>
                <a:r>
                  <a:rPr lang="en-US" altLang="zh-TW" dirty="0"/>
                  <a:t>J6</a:t>
                </a:r>
                <a:r>
                  <a:rPr lang="zh-TW" altLang="en-US" dirty="0"/>
                  <a:t>延伸出的一個位移，</a:t>
                </a:r>
                <a:r>
                  <a:rPr lang="en-US" altLang="zh-TW" dirty="0"/>
                  <a:t>J7~J8</a:t>
                </a:r>
                <a:r>
                  <a:rPr lang="zh-TW" altLang="en-US" dirty="0"/>
                  <a:t>為</a:t>
                </a:r>
                <a:r>
                  <a:rPr lang="en-US" altLang="zh-TW" dirty="0"/>
                  <a:t>J7</a:t>
                </a:r>
                <a:r>
                  <a:rPr lang="zh-TW" altLang="en-US" dirty="0"/>
                  <a:t>往</a:t>
                </a:r>
                <a:r>
                  <a:rPr lang="en-US" altLang="zh-TW" dirty="0"/>
                  <a:t>J8</a:t>
                </a:r>
                <a:r>
                  <a:rPr lang="zh-TW" altLang="en-US" dirty="0"/>
                  <a:t>在空間有一個角度並延伸出去作為線材的尖端，可整合為</a:t>
                </a:r>
                <a:endParaRPr lang="en-US" altLang="zh-TW" dirty="0"/>
              </a:p>
              <a:p>
                <a:pPr marL="0" indent="0">
                  <a:buNone/>
                </a:pPr>
                <a14:m>
                  <m:oMathPara xmlns:m="http://schemas.openxmlformats.org/officeDocument/2006/math">
                    <m:oMathParaPr>
                      <m:jc m:val="centerGroup"/>
                    </m:oMathParaPr>
                    <m:oMath xmlns:m="http://schemas.openxmlformats.org/officeDocument/2006/math">
                      <m:sPre>
                        <m:sPrePr>
                          <m:ctrlPr>
                            <a:rPr lang="en-US" altLang="zh-TW" i="1">
                              <a:latin typeface="Cambria Math" panose="02040503050406030204" pitchFamily="18" charset="0"/>
                            </a:rPr>
                          </m:ctrlPr>
                        </m:sPrePr>
                        <m:sub>
                          <m:r>
                            <a:rPr lang="en-US" altLang="zh-TW" i="1" smtClean="0">
                              <a:latin typeface="Cambria Math" panose="02040503050406030204" pitchFamily="18" charset="0"/>
                            </a:rPr>
                            <m:t>8</m:t>
                          </m:r>
                        </m:sub>
                        <m:sup>
                          <m:r>
                            <a:rPr lang="en-US" altLang="zh-TW" i="1">
                              <a:latin typeface="Cambria Math" panose="02040503050406030204" pitchFamily="18" charset="0"/>
                            </a:rPr>
                            <m:t>6</m:t>
                          </m:r>
                        </m:sup>
                        <m:e>
                          <m:r>
                            <m:rPr>
                              <m:sty m:val="p"/>
                            </m:rPr>
                            <a:rPr lang="en-US" altLang="zh-TW" i="1">
                              <a:latin typeface="Cambria Math" panose="02040503050406030204" pitchFamily="18" charset="0"/>
                            </a:rPr>
                            <m:t>T</m:t>
                          </m:r>
                        </m:e>
                      </m:sPre>
                      <m:r>
                        <a:rPr lang="en-US" altLang="zh-TW" i="1" smtClean="0">
                          <a:latin typeface="Cambria Math" panose="02040503050406030204" pitchFamily="18" charset="0"/>
                        </a:rPr>
                        <m:t>=</m:t>
                      </m:r>
                      <m:d>
                        <m:dPr>
                          <m:begChr m:val="["/>
                          <m:endChr m:val="]"/>
                          <m:ctrlPr>
                            <a:rPr lang="en-US" altLang="zh-TW" i="1" smtClean="0">
                              <a:solidFill>
                                <a:srgbClr val="836967"/>
                              </a:solidFill>
                              <a:latin typeface="Cambria Math" panose="02040503050406030204" pitchFamily="18" charset="0"/>
                            </a:rPr>
                          </m:ctrlPr>
                        </m:dPr>
                        <m:e>
                          <m:m>
                            <m:mPr>
                              <m:plcHide m:val="on"/>
                              <m:mcs>
                                <m:mc>
                                  <m:mcPr>
                                    <m:count m:val="4"/>
                                    <m:mcJc m:val="center"/>
                                  </m:mcPr>
                                </m:mc>
                              </m:mcs>
                              <m:ctrlPr>
                                <a:rPr lang="en-US" altLang="zh-TW" i="1">
                                  <a:solidFill>
                                    <a:srgbClr val="836967"/>
                                  </a:solidFill>
                                  <a:latin typeface="Cambria Math" panose="02040503050406030204" pitchFamily="18" charset="0"/>
                                </a:rPr>
                              </m:ctrlPr>
                            </m:mPr>
                            <m:mr>
                              <m:e>
                                <m:r>
                                  <a:rPr lang="en-US" altLang="zh-TW" i="1">
                                    <a:latin typeface="Cambria Math" panose="02040503050406030204" pitchFamily="18" charset="0"/>
                                  </a:rPr>
                                  <m:t>1</m:t>
                                </m:r>
                              </m:e>
                              <m:e>
                                <m:r>
                                  <a:rPr lang="en-US" altLang="zh-TW" i="1" smtClean="0">
                                    <a:latin typeface="Cambria Math" panose="02040503050406030204" pitchFamily="18" charset="0"/>
                                  </a:rPr>
                                  <m:t>0</m:t>
                                </m:r>
                              </m:e>
                              <m:e>
                                <m:r>
                                  <a:rPr lang="en-US" altLang="zh-TW" i="1">
                                    <a:latin typeface="Cambria Math" panose="02040503050406030204" pitchFamily="18" charset="0"/>
                                  </a:rPr>
                                  <m:t>0</m:t>
                                </m:r>
                              </m:e>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m:rPr>
                                            <m:sty m:val="p"/>
                                          </m:rPr>
                                          <a:rPr lang="en-US" altLang="zh-TW" b="0" i="0" smtClean="0">
                                            <a:latin typeface="Cambria Math" panose="02040503050406030204" pitchFamily="18" charset="0"/>
                                          </a:rPr>
                                          <m:t>AB</m:t>
                                        </m:r>
                                      </m:e>
                                    </m:acc>
                                  </m:e>
                                  <m:sub>
                                    <m:r>
                                      <a:rPr lang="en-US" altLang="zh-TW" b="0" i="1" smtClean="0">
                                        <a:latin typeface="Cambria Math" panose="02040503050406030204" pitchFamily="18" charset="0"/>
                                      </a:rPr>
                                      <m:t>𝑥</m:t>
                                    </m:r>
                                  </m:sub>
                                </m:sSub>
                              </m:e>
                            </m:mr>
                            <m:mr>
                              <m:e>
                                <m:r>
                                  <a:rPr lang="en-US" altLang="zh-TW" i="1">
                                    <a:latin typeface="Cambria Math" panose="02040503050406030204" pitchFamily="18" charset="0"/>
                                  </a:rPr>
                                  <m:t>0</m:t>
                                </m:r>
                              </m:e>
                              <m:e>
                                <m:r>
                                  <a:rPr lang="en-US" altLang="zh-TW" i="1">
                                    <a:latin typeface="Cambria Math" panose="02040503050406030204" pitchFamily="18" charset="0"/>
                                  </a:rPr>
                                  <m:t>1</m:t>
                                </m:r>
                              </m:e>
                              <m:e>
                                <m:r>
                                  <a:rPr lang="en-US" altLang="zh-TW" i="1">
                                    <a:latin typeface="Cambria Math" panose="02040503050406030204" pitchFamily="18" charset="0"/>
                                  </a:rPr>
                                  <m:t>0</m:t>
                                </m:r>
                              </m:e>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m:rPr>
                                            <m:sty m:val="p"/>
                                          </m:rPr>
                                          <a:rPr lang="en-US" altLang="zh-TW">
                                            <a:latin typeface="Cambria Math" panose="02040503050406030204" pitchFamily="18" charset="0"/>
                                          </a:rPr>
                                          <m:t>AB</m:t>
                                        </m:r>
                                      </m:e>
                                    </m:acc>
                                  </m:e>
                                  <m:sub>
                                    <m:r>
                                      <a:rPr lang="en-US" altLang="zh-TW" b="0" i="1" smtClean="0">
                                        <a:latin typeface="Cambria Math" panose="02040503050406030204" pitchFamily="18" charset="0"/>
                                      </a:rPr>
                                      <m:t>𝑦</m:t>
                                    </m:r>
                                  </m:sub>
                                </m:sSub>
                              </m:e>
                            </m:mr>
                            <m:mr>
                              <m:e>
                                <m:r>
                                  <a:rPr lang="en-US" altLang="zh-TW" i="1">
                                    <a:latin typeface="Cambria Math" panose="02040503050406030204" pitchFamily="18" charset="0"/>
                                  </a:rPr>
                                  <m:t>0</m:t>
                                </m:r>
                              </m:e>
                              <m:e>
                                <m:r>
                                  <a:rPr lang="en-US" altLang="zh-TW" i="1">
                                    <a:latin typeface="Cambria Math" panose="02040503050406030204" pitchFamily="18" charset="0"/>
                                  </a:rPr>
                                  <m:t>0</m:t>
                                </m:r>
                              </m:e>
                              <m:e>
                                <m:r>
                                  <a:rPr lang="en-US" altLang="zh-TW" i="1">
                                    <a:latin typeface="Cambria Math" panose="02040503050406030204" pitchFamily="18" charset="0"/>
                                  </a:rPr>
                                  <m:t>1</m:t>
                                </m:r>
                              </m:e>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m:rPr>
                                            <m:sty m:val="p"/>
                                          </m:rPr>
                                          <a:rPr lang="en-US" altLang="zh-TW">
                                            <a:latin typeface="Cambria Math" panose="02040503050406030204" pitchFamily="18" charset="0"/>
                                          </a:rPr>
                                          <m:t>AB</m:t>
                                        </m:r>
                                      </m:e>
                                    </m:acc>
                                  </m:e>
                                  <m:sub>
                                    <m:r>
                                      <a:rPr lang="en-US" altLang="zh-TW" b="0" i="1" smtClean="0">
                                        <a:latin typeface="Cambria Math" panose="02040503050406030204" pitchFamily="18" charset="0"/>
                                      </a:rPr>
                                      <m:t>𝑧</m:t>
                                    </m:r>
                                  </m:sub>
                                </m:sSub>
                              </m:e>
                            </m:mr>
                            <m:mr>
                              <m:e>
                                <m:r>
                                  <a:rPr lang="en-US" altLang="zh-TW" i="1">
                                    <a:latin typeface="Cambria Math" panose="02040503050406030204" pitchFamily="18" charset="0"/>
                                  </a:rPr>
                                  <m:t>0</m:t>
                                </m:r>
                              </m:e>
                              <m:e>
                                <m:r>
                                  <a:rPr lang="en-US" altLang="zh-TW" i="1" smtClean="0">
                                    <a:latin typeface="Cambria Math" panose="02040503050406030204" pitchFamily="18" charset="0"/>
                                  </a:rPr>
                                  <m:t>0</m:t>
                                </m:r>
                              </m:e>
                              <m:e>
                                <m:r>
                                  <a:rPr lang="en-US" altLang="zh-TW" i="1">
                                    <a:latin typeface="Cambria Math" panose="02040503050406030204" pitchFamily="18" charset="0"/>
                                  </a:rPr>
                                  <m:t>0</m:t>
                                </m:r>
                              </m:e>
                              <m:e>
                                <m:r>
                                  <a:rPr lang="en-US" altLang="zh-TW" i="1">
                                    <a:latin typeface="Cambria Math" panose="02040503050406030204" pitchFamily="18" charset="0"/>
                                  </a:rPr>
                                  <m:t>1</m:t>
                                </m:r>
                              </m:e>
                            </m:mr>
                          </m:m>
                        </m:e>
                      </m:d>
                      <m:r>
                        <a:rPr lang="en-US" altLang="zh-TW" b="0" i="1" smtClean="0">
                          <a:latin typeface="Cambria Math" panose="02040503050406030204" pitchFamily="18" charset="0"/>
                        </a:rPr>
                        <m:t>∗</m:t>
                      </m:r>
                      <m:d>
                        <m:dPr>
                          <m:begChr m:val="["/>
                          <m:endChr m:val="]"/>
                          <m:ctrlPr>
                            <a:rPr lang="en-US" altLang="zh-TW" i="1">
                              <a:solidFill>
                                <a:srgbClr val="836967"/>
                              </a:solidFill>
                              <a:latin typeface="Cambria Math" panose="02040503050406030204" pitchFamily="18" charset="0"/>
                            </a:rPr>
                          </m:ctrlPr>
                        </m:dPr>
                        <m:e>
                          <m:m>
                            <m:mPr>
                              <m:plcHide m:val="on"/>
                              <m:mcs>
                                <m:mc>
                                  <m:mcPr>
                                    <m:count m:val="4"/>
                                    <m:mcJc m:val="center"/>
                                  </m:mcPr>
                                </m:mc>
                              </m:mcs>
                              <m:ctrlPr>
                                <a:rPr lang="en-US" altLang="zh-TW" i="1">
                                  <a:solidFill>
                                    <a:srgbClr val="836967"/>
                                  </a:solidFill>
                                  <a:latin typeface="Cambria Math" panose="02040503050406030204" pitchFamily="18" charset="0"/>
                                </a:rPr>
                              </m:ctrlPr>
                            </m:mPr>
                            <m:mr>
                              <m:e>
                                <m:r>
                                  <a:rPr lang="en-US" altLang="zh-TW" i="1">
                                    <a:latin typeface="Cambria Math" panose="02040503050406030204" pitchFamily="18" charset="0"/>
                                  </a:rPr>
                                  <m:t>1</m:t>
                                </m:r>
                              </m:e>
                              <m:e>
                                <m:r>
                                  <a:rPr lang="en-US" altLang="zh-TW" i="1">
                                    <a:latin typeface="Cambria Math" panose="02040503050406030204" pitchFamily="18" charset="0"/>
                                  </a:rPr>
                                  <m:t>0</m:t>
                                </m:r>
                              </m:e>
                              <m:e>
                                <m:r>
                                  <a:rPr lang="en-US" altLang="zh-TW" i="1">
                                    <a:latin typeface="Cambria Math" panose="02040503050406030204" pitchFamily="18" charset="0"/>
                                  </a:rPr>
                                  <m:t>0</m:t>
                                </m:r>
                              </m:e>
                              <m:e>
                                <m:sSub>
                                  <m:sSubPr>
                                    <m:ctrlPr>
                                      <a:rPr lang="en-US" altLang="zh-TW" i="1">
                                        <a:latin typeface="Cambria Math" panose="02040503050406030204" pitchFamily="18" charset="0"/>
                                      </a:rPr>
                                    </m:ctrlPr>
                                  </m:sSubPr>
                                  <m:e>
                                    <m:acc>
                                      <m:accPr>
                                        <m:chr m:val="⃑"/>
                                        <m:ctrlPr>
                                          <a:rPr lang="en-US" altLang="zh-TW" i="1" smtClean="0">
                                            <a:latin typeface="Cambria Math" panose="02040503050406030204" pitchFamily="18" charset="0"/>
                                          </a:rPr>
                                        </m:ctrlPr>
                                      </m:accPr>
                                      <m:e>
                                        <m:r>
                                          <m:rPr>
                                            <m:sty m:val="p"/>
                                          </m:rPr>
                                          <a:rPr lang="en-US" altLang="zh-TW" b="0" i="0" smtClean="0">
                                            <a:latin typeface="Cambria Math" panose="02040503050406030204" pitchFamily="18" charset="0"/>
                                          </a:rPr>
                                          <m:t>BC</m:t>
                                        </m:r>
                                      </m:e>
                                    </m:acc>
                                  </m:e>
                                  <m:sub>
                                    <m:r>
                                      <a:rPr lang="en-US" altLang="zh-TW" i="1">
                                        <a:latin typeface="Cambria Math" panose="02040503050406030204" pitchFamily="18" charset="0"/>
                                      </a:rPr>
                                      <m:t>𝑥</m:t>
                                    </m:r>
                                  </m:sub>
                                </m:sSub>
                              </m:e>
                            </m:mr>
                            <m:mr>
                              <m:e>
                                <m:r>
                                  <a:rPr lang="en-US" altLang="zh-TW" i="1">
                                    <a:latin typeface="Cambria Math" panose="02040503050406030204" pitchFamily="18" charset="0"/>
                                  </a:rPr>
                                  <m:t>0</m:t>
                                </m:r>
                              </m:e>
                              <m:e>
                                <m:r>
                                  <a:rPr lang="en-US" altLang="zh-TW" i="1">
                                    <a:latin typeface="Cambria Math" panose="02040503050406030204" pitchFamily="18" charset="0"/>
                                  </a:rPr>
                                  <m:t>1</m:t>
                                </m:r>
                              </m:e>
                              <m:e>
                                <m:r>
                                  <a:rPr lang="en-US" altLang="zh-TW" i="1">
                                    <a:latin typeface="Cambria Math" panose="02040503050406030204" pitchFamily="18" charset="0"/>
                                  </a:rPr>
                                  <m:t>0</m:t>
                                </m:r>
                              </m:e>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m:rPr>
                                            <m:sty m:val="p"/>
                                          </m:rPr>
                                          <a:rPr lang="en-US" altLang="zh-TW">
                                            <a:latin typeface="Cambria Math" panose="02040503050406030204" pitchFamily="18" charset="0"/>
                                          </a:rPr>
                                          <m:t>BC</m:t>
                                        </m:r>
                                      </m:e>
                                    </m:acc>
                                  </m:e>
                                  <m:sub>
                                    <m:r>
                                      <a:rPr lang="en-US" altLang="zh-TW" b="0" i="1" smtClean="0">
                                        <a:latin typeface="Cambria Math" panose="02040503050406030204" pitchFamily="18" charset="0"/>
                                      </a:rPr>
                                      <m:t>𝑦</m:t>
                                    </m:r>
                                  </m:sub>
                                </m:sSub>
                              </m:e>
                            </m:mr>
                            <m:mr>
                              <m:e>
                                <m:r>
                                  <a:rPr lang="en-US" altLang="zh-TW" i="1">
                                    <a:latin typeface="Cambria Math" panose="02040503050406030204" pitchFamily="18" charset="0"/>
                                  </a:rPr>
                                  <m:t>0</m:t>
                                </m:r>
                              </m:e>
                              <m:e>
                                <m:r>
                                  <a:rPr lang="en-US" altLang="zh-TW" i="1">
                                    <a:latin typeface="Cambria Math" panose="02040503050406030204" pitchFamily="18" charset="0"/>
                                  </a:rPr>
                                  <m:t>0</m:t>
                                </m:r>
                              </m:e>
                              <m:e>
                                <m:r>
                                  <a:rPr lang="en-US" altLang="zh-TW" i="1">
                                    <a:latin typeface="Cambria Math" panose="02040503050406030204" pitchFamily="18" charset="0"/>
                                  </a:rPr>
                                  <m:t>1</m:t>
                                </m:r>
                              </m:e>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m:rPr>
                                            <m:sty m:val="p"/>
                                          </m:rPr>
                                          <a:rPr lang="en-US" altLang="zh-TW">
                                            <a:latin typeface="Cambria Math" panose="02040503050406030204" pitchFamily="18" charset="0"/>
                                          </a:rPr>
                                          <m:t>BC</m:t>
                                        </m:r>
                                      </m:e>
                                    </m:acc>
                                  </m:e>
                                  <m:sub>
                                    <m:r>
                                      <a:rPr lang="en-US" altLang="zh-TW" b="0" i="1" smtClean="0">
                                        <a:latin typeface="Cambria Math" panose="02040503050406030204" pitchFamily="18" charset="0"/>
                                      </a:rPr>
                                      <m:t>𝑧</m:t>
                                    </m:r>
                                  </m:sub>
                                </m:sSub>
                              </m:e>
                            </m:mr>
                            <m:mr>
                              <m:e>
                                <m:r>
                                  <a:rPr lang="en-US" altLang="zh-TW" i="1">
                                    <a:latin typeface="Cambria Math" panose="02040503050406030204" pitchFamily="18" charset="0"/>
                                  </a:rPr>
                                  <m:t>0</m:t>
                                </m:r>
                              </m:e>
                              <m:e>
                                <m:r>
                                  <a:rPr lang="en-US" altLang="zh-TW" i="1">
                                    <a:latin typeface="Cambria Math" panose="02040503050406030204" pitchFamily="18" charset="0"/>
                                  </a:rPr>
                                  <m:t>0</m:t>
                                </m:r>
                              </m:e>
                              <m:e>
                                <m:r>
                                  <a:rPr lang="en-US" altLang="zh-TW" i="1">
                                    <a:latin typeface="Cambria Math" panose="02040503050406030204" pitchFamily="18" charset="0"/>
                                  </a:rPr>
                                  <m:t>0</m:t>
                                </m:r>
                              </m:e>
                              <m:e>
                                <m:r>
                                  <a:rPr lang="en-US" altLang="zh-TW" i="1">
                                    <a:latin typeface="Cambria Math" panose="02040503050406030204" pitchFamily="18" charset="0"/>
                                  </a:rPr>
                                  <m:t>1</m:t>
                                </m:r>
                              </m:e>
                            </m:mr>
                          </m:m>
                        </m:e>
                      </m:d>
                    </m:oMath>
                  </m:oMathPara>
                </a14:m>
                <a:endParaRPr lang="zh-TW" altLang="en-US" dirty="0"/>
              </a:p>
            </p:txBody>
          </p:sp>
        </mc:Choice>
        <mc:Fallback xmlns="">
          <p:sp>
            <p:nvSpPr>
              <p:cNvPr id="3" name="內容版面配置區 2">
                <a:extLst>
                  <a:ext uri="{FF2B5EF4-FFF2-40B4-BE49-F238E27FC236}">
                    <a16:creationId xmlns:a16="http://schemas.microsoft.com/office/drawing/2014/main" id="{E360D645-B6B9-4B48-BEF9-67EAF6302A26}"/>
                  </a:ext>
                </a:extLst>
              </p:cNvPr>
              <p:cNvSpPr>
                <a:spLocks noGrp="1" noRot="1" noChangeAspect="1" noMove="1" noResize="1" noEditPoints="1" noAdjustHandles="1" noChangeArrowheads="1" noChangeShapeType="1" noTextEdit="1"/>
              </p:cNvSpPr>
              <p:nvPr>
                <p:ph idx="1"/>
              </p:nvPr>
            </p:nvSpPr>
            <p:spPr>
              <a:blipFill>
                <a:blip r:embed="rId2"/>
                <a:stretch>
                  <a:fillRect l="-1217" t="-2381" r="-58"/>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FEBF9623-987C-40A9-85DD-22010141198A}"/>
              </a:ext>
            </a:extLst>
          </p:cNvPr>
          <p:cNvSpPr>
            <a:spLocks noGrp="1"/>
          </p:cNvSpPr>
          <p:nvPr>
            <p:ph type="sldNum" sz="quarter" idx="12"/>
          </p:nvPr>
        </p:nvSpPr>
        <p:spPr/>
        <p:txBody>
          <a:bodyPr/>
          <a:lstStyle/>
          <a:p>
            <a:fld id="{12DE3F29-1F68-43B4-BFC6-B027CAE8215F}" type="slidenum">
              <a:rPr lang="zh-TW" altLang="en-US" smtClean="0"/>
              <a:t>25</a:t>
            </a:fld>
            <a:endParaRPr lang="zh-TW" altLang="en-US"/>
          </a:p>
        </p:txBody>
      </p:sp>
      <p:pic>
        <p:nvPicPr>
          <p:cNvPr id="6" name="圖片 5">
            <a:extLst>
              <a:ext uri="{FF2B5EF4-FFF2-40B4-BE49-F238E27FC236}">
                <a16:creationId xmlns:a16="http://schemas.microsoft.com/office/drawing/2014/main" id="{200DD1D9-6E17-4212-88C8-B15EFC0EC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600826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850DED-95F4-455C-A800-CCE07A759EB6}"/>
              </a:ext>
            </a:extLst>
          </p:cNvPr>
          <p:cNvSpPr>
            <a:spLocks noGrp="1"/>
          </p:cNvSpPr>
          <p:nvPr>
            <p:ph type="title"/>
          </p:nvPr>
        </p:nvSpPr>
        <p:spPr/>
        <p:txBody>
          <a:bodyPr/>
          <a:lstStyle/>
          <a:p>
            <a:r>
              <a:rPr lang="zh-TW" altLang="en-US" dirty="0"/>
              <a:t>附錄</a:t>
            </a:r>
            <a:r>
              <a:rPr lang="en-US" altLang="zh-TW" dirty="0"/>
              <a:t>4:</a:t>
            </a:r>
            <a:r>
              <a:rPr lang="zh-TW" altLang="en-US" dirty="0"/>
              <a:t> 本研究所使用的目標點與實際</a:t>
            </a:r>
            <a:r>
              <a:rPr lang="en-US" altLang="zh-TW" dirty="0"/>
              <a:t>TCP</a:t>
            </a:r>
            <a:endParaRPr lang="zh-TW" altLang="en-US" dirty="0"/>
          </a:p>
        </p:txBody>
      </p:sp>
      <p:sp>
        <p:nvSpPr>
          <p:cNvPr id="4" name="投影片編號版面配置區 3">
            <a:extLst>
              <a:ext uri="{FF2B5EF4-FFF2-40B4-BE49-F238E27FC236}">
                <a16:creationId xmlns:a16="http://schemas.microsoft.com/office/drawing/2014/main" id="{E915CEC8-7D62-4D75-B161-A34DEABCC5FA}"/>
              </a:ext>
            </a:extLst>
          </p:cNvPr>
          <p:cNvSpPr>
            <a:spLocks noGrp="1"/>
          </p:cNvSpPr>
          <p:nvPr>
            <p:ph type="sldNum" sz="quarter" idx="12"/>
          </p:nvPr>
        </p:nvSpPr>
        <p:spPr/>
        <p:txBody>
          <a:bodyPr/>
          <a:lstStyle/>
          <a:p>
            <a:fld id="{12DE3F29-1F68-43B4-BFC6-B027CAE8215F}" type="slidenum">
              <a:rPr lang="zh-TW" altLang="en-US" smtClean="0"/>
              <a:t>26</a:t>
            </a:fld>
            <a:endParaRPr lang="zh-TW" altLang="en-US"/>
          </a:p>
        </p:txBody>
      </p:sp>
      <p:pic>
        <p:nvPicPr>
          <p:cNvPr id="10" name="內容版面配置區 9">
            <a:extLst>
              <a:ext uri="{FF2B5EF4-FFF2-40B4-BE49-F238E27FC236}">
                <a16:creationId xmlns:a16="http://schemas.microsoft.com/office/drawing/2014/main" id="{F6F3360E-580E-476E-836D-462FF1CA168B}"/>
              </a:ext>
            </a:extLst>
          </p:cNvPr>
          <p:cNvPicPr>
            <a:picLocks noGrp="1" noChangeAspect="1"/>
          </p:cNvPicPr>
          <p:nvPr>
            <p:ph idx="1"/>
          </p:nvPr>
        </p:nvPicPr>
        <p:blipFill>
          <a:blip r:embed="rId2"/>
          <a:stretch>
            <a:fillRect/>
          </a:stretch>
        </p:blipFill>
        <p:spPr>
          <a:xfrm>
            <a:off x="838200" y="2183796"/>
            <a:ext cx="4159464" cy="3473629"/>
          </a:xfrm>
        </p:spPr>
      </p:pic>
      <p:pic>
        <p:nvPicPr>
          <p:cNvPr id="12" name="圖片 11">
            <a:extLst>
              <a:ext uri="{FF2B5EF4-FFF2-40B4-BE49-F238E27FC236}">
                <a16:creationId xmlns:a16="http://schemas.microsoft.com/office/drawing/2014/main" id="{46776FCC-48BA-43F7-B69B-C32709D6414A}"/>
              </a:ext>
            </a:extLst>
          </p:cNvPr>
          <p:cNvPicPr>
            <a:picLocks noChangeAspect="1"/>
          </p:cNvPicPr>
          <p:nvPr/>
        </p:nvPicPr>
        <p:blipFill>
          <a:blip r:embed="rId3"/>
          <a:stretch>
            <a:fillRect/>
          </a:stretch>
        </p:blipFill>
        <p:spPr>
          <a:xfrm>
            <a:off x="5137220" y="2183796"/>
            <a:ext cx="4553184" cy="2781443"/>
          </a:xfrm>
          <a:prstGeom prst="rect">
            <a:avLst/>
          </a:prstGeom>
        </p:spPr>
      </p:pic>
      <p:pic>
        <p:nvPicPr>
          <p:cNvPr id="13" name="圖片 12">
            <a:extLst>
              <a:ext uri="{FF2B5EF4-FFF2-40B4-BE49-F238E27FC236}">
                <a16:creationId xmlns:a16="http://schemas.microsoft.com/office/drawing/2014/main" id="{2B0242D4-61BF-4A5E-A10C-CFB72BFE23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2448336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67DD56-CDB9-4C34-836A-696E6A64D657}"/>
              </a:ext>
            </a:extLst>
          </p:cNvPr>
          <p:cNvSpPr>
            <a:spLocks noGrp="1"/>
          </p:cNvSpPr>
          <p:nvPr>
            <p:ph type="title"/>
          </p:nvPr>
        </p:nvSpPr>
        <p:spPr/>
        <p:txBody>
          <a:bodyPr/>
          <a:lstStyle/>
          <a:p>
            <a:r>
              <a:rPr lang="zh-TW" altLang="en-US" dirty="0"/>
              <a:t>附錄</a:t>
            </a:r>
            <a:r>
              <a:rPr lang="en-US" altLang="zh-TW" dirty="0"/>
              <a:t>5:</a:t>
            </a:r>
            <a:r>
              <a:rPr lang="zh-TW" altLang="en-US" dirty="0"/>
              <a:t> 角度補償表</a:t>
            </a:r>
            <a:r>
              <a:rPr lang="en-US" altLang="zh-TW" dirty="0"/>
              <a:t>(</a:t>
            </a:r>
            <a:r>
              <a:rPr lang="zh-TW" altLang="en-US" dirty="0"/>
              <a:t>部分</a:t>
            </a:r>
            <a:r>
              <a:rPr lang="en-US" altLang="zh-TW" dirty="0"/>
              <a:t>)</a:t>
            </a:r>
            <a:endParaRPr lang="zh-TW" altLang="en-US" dirty="0"/>
          </a:p>
        </p:txBody>
      </p:sp>
      <p:pic>
        <p:nvPicPr>
          <p:cNvPr id="6" name="內容版面配置區 5">
            <a:extLst>
              <a:ext uri="{FF2B5EF4-FFF2-40B4-BE49-F238E27FC236}">
                <a16:creationId xmlns:a16="http://schemas.microsoft.com/office/drawing/2014/main" id="{031997B8-0769-4EB6-AEA1-A22F2E8EC395}"/>
              </a:ext>
            </a:extLst>
          </p:cNvPr>
          <p:cNvPicPr>
            <a:picLocks noGrp="1" noChangeAspect="1"/>
          </p:cNvPicPr>
          <p:nvPr>
            <p:ph idx="1"/>
          </p:nvPr>
        </p:nvPicPr>
        <p:blipFill>
          <a:blip r:embed="rId2"/>
          <a:stretch>
            <a:fillRect/>
          </a:stretch>
        </p:blipFill>
        <p:spPr>
          <a:xfrm>
            <a:off x="312607" y="1829491"/>
            <a:ext cx="4362674" cy="2159111"/>
          </a:xfrm>
        </p:spPr>
      </p:pic>
      <p:sp>
        <p:nvSpPr>
          <p:cNvPr id="4" name="投影片編號版面配置區 3">
            <a:extLst>
              <a:ext uri="{FF2B5EF4-FFF2-40B4-BE49-F238E27FC236}">
                <a16:creationId xmlns:a16="http://schemas.microsoft.com/office/drawing/2014/main" id="{7B8D291E-B8B6-4A0F-88D6-A9560A268909}"/>
              </a:ext>
            </a:extLst>
          </p:cNvPr>
          <p:cNvSpPr>
            <a:spLocks noGrp="1"/>
          </p:cNvSpPr>
          <p:nvPr>
            <p:ph type="sldNum" sz="quarter" idx="12"/>
          </p:nvPr>
        </p:nvSpPr>
        <p:spPr/>
        <p:txBody>
          <a:bodyPr/>
          <a:lstStyle/>
          <a:p>
            <a:fld id="{12DE3F29-1F68-43B4-BFC6-B027CAE8215F}" type="slidenum">
              <a:rPr lang="zh-TW" altLang="en-US" smtClean="0"/>
              <a:t>27</a:t>
            </a:fld>
            <a:endParaRPr lang="zh-TW" altLang="en-US"/>
          </a:p>
        </p:txBody>
      </p:sp>
      <p:pic>
        <p:nvPicPr>
          <p:cNvPr id="8" name="圖片 7">
            <a:extLst>
              <a:ext uri="{FF2B5EF4-FFF2-40B4-BE49-F238E27FC236}">
                <a16:creationId xmlns:a16="http://schemas.microsoft.com/office/drawing/2014/main" id="{7294645F-3813-408F-AF4A-69B6BD7983FE}"/>
              </a:ext>
            </a:extLst>
          </p:cNvPr>
          <p:cNvPicPr>
            <a:picLocks noChangeAspect="1"/>
          </p:cNvPicPr>
          <p:nvPr/>
        </p:nvPicPr>
        <p:blipFill>
          <a:blip r:embed="rId3"/>
          <a:stretch>
            <a:fillRect/>
          </a:stretch>
        </p:blipFill>
        <p:spPr>
          <a:xfrm>
            <a:off x="267783" y="4267891"/>
            <a:ext cx="4407126" cy="2159111"/>
          </a:xfrm>
          <a:prstGeom prst="rect">
            <a:avLst/>
          </a:prstGeom>
        </p:spPr>
      </p:pic>
      <p:pic>
        <p:nvPicPr>
          <p:cNvPr id="10" name="圖片 9">
            <a:extLst>
              <a:ext uri="{FF2B5EF4-FFF2-40B4-BE49-F238E27FC236}">
                <a16:creationId xmlns:a16="http://schemas.microsoft.com/office/drawing/2014/main" id="{7DD0A5B7-4FD4-493C-82F4-2CED016AF804}"/>
              </a:ext>
            </a:extLst>
          </p:cNvPr>
          <p:cNvPicPr>
            <a:picLocks noChangeAspect="1"/>
          </p:cNvPicPr>
          <p:nvPr/>
        </p:nvPicPr>
        <p:blipFill>
          <a:blip r:embed="rId4"/>
          <a:stretch>
            <a:fillRect/>
          </a:stretch>
        </p:blipFill>
        <p:spPr>
          <a:xfrm>
            <a:off x="5182945" y="1829490"/>
            <a:ext cx="4349974" cy="2159111"/>
          </a:xfrm>
          <a:prstGeom prst="rect">
            <a:avLst/>
          </a:prstGeom>
        </p:spPr>
      </p:pic>
      <p:sp>
        <p:nvSpPr>
          <p:cNvPr id="11" name="文字方塊 10">
            <a:extLst>
              <a:ext uri="{FF2B5EF4-FFF2-40B4-BE49-F238E27FC236}">
                <a16:creationId xmlns:a16="http://schemas.microsoft.com/office/drawing/2014/main" id="{97786EF9-9583-42F0-89C8-C7EF6AE63216}"/>
              </a:ext>
            </a:extLst>
          </p:cNvPr>
          <p:cNvSpPr txBox="1"/>
          <p:nvPr/>
        </p:nvSpPr>
        <p:spPr>
          <a:xfrm>
            <a:off x="5182945" y="4267891"/>
            <a:ext cx="4489973" cy="923330"/>
          </a:xfrm>
          <a:prstGeom prst="rect">
            <a:avLst/>
          </a:prstGeom>
          <a:noFill/>
        </p:spPr>
        <p:txBody>
          <a:bodyPr wrap="square" rtlCol="0">
            <a:spAutoFit/>
          </a:bodyPr>
          <a:lstStyle/>
          <a:p>
            <a:r>
              <a:rPr lang="zh-TW" altLang="en-US" dirty="0"/>
              <a:t>展示每次環境上的</a:t>
            </a:r>
            <a:r>
              <a:rPr lang="en-US" altLang="zh-TW" dirty="0"/>
              <a:t>10</a:t>
            </a:r>
            <a:r>
              <a:rPr lang="zh-TW" altLang="en-US" dirty="0"/>
              <a:t>個點，</a:t>
            </a:r>
            <a:r>
              <a:rPr lang="en-US" altLang="zh-TW" dirty="0"/>
              <a:t>ID</a:t>
            </a:r>
            <a:r>
              <a:rPr lang="zh-TW" altLang="en-US" dirty="0"/>
              <a:t>從</a:t>
            </a:r>
            <a:r>
              <a:rPr lang="en-US" altLang="zh-TW" dirty="0"/>
              <a:t>1</a:t>
            </a:r>
            <a:r>
              <a:rPr lang="zh-TW" altLang="en-US" dirty="0"/>
              <a:t>開始到</a:t>
            </a:r>
            <a:r>
              <a:rPr lang="en-US" altLang="zh-TW" dirty="0"/>
              <a:t>5</a:t>
            </a:r>
            <a:r>
              <a:rPr lang="zh-TW" altLang="en-US" dirty="0"/>
              <a:t>代表連接器的上層</a:t>
            </a:r>
            <a:r>
              <a:rPr lang="en-US" altLang="zh-TW" dirty="0"/>
              <a:t>5</a:t>
            </a:r>
            <a:r>
              <a:rPr lang="zh-TW" altLang="en-US" dirty="0"/>
              <a:t>個點，</a:t>
            </a:r>
            <a:r>
              <a:rPr lang="en-US" altLang="zh-TW" dirty="0"/>
              <a:t>6</a:t>
            </a:r>
            <a:r>
              <a:rPr lang="zh-TW" altLang="en-US" dirty="0"/>
              <a:t>到</a:t>
            </a:r>
            <a:r>
              <a:rPr lang="en-US" altLang="zh-TW" dirty="0"/>
              <a:t>10</a:t>
            </a:r>
            <a:r>
              <a:rPr lang="zh-TW" altLang="en-US" dirty="0"/>
              <a:t>則是下層</a:t>
            </a:r>
            <a:r>
              <a:rPr lang="en-US" altLang="zh-TW" dirty="0"/>
              <a:t>1</a:t>
            </a:r>
            <a:r>
              <a:rPr lang="zh-TW" altLang="en-US" dirty="0"/>
              <a:t>到</a:t>
            </a:r>
            <a:r>
              <a:rPr lang="en-US" altLang="zh-TW" dirty="0"/>
              <a:t>5</a:t>
            </a:r>
            <a:r>
              <a:rPr lang="zh-TW" altLang="en-US" dirty="0"/>
              <a:t>的點</a:t>
            </a:r>
          </a:p>
        </p:txBody>
      </p:sp>
      <p:pic>
        <p:nvPicPr>
          <p:cNvPr id="13" name="圖片 12">
            <a:extLst>
              <a:ext uri="{FF2B5EF4-FFF2-40B4-BE49-F238E27FC236}">
                <a16:creationId xmlns:a16="http://schemas.microsoft.com/office/drawing/2014/main" id="{13AE6ED3-E9A3-4293-BA71-EE0D509B5D16}"/>
              </a:ext>
            </a:extLst>
          </p:cNvPr>
          <p:cNvPicPr>
            <a:picLocks noChangeAspect="1"/>
          </p:cNvPicPr>
          <p:nvPr/>
        </p:nvPicPr>
        <p:blipFill>
          <a:blip r:embed="rId5"/>
          <a:stretch>
            <a:fillRect/>
          </a:stretch>
        </p:blipFill>
        <p:spPr>
          <a:xfrm>
            <a:off x="338008" y="1352469"/>
            <a:ext cx="4311872" cy="463574"/>
          </a:xfrm>
          <a:prstGeom prst="rect">
            <a:avLst/>
          </a:prstGeom>
        </p:spPr>
      </p:pic>
      <p:pic>
        <p:nvPicPr>
          <p:cNvPr id="14" name="圖片 13">
            <a:extLst>
              <a:ext uri="{FF2B5EF4-FFF2-40B4-BE49-F238E27FC236}">
                <a16:creationId xmlns:a16="http://schemas.microsoft.com/office/drawing/2014/main" id="{C30A921C-3B5D-46B6-891F-852C854AE2B4}"/>
              </a:ext>
            </a:extLst>
          </p:cNvPr>
          <p:cNvPicPr>
            <a:picLocks noChangeAspect="1"/>
          </p:cNvPicPr>
          <p:nvPr/>
        </p:nvPicPr>
        <p:blipFill>
          <a:blip r:embed="rId5"/>
          <a:stretch>
            <a:fillRect/>
          </a:stretch>
        </p:blipFill>
        <p:spPr>
          <a:xfrm>
            <a:off x="5221047" y="1318413"/>
            <a:ext cx="4311872" cy="463574"/>
          </a:xfrm>
          <a:prstGeom prst="rect">
            <a:avLst/>
          </a:prstGeom>
        </p:spPr>
      </p:pic>
      <p:pic>
        <p:nvPicPr>
          <p:cNvPr id="16" name="圖片 15">
            <a:extLst>
              <a:ext uri="{FF2B5EF4-FFF2-40B4-BE49-F238E27FC236}">
                <a16:creationId xmlns:a16="http://schemas.microsoft.com/office/drawing/2014/main" id="{AF6E0291-9D53-42A5-B5E0-06F470A8D4EC}"/>
              </a:ext>
            </a:extLst>
          </p:cNvPr>
          <p:cNvPicPr>
            <a:picLocks noChangeAspect="1"/>
          </p:cNvPicPr>
          <p:nvPr/>
        </p:nvPicPr>
        <p:blipFill rotWithShape="1">
          <a:blip r:embed="rId6">
            <a:extLst>
              <a:ext uri="{28A0092B-C50C-407E-A947-70E740481C1C}">
                <a14:useLocalDpi xmlns:a14="http://schemas.microsoft.com/office/drawing/2010/main" val="0"/>
              </a:ext>
            </a:extLst>
          </a:blip>
          <a:srcRect t="9884" r="45932" b="43511"/>
          <a:stretch/>
        </p:blipFill>
        <p:spPr>
          <a:xfrm>
            <a:off x="5243530" y="5191221"/>
            <a:ext cx="2184401" cy="1412184"/>
          </a:xfrm>
          <a:prstGeom prst="rect">
            <a:avLst/>
          </a:prstGeom>
        </p:spPr>
      </p:pic>
      <p:pic>
        <p:nvPicPr>
          <p:cNvPr id="17" name="圖片 16">
            <a:extLst>
              <a:ext uri="{FF2B5EF4-FFF2-40B4-BE49-F238E27FC236}">
                <a16:creationId xmlns:a16="http://schemas.microsoft.com/office/drawing/2014/main" id="{2A2D8B6C-9358-408A-AF4E-E1FFFBEEB66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10022203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372D6D-6762-4B1E-BE3F-70833ED3730B}"/>
              </a:ext>
            </a:extLst>
          </p:cNvPr>
          <p:cNvSpPr>
            <a:spLocks noGrp="1"/>
          </p:cNvSpPr>
          <p:nvPr>
            <p:ph type="title"/>
          </p:nvPr>
        </p:nvSpPr>
        <p:spPr/>
        <p:txBody>
          <a:bodyPr/>
          <a:lstStyle/>
          <a:p>
            <a:r>
              <a:rPr lang="zh-TW" altLang="en-US" dirty="0"/>
              <a:t>附錄</a:t>
            </a:r>
            <a:r>
              <a:rPr lang="en-US" altLang="zh-TW" dirty="0"/>
              <a:t>6:</a:t>
            </a:r>
            <a:r>
              <a:rPr lang="zh-TW" altLang="en-US" dirty="0"/>
              <a:t> </a:t>
            </a:r>
            <a:r>
              <a:rPr lang="en-US" altLang="zh-TW" dirty="0"/>
              <a:t>MATLAB</a:t>
            </a:r>
            <a:r>
              <a:rPr lang="zh-TW" altLang="en-US" dirty="0"/>
              <a:t>旋轉實際</a:t>
            </a:r>
            <a:r>
              <a:rPr lang="en-US" altLang="zh-TW" dirty="0"/>
              <a:t>TCP</a:t>
            </a:r>
            <a:r>
              <a:rPr lang="zh-TW" altLang="en-US" dirty="0"/>
              <a:t>的方法</a:t>
            </a:r>
          </a:p>
        </p:txBody>
      </p:sp>
      <p:sp>
        <p:nvSpPr>
          <p:cNvPr id="3" name="內容版面配置區 2">
            <a:extLst>
              <a:ext uri="{FF2B5EF4-FFF2-40B4-BE49-F238E27FC236}">
                <a16:creationId xmlns:a16="http://schemas.microsoft.com/office/drawing/2014/main" id="{20CBA7C3-6F7C-4ED5-AC4C-E5DC920687C9}"/>
              </a:ext>
            </a:extLst>
          </p:cNvPr>
          <p:cNvSpPr>
            <a:spLocks noGrp="1"/>
          </p:cNvSpPr>
          <p:nvPr>
            <p:ph idx="1"/>
          </p:nvPr>
        </p:nvSpPr>
        <p:spPr/>
        <p:txBody>
          <a:bodyPr/>
          <a:lstStyle/>
          <a:p>
            <a:pPr marL="0" indent="0">
              <a:buNone/>
            </a:pPr>
            <a:r>
              <a:rPr lang="zh-TW" altLang="en-US" dirty="0"/>
              <a:t>由於實際線材不能被分解成</a:t>
            </a:r>
            <a:r>
              <a:rPr lang="en-US" altLang="zh-TW" dirty="0"/>
              <a:t>3D</a:t>
            </a:r>
            <a:r>
              <a:rPr lang="zh-TW" altLang="en-US" dirty="0"/>
              <a:t>分析中的兩個向量來看，因此</a:t>
            </a:r>
            <a:r>
              <a:rPr lang="en-US" altLang="zh-TW" dirty="0"/>
              <a:t>MATLAB</a:t>
            </a:r>
            <a:r>
              <a:rPr lang="zh-TW" altLang="en-US" dirty="0"/>
              <a:t>程式旋轉線材是以線材旋轉前的實際</a:t>
            </a:r>
            <a:r>
              <a:rPr lang="en-US" altLang="zh-TW" dirty="0"/>
              <a:t>TCP</a:t>
            </a:r>
            <a:r>
              <a:rPr lang="zh-TW" altLang="en-US" dirty="0"/>
              <a:t>轉動與</a:t>
            </a:r>
            <a:r>
              <a:rPr lang="en-US" altLang="zh-TW" dirty="0"/>
              <a:t>3D</a:t>
            </a:r>
            <a:r>
              <a:rPr lang="zh-TW" altLang="en-US" dirty="0"/>
              <a:t>分析中相同的角度來達成相同的效果。</a:t>
            </a:r>
            <a:endParaRPr lang="en-US" altLang="zh-TW" dirty="0"/>
          </a:p>
          <a:p>
            <a:pPr marL="0" indent="0">
              <a:buNone/>
            </a:pPr>
            <a:r>
              <a:rPr lang="zh-TW" altLang="en-US" dirty="0"/>
              <a:t>例如</a:t>
            </a:r>
            <a:r>
              <a:rPr lang="en-US" altLang="zh-TW" dirty="0"/>
              <a:t>:</a:t>
            </a:r>
          </a:p>
          <a:p>
            <a:pPr marL="0" indent="0">
              <a:buNone/>
            </a:pPr>
            <a:r>
              <a:rPr lang="zh-TW" altLang="en-US" dirty="0"/>
              <a:t>線材向左方彎折</a:t>
            </a:r>
            <a:r>
              <a:rPr lang="en-US" altLang="zh-TW" dirty="0"/>
              <a:t>15</a:t>
            </a:r>
            <a:r>
              <a:rPr lang="zh-TW" altLang="en-US" dirty="0"/>
              <a:t>度，手臂</a:t>
            </a:r>
            <a:r>
              <a:rPr lang="en-US" altLang="zh-TW" dirty="0"/>
              <a:t>J6</a:t>
            </a:r>
            <a:r>
              <a:rPr lang="zh-TW" altLang="en-US" dirty="0"/>
              <a:t>到</a:t>
            </a:r>
            <a:r>
              <a:rPr lang="en-US" altLang="zh-TW" dirty="0"/>
              <a:t>J8(</a:t>
            </a:r>
            <a:r>
              <a:rPr lang="zh-TW" altLang="en-US" dirty="0"/>
              <a:t>線材尖端</a:t>
            </a:r>
            <a:r>
              <a:rPr lang="en-US" altLang="zh-TW" dirty="0"/>
              <a:t>)</a:t>
            </a:r>
            <a:r>
              <a:rPr lang="zh-TW" altLang="en-US" dirty="0"/>
              <a:t>角度為手臂左方</a:t>
            </a:r>
            <a:r>
              <a:rPr lang="en-US" altLang="zh-TW" dirty="0"/>
              <a:t>10</a:t>
            </a:r>
            <a:r>
              <a:rPr lang="zh-TW" altLang="en-US" dirty="0"/>
              <a:t>度，實際</a:t>
            </a:r>
            <a:r>
              <a:rPr lang="en-US" altLang="zh-TW" dirty="0"/>
              <a:t>TCP</a:t>
            </a:r>
            <a:r>
              <a:rPr lang="zh-TW" altLang="en-US" dirty="0"/>
              <a:t>的</a:t>
            </a:r>
            <a:r>
              <a:rPr lang="en-US" altLang="zh-TW" dirty="0"/>
              <a:t>Z</a:t>
            </a:r>
            <a:r>
              <a:rPr lang="zh-TW" altLang="en-US" dirty="0"/>
              <a:t>軸朝向手臂下方，使用右手定則，因此補償旋轉角度</a:t>
            </a:r>
            <a:r>
              <a:rPr lang="en-US" altLang="zh-TW" dirty="0"/>
              <a:t>+10</a:t>
            </a:r>
            <a:r>
              <a:rPr lang="zh-TW" altLang="en-US" dirty="0"/>
              <a:t>度，以此類推。</a:t>
            </a:r>
          </a:p>
        </p:txBody>
      </p:sp>
      <p:sp>
        <p:nvSpPr>
          <p:cNvPr id="4" name="投影片編號版面配置區 3">
            <a:extLst>
              <a:ext uri="{FF2B5EF4-FFF2-40B4-BE49-F238E27FC236}">
                <a16:creationId xmlns:a16="http://schemas.microsoft.com/office/drawing/2014/main" id="{530E650E-F236-4756-BBD4-D5D33D132F46}"/>
              </a:ext>
            </a:extLst>
          </p:cNvPr>
          <p:cNvSpPr>
            <a:spLocks noGrp="1"/>
          </p:cNvSpPr>
          <p:nvPr>
            <p:ph type="sldNum" sz="quarter" idx="12"/>
          </p:nvPr>
        </p:nvSpPr>
        <p:spPr/>
        <p:txBody>
          <a:bodyPr/>
          <a:lstStyle/>
          <a:p>
            <a:fld id="{12DE3F29-1F68-43B4-BFC6-B027CAE8215F}" type="slidenum">
              <a:rPr lang="zh-TW" altLang="en-US" smtClean="0"/>
              <a:t>28</a:t>
            </a:fld>
            <a:endParaRPr lang="zh-TW" altLang="en-US"/>
          </a:p>
        </p:txBody>
      </p:sp>
      <p:pic>
        <p:nvPicPr>
          <p:cNvPr id="5" name="圖片 4">
            <a:extLst>
              <a:ext uri="{FF2B5EF4-FFF2-40B4-BE49-F238E27FC236}">
                <a16:creationId xmlns:a16="http://schemas.microsoft.com/office/drawing/2014/main" id="{15953245-A0CB-4C8B-BBBD-37E10A4BCE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958353" cy="565232"/>
          </a:xfrm>
          <a:prstGeom prst="rect">
            <a:avLst/>
          </a:prstGeom>
        </p:spPr>
      </p:pic>
    </p:spTree>
    <p:extLst>
      <p:ext uri="{BB962C8B-B14F-4D97-AF65-F5344CB8AC3E}">
        <p14:creationId xmlns:p14="http://schemas.microsoft.com/office/powerpoint/2010/main" val="15380052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60CA06-50D2-4404-BBA3-A7F8847CF203}"/>
              </a:ext>
            </a:extLst>
          </p:cNvPr>
          <p:cNvSpPr>
            <a:spLocks noGrp="1"/>
          </p:cNvSpPr>
          <p:nvPr>
            <p:ph type="title"/>
          </p:nvPr>
        </p:nvSpPr>
        <p:spPr/>
        <p:txBody>
          <a:bodyPr/>
          <a:lstStyle/>
          <a:p>
            <a:r>
              <a:rPr lang="zh-TW" altLang="en-US" dirty="0"/>
              <a:t>附錄</a:t>
            </a:r>
            <a:r>
              <a:rPr lang="en-US" altLang="zh-TW" dirty="0"/>
              <a:t>:</a:t>
            </a:r>
            <a:r>
              <a:rPr lang="zh-TW" altLang="en-US" dirty="0"/>
              <a:t> 六軸框架定義</a:t>
            </a:r>
          </a:p>
        </p:txBody>
      </p:sp>
      <p:pic>
        <p:nvPicPr>
          <p:cNvPr id="6" name="內容版面配置區 5">
            <a:extLst>
              <a:ext uri="{FF2B5EF4-FFF2-40B4-BE49-F238E27FC236}">
                <a16:creationId xmlns:a16="http://schemas.microsoft.com/office/drawing/2014/main" id="{998289F5-8DDD-402B-9C43-C5B4E90C2B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92171" y="365125"/>
            <a:ext cx="5461629" cy="5851747"/>
          </a:xfrm>
        </p:spPr>
      </p:pic>
      <p:sp>
        <p:nvSpPr>
          <p:cNvPr id="4" name="投影片編號版面配置區 3">
            <a:extLst>
              <a:ext uri="{FF2B5EF4-FFF2-40B4-BE49-F238E27FC236}">
                <a16:creationId xmlns:a16="http://schemas.microsoft.com/office/drawing/2014/main" id="{D7D4E615-6669-42AA-ABB9-903EA74DB3D5}"/>
              </a:ext>
            </a:extLst>
          </p:cNvPr>
          <p:cNvSpPr>
            <a:spLocks noGrp="1"/>
          </p:cNvSpPr>
          <p:nvPr>
            <p:ph type="sldNum" sz="quarter" idx="12"/>
          </p:nvPr>
        </p:nvSpPr>
        <p:spPr/>
        <p:txBody>
          <a:bodyPr/>
          <a:lstStyle/>
          <a:p>
            <a:fld id="{12DE3F29-1F68-43B4-BFC6-B027CAE8215F}" type="slidenum">
              <a:rPr lang="zh-TW" altLang="en-US" smtClean="0"/>
              <a:t>29</a:t>
            </a:fld>
            <a:endParaRPr lang="zh-TW" altLang="en-US"/>
          </a:p>
        </p:txBody>
      </p:sp>
    </p:spTree>
    <p:extLst>
      <p:ext uri="{BB962C8B-B14F-4D97-AF65-F5344CB8AC3E}">
        <p14:creationId xmlns:p14="http://schemas.microsoft.com/office/powerpoint/2010/main" val="2219135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5E761-2CA8-42BE-BBF9-B454C61145E1}"/>
              </a:ext>
            </a:extLst>
          </p:cNvPr>
          <p:cNvSpPr>
            <a:spLocks noGrp="1"/>
          </p:cNvSpPr>
          <p:nvPr>
            <p:ph type="title"/>
          </p:nvPr>
        </p:nvSpPr>
        <p:spPr/>
        <p:txBody>
          <a:bodyPr/>
          <a:lstStyle/>
          <a:p>
            <a:r>
              <a:rPr lang="zh-TW" altLang="en-US" dirty="0"/>
              <a:t>附錄</a:t>
            </a:r>
            <a:r>
              <a:rPr lang="en-US" altLang="zh-TW" dirty="0"/>
              <a:t>:</a:t>
            </a:r>
            <a:r>
              <a:rPr lang="zh-TW" altLang="en-US" dirty="0"/>
              <a:t> 插線任務中理論上的最大容許誤差</a:t>
            </a:r>
          </a:p>
        </p:txBody>
      </p:sp>
      <p:sp>
        <p:nvSpPr>
          <p:cNvPr id="3" name="內容版面配置區 2">
            <a:extLst>
              <a:ext uri="{FF2B5EF4-FFF2-40B4-BE49-F238E27FC236}">
                <a16:creationId xmlns:a16="http://schemas.microsoft.com/office/drawing/2014/main" id="{DB6898F6-033E-4C63-9590-BFA28B8A6ADA}"/>
              </a:ext>
            </a:extLst>
          </p:cNvPr>
          <p:cNvSpPr>
            <a:spLocks noGrp="1"/>
          </p:cNvSpPr>
          <p:nvPr>
            <p:ph idx="1"/>
          </p:nvPr>
        </p:nvSpPr>
        <p:spPr/>
        <p:txBody>
          <a:bodyPr/>
          <a:lstStyle/>
          <a:p>
            <a:r>
              <a:rPr lang="zh-TW" altLang="en-US" dirty="0"/>
              <a:t>線材尖端直徑</a:t>
            </a:r>
            <a:r>
              <a:rPr lang="en-US" altLang="zh-TW" dirty="0"/>
              <a:t>: 0.7mm</a:t>
            </a:r>
          </a:p>
          <a:p>
            <a:r>
              <a:rPr lang="zh-TW" altLang="en-US" dirty="0"/>
              <a:t>孔洞直徑</a:t>
            </a:r>
            <a:r>
              <a:rPr lang="en-US" altLang="zh-TW" dirty="0"/>
              <a:t>:</a:t>
            </a:r>
            <a:r>
              <a:rPr lang="zh-TW" altLang="en-US" dirty="0"/>
              <a:t> </a:t>
            </a:r>
            <a:r>
              <a:rPr lang="en-US" altLang="zh-TW" dirty="0"/>
              <a:t>3mm</a:t>
            </a:r>
          </a:p>
          <a:p>
            <a:endParaRPr lang="zh-TW" altLang="en-US" dirty="0"/>
          </a:p>
        </p:txBody>
      </p:sp>
      <p:pic>
        <p:nvPicPr>
          <p:cNvPr id="5" name="圖片 4">
            <a:extLst>
              <a:ext uri="{FF2B5EF4-FFF2-40B4-BE49-F238E27FC236}">
                <a16:creationId xmlns:a16="http://schemas.microsoft.com/office/drawing/2014/main" id="{EAC3F24D-8630-42A7-ACB1-0816A94ADDCC}"/>
              </a:ext>
            </a:extLst>
          </p:cNvPr>
          <p:cNvPicPr>
            <a:picLocks noChangeAspect="1"/>
          </p:cNvPicPr>
          <p:nvPr/>
        </p:nvPicPr>
        <p:blipFill>
          <a:blip r:embed="rId3"/>
          <a:stretch>
            <a:fillRect/>
          </a:stretch>
        </p:blipFill>
        <p:spPr>
          <a:xfrm>
            <a:off x="1790700" y="3017398"/>
            <a:ext cx="8403768" cy="2301722"/>
          </a:xfrm>
          <a:prstGeom prst="rect">
            <a:avLst/>
          </a:prstGeom>
        </p:spPr>
      </p:pic>
    </p:spTree>
    <p:extLst>
      <p:ext uri="{BB962C8B-B14F-4D97-AF65-F5344CB8AC3E}">
        <p14:creationId xmlns:p14="http://schemas.microsoft.com/office/powerpoint/2010/main" val="392190325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6178</TotalTime>
  <Words>3520</Words>
  <Application>Microsoft Office PowerPoint</Application>
  <PresentationFormat>寬螢幕</PresentationFormat>
  <Paragraphs>288</Paragraphs>
  <Slides>30</Slides>
  <Notes>24</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30</vt:i4>
      </vt:variant>
    </vt:vector>
  </HeadingPairs>
  <TitlesOfParts>
    <vt:vector size="36" baseType="lpstr">
      <vt:lpstr>微軟正黑體</vt:lpstr>
      <vt:lpstr>Arial</vt:lpstr>
      <vt:lpstr>Calibri</vt:lpstr>
      <vt:lpstr>Cambria Math</vt:lpstr>
      <vt:lpstr>Poor Richard</vt:lpstr>
      <vt:lpstr>Office 佈景主題</vt:lpstr>
      <vt:lpstr>Six Axis Industrial Manipulators Pose Compensation For Cable Assembly</vt:lpstr>
      <vt:lpstr>Outline</vt:lpstr>
      <vt:lpstr>動機</vt:lpstr>
      <vt:lpstr>方法論</vt:lpstr>
      <vt:lpstr>流程圖</vt:lpstr>
      <vt:lpstr>手動插件</vt:lpstr>
      <vt:lpstr>運動學-MDH 方法</vt:lpstr>
      <vt:lpstr>手臂建模</vt:lpstr>
      <vt:lpstr>TCP 補償</vt:lpstr>
      <vt:lpstr>2D 分析</vt:lpstr>
      <vt:lpstr>3D 分析</vt:lpstr>
      <vt:lpstr>3D 分析</vt:lpstr>
      <vt:lpstr>計算流程</vt:lpstr>
      <vt:lpstr>計算流程</vt:lpstr>
      <vt:lpstr>計算流程</vt:lpstr>
      <vt:lpstr>計算流程</vt:lpstr>
      <vt:lpstr>計算流程</vt:lpstr>
      <vt:lpstr>實驗與驗證</vt:lpstr>
      <vt:lpstr>結果檢視</vt:lpstr>
      <vt:lpstr>極端範例展示</vt:lpstr>
      <vt:lpstr>未來展望</vt:lpstr>
      <vt:lpstr>Thank you for listening</vt:lpstr>
      <vt:lpstr>附錄1: 齊次變換方程式</vt:lpstr>
      <vt:lpstr>附錄2: 齊次變換方程式計算方法</vt:lpstr>
      <vt:lpstr>附錄3: 齊次變換方程式計算方法</vt:lpstr>
      <vt:lpstr>附錄4: 本研究所使用的目標點與實際TCP</vt:lpstr>
      <vt:lpstr>附錄5: 角度補償表(部分)</vt:lpstr>
      <vt:lpstr>附錄6: MATLAB旋轉實際TCP的方法</vt:lpstr>
      <vt:lpstr>附錄: 六軸框架定義</vt:lpstr>
      <vt:lpstr>附錄: 插線任務中理論上的最大容許誤差</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progress</dc:title>
  <dc:creator>M11351033</dc:creator>
  <cp:lastModifiedBy>M11351033</cp:lastModifiedBy>
  <cp:revision>175</cp:revision>
  <cp:lastPrinted>2026-07-23T02:21:17Z</cp:lastPrinted>
  <dcterms:created xsi:type="dcterms:W3CDTF">2026-05-18T02:49:50Z</dcterms:created>
  <dcterms:modified xsi:type="dcterms:W3CDTF">2026-08-10T10:55:07Z</dcterms:modified>
</cp:coreProperties>
</file>